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8" r:id="rId2"/>
    <p:sldId id="283" r:id="rId3"/>
    <p:sldId id="284" r:id="rId4"/>
    <p:sldId id="264" r:id="rId5"/>
    <p:sldId id="285" r:id="rId6"/>
    <p:sldId id="286" r:id="rId7"/>
    <p:sldId id="265" r:id="rId8"/>
    <p:sldId id="268" r:id="rId9"/>
    <p:sldId id="273" r:id="rId10"/>
    <p:sldId id="272" r:id="rId11"/>
    <p:sldId id="275" r:id="rId12"/>
    <p:sldId id="276" r:id="rId13"/>
    <p:sldId id="271" r:id="rId14"/>
    <p:sldId id="277" r:id="rId15"/>
    <p:sldId id="278" r:id="rId16"/>
    <p:sldId id="282" r:id="rId17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/>
    <p:restoredTop sz="94668"/>
  </p:normalViewPr>
  <p:slideViewPr>
    <p:cSldViewPr snapToGrid="0" snapToObjects="1" showGuides="1">
      <p:cViewPr varScale="1">
        <p:scale>
          <a:sx n="114" d="100"/>
          <a:sy n="114" d="100"/>
        </p:scale>
        <p:origin x="84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081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816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10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3167743" y="4210166"/>
            <a:ext cx="8491117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Sinkless orientation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26C525B-154A-2ED5-1A0D-13942D81683D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AAA27-7605-4DBC-D7D0-BD0D2203F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EC7D6-3234-AA94-5E5B-FA222A1A7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1st period:</a:t>
            </a:r>
          </a:p>
          <a:p>
            <a:pPr lvl="1"/>
            <a:r>
              <a:rPr lang="en-US" dirty="0"/>
              <a:t>exactly what is a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“distributed algorithm”</a:t>
            </a:r>
          </a:p>
          <a:p>
            <a:pPr lvl="1"/>
            <a:r>
              <a:rPr lang="en-US" dirty="0"/>
              <a:t>models of distributed computing:</a:t>
            </a:r>
            <a:br>
              <a:rPr lang="en-US" dirty="0"/>
            </a:br>
            <a:r>
              <a:rPr lang="en-US" dirty="0"/>
              <a:t>PN, LOCAL, CONGEST</a:t>
            </a:r>
          </a:p>
          <a:p>
            <a:pPr lvl="1"/>
            <a:r>
              <a:rPr lang="en-US" dirty="0"/>
              <a:t>how to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design </a:t>
            </a:r>
            <a:r>
              <a:rPr lang="en-US" dirty="0"/>
              <a:t>fast distributed algorithms</a:t>
            </a:r>
            <a:br>
              <a:rPr lang="en-US" dirty="0"/>
            </a:br>
            <a:r>
              <a:rPr lang="en-US" dirty="0"/>
              <a:t>in these models</a:t>
            </a:r>
          </a:p>
          <a:p>
            <a:r>
              <a:rPr lang="en-US" b="1" dirty="0">
                <a:latin typeface="Bernino Sans" pitchFamily="2" charset="77"/>
              </a:rPr>
              <a:t>Are these algorithms the best possible?</a:t>
            </a:r>
          </a:p>
        </p:txBody>
      </p:sp>
    </p:spTree>
    <p:extLst>
      <p:ext uri="{BB962C8B-B14F-4D97-AF65-F5344CB8AC3E}">
        <p14:creationId xmlns:p14="http://schemas.microsoft.com/office/powerpoint/2010/main" val="2245421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C6283-C6BF-6422-45CB-BE8655289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E0AC5-5AC3-4FDF-6D33-51A366D78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17062-DD28-0560-234F-D87746B6E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2nd period:</a:t>
            </a:r>
          </a:p>
          <a:p>
            <a:pPr lvl="1"/>
            <a:r>
              <a:rPr lang="en-US" dirty="0"/>
              <a:t>how to prove negative results</a:t>
            </a:r>
          </a:p>
          <a:p>
            <a:pPr lvl="1"/>
            <a:r>
              <a:rPr lang="en-US" i="1" dirty="0"/>
              <a:t>week 7: </a:t>
            </a:r>
            <a:r>
              <a:rPr lang="en-US" dirty="0"/>
              <a:t>using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covering map </a:t>
            </a:r>
            <a:r>
              <a:rPr lang="en-US" dirty="0"/>
              <a:t>arguments</a:t>
            </a:r>
          </a:p>
          <a:p>
            <a:pPr lvl="2"/>
            <a:r>
              <a:rPr lang="en-US" dirty="0"/>
              <a:t>e.g. problem </a:t>
            </a:r>
            <a:r>
              <a:rPr lang="en-US" i="1" dirty="0"/>
              <a:t>X</a:t>
            </a:r>
            <a:r>
              <a:rPr lang="en-US" dirty="0"/>
              <a:t> cannot be solved at all in the PN model</a:t>
            </a:r>
          </a:p>
          <a:p>
            <a:pPr lvl="1"/>
            <a:r>
              <a:rPr lang="en-US" i="1" dirty="0"/>
              <a:t>week 8: </a:t>
            </a:r>
            <a:r>
              <a:rPr lang="en-US" dirty="0"/>
              <a:t>using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local neighborhood </a:t>
            </a:r>
            <a:r>
              <a:rPr lang="en-US" dirty="0"/>
              <a:t>arguments</a:t>
            </a:r>
          </a:p>
          <a:p>
            <a:pPr lvl="2"/>
            <a:r>
              <a:rPr lang="en-US" dirty="0"/>
              <a:t>e.g. problem </a:t>
            </a:r>
            <a:r>
              <a:rPr lang="en-US" i="1" dirty="0"/>
              <a:t>X</a:t>
            </a:r>
            <a:r>
              <a:rPr lang="en-US" dirty="0"/>
              <a:t> cannot be solved in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rounds in the LOCAL model</a:t>
            </a:r>
          </a:p>
          <a:p>
            <a:pPr lvl="1"/>
            <a:r>
              <a:rPr lang="en-US" i="1" dirty="0"/>
              <a:t>week 9: </a:t>
            </a:r>
            <a:r>
              <a:rPr lang="en-US" dirty="0"/>
              <a:t>using the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round elimination </a:t>
            </a:r>
            <a:r>
              <a:rPr lang="en-US" dirty="0"/>
              <a:t>technique</a:t>
            </a:r>
          </a:p>
          <a:p>
            <a:pPr lvl="2"/>
            <a:r>
              <a:rPr lang="en-US" dirty="0"/>
              <a:t>e.g. … what?</a:t>
            </a:r>
          </a:p>
        </p:txBody>
      </p:sp>
    </p:spTree>
    <p:extLst>
      <p:ext uri="{BB962C8B-B14F-4D97-AF65-F5344CB8AC3E}">
        <p14:creationId xmlns:p14="http://schemas.microsoft.com/office/powerpoint/2010/main" val="3392013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60EA8-B516-B346-ABBF-082E5FF31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B1336-87D8-7140-917C-D58352B9E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Topic: </a:t>
            </a:r>
            <a:r>
              <a:rPr lang="en-US" dirty="0"/>
              <a:t>complexity of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sinkless orientation</a:t>
            </a:r>
            <a:endParaRPr lang="en-US" dirty="0"/>
          </a:p>
          <a:p>
            <a:pPr lvl="1"/>
            <a:r>
              <a:rPr lang="en-US" dirty="0"/>
              <a:t>task: high-degree nodes must have outdegree ≥ 1</a:t>
            </a:r>
          </a:p>
          <a:p>
            <a:pPr lvl="1"/>
            <a:r>
              <a:rPr lang="en-US" dirty="0"/>
              <a:t>possible in </a:t>
            </a:r>
            <a:r>
              <a:rPr lang="en-US" i="1" dirty="0"/>
              <a:t>O</a:t>
            </a:r>
            <a:r>
              <a:rPr lang="en-US" dirty="0"/>
              <a:t>(log </a:t>
            </a:r>
            <a:r>
              <a:rPr lang="en-US" i="1" dirty="0"/>
              <a:t>n</a:t>
            </a:r>
            <a:r>
              <a:rPr lang="en-US" dirty="0"/>
              <a:t>) rounds, not in </a:t>
            </a:r>
            <a:r>
              <a:rPr lang="en-US" i="1" dirty="0"/>
              <a:t>o</a:t>
            </a:r>
            <a:r>
              <a:rPr lang="en-US" dirty="0"/>
              <a:t>(log </a:t>
            </a:r>
            <a:r>
              <a:rPr lang="en-US" i="1" dirty="0"/>
              <a:t>n</a:t>
            </a:r>
            <a:r>
              <a:rPr lang="en-US" dirty="0"/>
              <a:t>) rounds</a:t>
            </a:r>
          </a:p>
          <a:p>
            <a:r>
              <a:rPr lang="en-US" b="1" dirty="0">
                <a:latin typeface="Bernino Sans" pitchFamily="2" charset="77"/>
              </a:rPr>
              <a:t>Video: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why</a:t>
            </a:r>
            <a:r>
              <a:rPr lang="en-US" dirty="0"/>
              <a:t> do we care about this?</a:t>
            </a:r>
          </a:p>
          <a:p>
            <a:pPr lvl="1"/>
            <a:r>
              <a:rPr lang="en-US" dirty="0"/>
              <a:t>e.g. hardness of graph coloring</a:t>
            </a:r>
          </a:p>
          <a:p>
            <a:r>
              <a:rPr lang="en-US" b="1" dirty="0">
                <a:latin typeface="Bernino Sans" pitchFamily="2" charset="77"/>
              </a:rPr>
              <a:t>Today: </a:t>
            </a:r>
            <a:r>
              <a:rPr lang="en-US" dirty="0"/>
              <a:t>how to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prove </a:t>
            </a:r>
            <a:r>
              <a:rPr lang="en-US" dirty="0"/>
              <a:t>it?</a:t>
            </a:r>
          </a:p>
          <a:p>
            <a:pPr lvl="1"/>
            <a:r>
              <a:rPr lang="en-US" dirty="0"/>
              <a:t>round elimination &amp; fixed points</a:t>
            </a:r>
          </a:p>
        </p:txBody>
      </p:sp>
    </p:spTree>
    <p:extLst>
      <p:ext uri="{BB962C8B-B14F-4D97-AF65-F5344CB8AC3E}">
        <p14:creationId xmlns:p14="http://schemas.microsoft.com/office/powerpoint/2010/main" val="1469462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A79E-18F1-27B2-7142-300A9A69E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53AB6-187C-F85E-8F3F-EC596360E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Function: </a:t>
            </a:r>
            <a:r>
              <a:rPr lang="en-US" dirty="0"/>
              <a:t>maps problem </a:t>
            </a:r>
            <a:r>
              <a:rPr lang="en-US" i="1" dirty="0"/>
              <a:t>X</a:t>
            </a:r>
            <a:r>
              <a:rPr lang="en-US" dirty="0"/>
              <a:t> to problem re(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formal symbol manipulation &amp; computer program</a:t>
            </a:r>
          </a:p>
          <a:p>
            <a:r>
              <a:rPr lang="en-US" b="1" dirty="0">
                <a:latin typeface="Bernino Sans" pitchFamily="2" charset="77"/>
              </a:rPr>
              <a:t>Thought experiment:</a:t>
            </a:r>
          </a:p>
          <a:p>
            <a:pPr lvl="1"/>
            <a:r>
              <a:rPr lang="en-US" dirty="0"/>
              <a:t>assume algorithm </a:t>
            </a:r>
            <a:r>
              <a:rPr lang="en-US" i="1" dirty="0"/>
              <a:t>A</a:t>
            </a:r>
            <a:r>
              <a:rPr lang="en-US" dirty="0"/>
              <a:t> solves problem </a:t>
            </a:r>
            <a:r>
              <a:rPr lang="en-US" i="1" dirty="0"/>
              <a:t>X</a:t>
            </a:r>
            <a:r>
              <a:rPr lang="en-US" dirty="0"/>
              <a:t> in </a:t>
            </a:r>
            <a:r>
              <a:rPr lang="en-US" i="1" dirty="0"/>
              <a:t>T</a:t>
            </a:r>
            <a:r>
              <a:rPr lang="en-US" dirty="0"/>
              <a:t> rounds</a:t>
            </a:r>
          </a:p>
          <a:p>
            <a:pPr lvl="1"/>
            <a:r>
              <a:rPr lang="en-US" dirty="0"/>
              <a:t>design an algorithm </a:t>
            </a:r>
            <a:r>
              <a:rPr lang="en-US" i="1" dirty="0"/>
              <a:t>A’</a:t>
            </a:r>
            <a:r>
              <a:rPr lang="en-US" dirty="0"/>
              <a:t> that looks at distance </a:t>
            </a:r>
            <a:r>
              <a:rPr lang="en-US" i="1" dirty="0"/>
              <a:t>T</a:t>
            </a:r>
            <a:r>
              <a:rPr lang="en-US" dirty="0"/>
              <a:t> − 1 and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simulates A for all possible extensions</a:t>
            </a:r>
          </a:p>
          <a:p>
            <a:pPr lvl="1"/>
            <a:r>
              <a:rPr lang="en-US" dirty="0"/>
              <a:t>it turns out that </a:t>
            </a:r>
            <a:r>
              <a:rPr lang="en-US" i="1" dirty="0"/>
              <a:t>A’ </a:t>
            </a:r>
            <a:r>
              <a:rPr lang="en-US" dirty="0"/>
              <a:t>solves exactly re(</a:t>
            </a:r>
            <a:r>
              <a:rPr lang="en-US" i="1" dirty="0"/>
              <a:t>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and one more round lets us solve </a:t>
            </a:r>
            <a:r>
              <a:rPr lang="en-US" i="1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28481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4147-CC65-923B-ED0B-F4B81EEE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41E05-E551-AD36-4E12-DD3E7FAAD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 elimination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6FFDD8-55F5-4FDD-554E-F54DFBE8E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New roles:</a:t>
            </a:r>
            <a:r>
              <a:rPr lang="en-US" dirty="0"/>
              <a:t> swap active and passive</a:t>
            </a:r>
          </a:p>
          <a:p>
            <a:r>
              <a:rPr lang="en-US" b="1" dirty="0">
                <a:latin typeface="Bernino Sans" pitchFamily="2" charset="77"/>
              </a:rPr>
              <a:t>New labels: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sets</a:t>
            </a:r>
            <a:r>
              <a:rPr lang="en-US" dirty="0"/>
              <a:t> of old labels</a:t>
            </a:r>
          </a:p>
          <a:p>
            <a:r>
              <a:rPr lang="en-US" b="1" dirty="0">
                <a:latin typeface="Bernino Sans" pitchFamily="2" charset="77"/>
              </a:rPr>
              <a:t>New active configurations:</a:t>
            </a:r>
            <a:br>
              <a:rPr lang="en-US" b="1" dirty="0">
                <a:latin typeface="Bernino Sans" pitchFamily="2" charset="77"/>
              </a:rPr>
            </a:b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all </a:t>
            </a:r>
            <a:r>
              <a:rPr lang="en-US" dirty="0"/>
              <a:t>choices are old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passive </a:t>
            </a:r>
            <a:r>
              <a:rPr lang="en-US" dirty="0"/>
              <a:t>configurations</a:t>
            </a:r>
          </a:p>
          <a:p>
            <a:r>
              <a:rPr lang="en-US" b="1" dirty="0">
                <a:latin typeface="Bernino Sans" pitchFamily="2" charset="77"/>
              </a:rPr>
              <a:t>New passive configurations:</a:t>
            </a:r>
            <a:br>
              <a:rPr lang="en-US" b="1" dirty="0">
                <a:latin typeface="Bernino Sans" pitchFamily="2" charset="77"/>
              </a:rPr>
            </a:br>
            <a:r>
              <a:rPr lang="en-US" dirty="0"/>
              <a:t>there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exists</a:t>
            </a:r>
            <a:r>
              <a:rPr lang="en-US" dirty="0"/>
              <a:t> a choice that is an old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active </a:t>
            </a:r>
            <a:r>
              <a:rPr lang="en-US" dirty="0"/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504008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4DA3-2DCB-3A49-BA6A-F70DE1C8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Sinkless orientation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D99-7C00-E44E-A0C6-EA49F58EE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Labels: </a:t>
            </a:r>
            <a:r>
              <a:rPr lang="en-US" dirty="0"/>
              <a:t>{ O, I }</a:t>
            </a:r>
          </a:p>
          <a:p>
            <a:pPr lvl="1"/>
            <a:r>
              <a:rPr lang="en-US" dirty="0"/>
              <a:t>O = </a:t>
            </a:r>
            <a:r>
              <a:rPr lang="en-US" i="1" dirty="0"/>
              <a:t>“edge oriented away from the active node”</a:t>
            </a:r>
            <a:br>
              <a:rPr lang="en-US" i="1" dirty="0"/>
            </a:br>
            <a:r>
              <a:rPr lang="en-US" dirty="0"/>
              <a:t>I = </a:t>
            </a:r>
            <a:r>
              <a:rPr lang="en-US" i="1" dirty="0"/>
              <a:t>“edge oriented towards the active node”</a:t>
            </a:r>
          </a:p>
          <a:p>
            <a:r>
              <a:rPr lang="en-US" b="1" dirty="0">
                <a:latin typeface="Bernino Sans" pitchFamily="2" charset="77"/>
              </a:rPr>
              <a:t>Active: </a:t>
            </a:r>
            <a:r>
              <a:rPr lang="en-US" dirty="0"/>
              <a:t>[ O, ?, ? ]</a:t>
            </a:r>
          </a:p>
          <a:p>
            <a:pPr lvl="1"/>
            <a:r>
              <a:rPr lang="en-US" i="1" dirty="0"/>
              <a:t>“at least one outgoing edge”</a:t>
            </a:r>
          </a:p>
          <a:p>
            <a:r>
              <a:rPr lang="en-US" b="1" dirty="0">
                <a:latin typeface="Bernino Sans" pitchFamily="2" charset="77"/>
              </a:rPr>
              <a:t>Passive: </a:t>
            </a:r>
            <a:r>
              <a:rPr lang="en-US" dirty="0"/>
              <a:t>[ I, ?, ? ]</a:t>
            </a:r>
          </a:p>
          <a:p>
            <a:pPr lvl="1"/>
            <a:r>
              <a:rPr lang="en-US" i="1" dirty="0"/>
              <a:t>“at least one outgoing edge”</a:t>
            </a:r>
          </a:p>
        </p:txBody>
      </p:sp>
    </p:spTree>
    <p:extLst>
      <p:ext uri="{BB962C8B-B14F-4D97-AF65-F5344CB8AC3E}">
        <p14:creationId xmlns:p14="http://schemas.microsoft.com/office/powerpoint/2010/main" val="1678766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D99-7C00-E44E-A0C6-EA49F58E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829"/>
            <a:ext cx="10515600" cy="558913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Sinkless orientation: </a:t>
            </a:r>
            <a:r>
              <a:rPr lang="en-US" dirty="0"/>
              <a:t>O, I</a:t>
            </a:r>
          </a:p>
          <a:p>
            <a:pPr lvl="1"/>
            <a:r>
              <a:rPr lang="en-US" dirty="0"/>
              <a:t>active: [ O, ?, ? ]</a:t>
            </a:r>
          </a:p>
          <a:p>
            <a:pPr lvl="1"/>
            <a:r>
              <a:rPr lang="en-US" dirty="0"/>
              <a:t>passive: [ I, ?, ? 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Output problem: </a:t>
            </a:r>
            <a:r>
              <a:rPr lang="en-US" dirty="0"/>
              <a:t>{O}, {I}, {O,I}</a:t>
            </a:r>
          </a:p>
          <a:p>
            <a:pPr lvl="1"/>
            <a:r>
              <a:rPr lang="en-US" dirty="0"/>
              <a:t>active: [ {I}, ?, ? ]</a:t>
            </a:r>
          </a:p>
          <a:p>
            <a:pPr lvl="1"/>
            <a:r>
              <a:rPr lang="en-US" dirty="0"/>
              <a:t>passive: [ {O}, ?, ? ] or [ {O,I}, ?, ? 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Maximal problem: </a:t>
            </a:r>
            <a:r>
              <a:rPr lang="en-US" dirty="0"/>
              <a:t>{I}, {O,I}</a:t>
            </a:r>
          </a:p>
          <a:p>
            <a:pPr lvl="1"/>
            <a:r>
              <a:rPr lang="en-US" dirty="0"/>
              <a:t>active: [ {I}, {O,I}, {O,I} ]</a:t>
            </a:r>
          </a:p>
          <a:p>
            <a:pPr lvl="1"/>
            <a:r>
              <a:rPr lang="en-US" dirty="0"/>
              <a:t>passive: [ {O,I}, ?, ? ]</a:t>
            </a:r>
          </a:p>
        </p:txBody>
      </p:sp>
    </p:spTree>
    <p:extLst>
      <p:ext uri="{BB962C8B-B14F-4D97-AF65-F5344CB8AC3E}">
        <p14:creationId xmlns:p14="http://schemas.microsoft.com/office/powerpoint/2010/main" val="1386809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D99-7C00-E44E-A0C6-EA49F58E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829"/>
            <a:ext cx="10515600" cy="558913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Sinkless orientation: </a:t>
            </a:r>
            <a:r>
              <a:rPr lang="en-US" dirty="0"/>
              <a:t>O, I</a:t>
            </a:r>
          </a:p>
          <a:p>
            <a:pPr lvl="1"/>
            <a:r>
              <a:rPr lang="en-US" dirty="0"/>
              <a:t>active: [ O, ?, ? ]</a:t>
            </a:r>
          </a:p>
          <a:p>
            <a:pPr lvl="1"/>
            <a:r>
              <a:rPr lang="en-US" dirty="0"/>
              <a:t>passive: [ I, ?, ? 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Output problem: </a:t>
            </a:r>
            <a:r>
              <a:rPr lang="en-US" dirty="0"/>
              <a:t>{O}, {I}, {O,I}</a:t>
            </a:r>
          </a:p>
          <a:p>
            <a:pPr lvl="1"/>
            <a:r>
              <a:rPr lang="en-US" dirty="0"/>
              <a:t>active: [ {I}, ?, ? ]</a:t>
            </a:r>
          </a:p>
          <a:p>
            <a:pPr lvl="1"/>
            <a:r>
              <a:rPr lang="en-US" dirty="0"/>
              <a:t>passive: [ {O}, ?, ? ] or [ {O,I}, ?, ? 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Maximal problem: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</a:p>
          <a:p>
            <a:pPr lvl="1"/>
            <a:r>
              <a:rPr lang="en-US" dirty="0"/>
              <a:t>active: [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 ]</a:t>
            </a:r>
          </a:p>
          <a:p>
            <a:pPr lvl="1"/>
            <a:r>
              <a:rPr lang="en-US" dirty="0"/>
              <a:t>passive: [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, ?, ? ]</a:t>
            </a:r>
          </a:p>
        </p:txBody>
      </p:sp>
    </p:spTree>
    <p:extLst>
      <p:ext uri="{BB962C8B-B14F-4D97-AF65-F5344CB8AC3E}">
        <p14:creationId xmlns:p14="http://schemas.microsoft.com/office/powerpoint/2010/main" val="3246743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4DA3-2DCB-3A49-BA6A-F70DE1C8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D99-7C00-E44E-A0C6-EA49F58EE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Labels: </a:t>
            </a:r>
            <a:r>
              <a:rPr lang="en-US" dirty="0"/>
              <a:t>{ A, B }</a:t>
            </a:r>
          </a:p>
          <a:p>
            <a:pPr lvl="1"/>
            <a:r>
              <a:rPr lang="en-US" dirty="0"/>
              <a:t>A = </a:t>
            </a:r>
            <a:r>
              <a:rPr lang="en-US" i="1" dirty="0"/>
              <a:t>“edge oriented away from the active node”</a:t>
            </a:r>
          </a:p>
          <a:p>
            <a:pPr lvl="1"/>
            <a:r>
              <a:rPr lang="en-US" dirty="0"/>
              <a:t>B = </a:t>
            </a:r>
            <a:r>
              <a:rPr lang="en-US" i="1" dirty="0"/>
              <a:t>“edge oriented towards the active node”</a:t>
            </a:r>
          </a:p>
          <a:p>
            <a:r>
              <a:rPr lang="en-US" b="1" dirty="0">
                <a:latin typeface="Bernino Sans" pitchFamily="2" charset="77"/>
              </a:rPr>
              <a:t>Active: </a:t>
            </a:r>
            <a:r>
              <a:rPr lang="en-US" dirty="0"/>
              <a:t>[ A, B, B ]</a:t>
            </a:r>
          </a:p>
          <a:p>
            <a:pPr lvl="1"/>
            <a:r>
              <a:rPr lang="en-US" i="1" dirty="0"/>
              <a:t>“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exactly</a:t>
            </a:r>
            <a:r>
              <a:rPr lang="en-US" i="1" dirty="0"/>
              <a:t> one outgoing edge”</a:t>
            </a:r>
          </a:p>
          <a:p>
            <a:r>
              <a:rPr lang="en-US" b="1" dirty="0">
                <a:latin typeface="Bernino Sans" pitchFamily="2" charset="77"/>
              </a:rPr>
              <a:t>Passive: </a:t>
            </a:r>
            <a:r>
              <a:rPr lang="en-US" dirty="0"/>
              <a:t>[ B, ?, ? ]</a:t>
            </a:r>
          </a:p>
          <a:p>
            <a:pPr lvl="1"/>
            <a:r>
              <a:rPr lang="en-US" i="1" dirty="0"/>
              <a:t>“at least one outgoing edge”</a:t>
            </a:r>
          </a:p>
        </p:txBody>
      </p:sp>
    </p:spTree>
    <p:extLst>
      <p:ext uri="{BB962C8B-B14F-4D97-AF65-F5344CB8AC3E}">
        <p14:creationId xmlns:p14="http://schemas.microsoft.com/office/powerpoint/2010/main" val="1477825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D99-7C00-E44E-A0C6-EA49F58E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829"/>
            <a:ext cx="10515600" cy="558913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Starting point: </a:t>
            </a:r>
            <a:r>
              <a:rPr lang="en-US" dirty="0"/>
              <a:t>A, B</a:t>
            </a:r>
          </a:p>
          <a:p>
            <a:pPr lvl="1"/>
            <a:r>
              <a:rPr lang="en-US" dirty="0"/>
              <a:t>active: [ A, B, B ]</a:t>
            </a:r>
          </a:p>
          <a:p>
            <a:pPr lvl="1"/>
            <a:r>
              <a:rPr lang="en-US" dirty="0"/>
              <a:t>passive: [ B, ?, ? 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Output problem: </a:t>
            </a:r>
            <a:r>
              <a:rPr lang="en-US" dirty="0"/>
              <a:t>{A}, {B}, {A,B}</a:t>
            </a:r>
          </a:p>
          <a:p>
            <a:pPr lvl="1"/>
            <a:r>
              <a:rPr lang="en-US" dirty="0"/>
              <a:t>active: [ {B}, ?, ? ]</a:t>
            </a:r>
          </a:p>
          <a:p>
            <a:pPr lvl="1"/>
            <a:r>
              <a:rPr lang="en-US" dirty="0"/>
              <a:t>passive: …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Maximal problem: </a:t>
            </a:r>
            <a:r>
              <a:rPr lang="en-US" dirty="0"/>
              <a:t>{B}, {A,B}</a:t>
            </a:r>
          </a:p>
          <a:p>
            <a:pPr lvl="1"/>
            <a:r>
              <a:rPr lang="en-US" dirty="0"/>
              <a:t>active: [ {B}, {A,B}, {A,B} ]</a:t>
            </a:r>
          </a:p>
          <a:p>
            <a:pPr lvl="1"/>
            <a:r>
              <a:rPr lang="en-US" dirty="0"/>
              <a:t>passive: [ {A,B}, ?, ? ]</a:t>
            </a:r>
          </a:p>
        </p:txBody>
      </p:sp>
    </p:spTree>
    <p:extLst>
      <p:ext uri="{BB962C8B-B14F-4D97-AF65-F5344CB8AC3E}">
        <p14:creationId xmlns:p14="http://schemas.microsoft.com/office/powerpoint/2010/main" val="3593184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D99-7C00-E44E-A0C6-EA49F58EE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829"/>
            <a:ext cx="10515600" cy="5589134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Starting point: </a:t>
            </a:r>
            <a:r>
              <a:rPr lang="en-US" dirty="0"/>
              <a:t>A, B</a:t>
            </a:r>
          </a:p>
          <a:p>
            <a:pPr lvl="1"/>
            <a:r>
              <a:rPr lang="en-US" dirty="0"/>
              <a:t>active: [ A, B, B ]</a:t>
            </a:r>
          </a:p>
          <a:p>
            <a:pPr lvl="1"/>
            <a:r>
              <a:rPr lang="en-US" dirty="0"/>
              <a:t>passive: [ B, ?, ? ]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Output problem: </a:t>
            </a:r>
            <a:r>
              <a:rPr lang="en-US" dirty="0"/>
              <a:t>{A}, {B}, {A,B}</a:t>
            </a:r>
          </a:p>
          <a:p>
            <a:pPr lvl="1"/>
            <a:r>
              <a:rPr lang="en-US" dirty="0"/>
              <a:t>active: [ {B}, ?, ? ]</a:t>
            </a:r>
          </a:p>
          <a:p>
            <a:pPr lvl="1"/>
            <a:r>
              <a:rPr lang="en-US" dirty="0"/>
              <a:t>passive: …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Bernino Sans Extrabold" pitchFamily="2" charset="77"/>
              </a:rPr>
              <a:t>Maximal problem: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</a:p>
          <a:p>
            <a:pPr lvl="1"/>
            <a:r>
              <a:rPr lang="en-US" dirty="0"/>
              <a:t>active: [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A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 ]</a:t>
            </a:r>
          </a:p>
          <a:p>
            <a:pPr lvl="1"/>
            <a:r>
              <a:rPr lang="en-US" dirty="0"/>
              <a:t>passive: [ 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B</a:t>
            </a:r>
            <a:r>
              <a:rPr lang="en-US" dirty="0"/>
              <a:t>, ?, ? ]</a:t>
            </a:r>
          </a:p>
        </p:txBody>
      </p:sp>
    </p:spTree>
    <p:extLst>
      <p:ext uri="{BB962C8B-B14F-4D97-AF65-F5344CB8AC3E}">
        <p14:creationId xmlns:p14="http://schemas.microsoft.com/office/powerpoint/2010/main" val="3344309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E00B-2A3A-CB45-AD96-B3EB7BA0A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6A9B-4187-0A4D-8FBC-EC9F87E10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latin typeface="Bernino Sans" pitchFamily="2" charset="77"/>
              </a:rPr>
              <a:t>X</a:t>
            </a:r>
            <a:r>
              <a:rPr lang="en-US" b="1" dirty="0">
                <a:latin typeface="Bernino Sans" pitchFamily="2" charset="77"/>
              </a:rPr>
              <a:t> = re(</a:t>
            </a:r>
            <a:r>
              <a:rPr lang="en-US" b="1" i="1" dirty="0">
                <a:latin typeface="Bernino Sans" pitchFamily="2" charset="77"/>
              </a:rPr>
              <a:t>X</a:t>
            </a:r>
            <a:r>
              <a:rPr lang="en-US" b="1" dirty="0">
                <a:latin typeface="Bernino Sans" pitchFamily="2" charset="77"/>
              </a:rPr>
              <a:t>)</a:t>
            </a:r>
            <a:r>
              <a:rPr lang="en-US" dirty="0"/>
              <a:t>, and </a:t>
            </a:r>
            <a:r>
              <a:rPr lang="en-US" i="1" dirty="0"/>
              <a:t>X</a:t>
            </a:r>
            <a:r>
              <a:rPr lang="en-US" dirty="0"/>
              <a:t> is not 0-round solvable</a:t>
            </a:r>
          </a:p>
          <a:p>
            <a:r>
              <a:rPr lang="en-US" dirty="0"/>
              <a:t>“</a:t>
            </a:r>
            <a:r>
              <a:rPr lang="en-US" i="1" dirty="0"/>
              <a:t>X</a:t>
            </a:r>
            <a:r>
              <a:rPr lang="en-US" dirty="0"/>
              <a:t> can be solved 1 round faster than </a:t>
            </a:r>
            <a:r>
              <a:rPr lang="en-US" i="1" dirty="0"/>
              <a:t>X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contradiction</a:t>
            </a:r>
          </a:p>
          <a:p>
            <a:r>
              <a:rPr lang="en-US" dirty="0"/>
              <a:t>One of our assumptions fails — which one?</a:t>
            </a:r>
          </a:p>
        </p:txBody>
      </p:sp>
    </p:spTree>
    <p:extLst>
      <p:ext uri="{BB962C8B-B14F-4D97-AF65-F5344CB8AC3E}">
        <p14:creationId xmlns:p14="http://schemas.microsoft.com/office/powerpoint/2010/main" val="2872717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E00B-2A3A-CB45-AD96-B3EB7BA0A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96A9B-4187-0A4D-8FBC-EC9F87E10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latin typeface="Bernino Sans" pitchFamily="2" charset="77"/>
              </a:rPr>
              <a:t>X</a:t>
            </a:r>
            <a:r>
              <a:rPr lang="en-US" b="1" dirty="0">
                <a:latin typeface="Bernino Sans" pitchFamily="2" charset="77"/>
              </a:rPr>
              <a:t> = re(</a:t>
            </a:r>
            <a:r>
              <a:rPr lang="en-US" b="1" i="1" dirty="0">
                <a:latin typeface="Bernino Sans" pitchFamily="2" charset="77"/>
              </a:rPr>
              <a:t>X</a:t>
            </a:r>
            <a:r>
              <a:rPr lang="en-US" b="1" dirty="0">
                <a:latin typeface="Bernino Sans" pitchFamily="2" charset="77"/>
              </a:rPr>
              <a:t>)</a:t>
            </a:r>
            <a:r>
              <a:rPr lang="en-US" dirty="0"/>
              <a:t>, and </a:t>
            </a:r>
            <a:r>
              <a:rPr lang="en-US" i="1" dirty="0"/>
              <a:t>X</a:t>
            </a:r>
            <a:r>
              <a:rPr lang="en-US" dirty="0"/>
              <a:t> is not 0-round solvable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X cannot be solved in o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(log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n</a:t>
            </a:r>
            <a:r>
              <a:rPr lang="en-US" b="1" dirty="0">
                <a:solidFill>
                  <a:schemeClr val="accent2"/>
                </a:solidFill>
                <a:latin typeface="Bernino Sans Semibold" pitchFamily="2" charset="77"/>
              </a:rPr>
              <a:t>)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 rounds</a:t>
            </a:r>
            <a:br>
              <a:rPr lang="en-US" dirty="0"/>
            </a:br>
            <a:r>
              <a:rPr lang="en-US" dirty="0"/>
              <a:t>in the deterministic PN model</a:t>
            </a:r>
          </a:p>
          <a:p>
            <a:r>
              <a:rPr lang="en-US" dirty="0"/>
              <a:t>We can also derive hardness results for</a:t>
            </a:r>
            <a:br>
              <a:rPr lang="en-US" dirty="0"/>
            </a:br>
            <a:r>
              <a:rPr lang="en-US" dirty="0"/>
              <a:t>deterministic and randomized LOCAL model</a:t>
            </a:r>
          </a:p>
        </p:txBody>
      </p:sp>
    </p:spTree>
    <p:extLst>
      <p:ext uri="{BB962C8B-B14F-4D97-AF65-F5344CB8AC3E}">
        <p14:creationId xmlns:p14="http://schemas.microsoft.com/office/powerpoint/2010/main" val="930907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9EBC9-324B-9946-B1EA-11ABC2DB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Often used like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D742B-6B0F-034F-832C-E7BFDAE0C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interested in problem </a:t>
            </a:r>
            <a:r>
              <a:rPr lang="en-US" i="1" dirty="0"/>
              <a:t>X</a:t>
            </a:r>
          </a:p>
          <a:p>
            <a:r>
              <a:rPr lang="en-US" dirty="0"/>
              <a:t>Find a suitable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relaxation</a:t>
            </a:r>
            <a:r>
              <a:rPr lang="en-US" dirty="0"/>
              <a:t> </a:t>
            </a:r>
            <a:r>
              <a:rPr lang="en-US" i="1" dirty="0"/>
              <a:t>Y</a:t>
            </a:r>
            <a:r>
              <a:rPr lang="en-US" dirty="0"/>
              <a:t> of </a:t>
            </a:r>
            <a:r>
              <a:rPr lang="en-US" i="1" dirty="0"/>
              <a:t>X</a:t>
            </a:r>
          </a:p>
          <a:p>
            <a:pPr lvl="1"/>
            <a:r>
              <a:rPr lang="en-US" dirty="0"/>
              <a:t>problem </a:t>
            </a:r>
            <a:r>
              <a:rPr lang="en-US" i="1" dirty="0"/>
              <a:t>Y</a:t>
            </a:r>
            <a:r>
              <a:rPr lang="en-US" dirty="0"/>
              <a:t> is at most as hard as </a:t>
            </a:r>
            <a:r>
              <a:rPr lang="en-US" i="1" dirty="0"/>
              <a:t>X</a:t>
            </a:r>
          </a:p>
          <a:p>
            <a:pPr lvl="1"/>
            <a:r>
              <a:rPr lang="en-US" dirty="0"/>
              <a:t>problem </a:t>
            </a:r>
            <a:r>
              <a:rPr lang="en-US" i="1" dirty="0"/>
              <a:t>Y</a:t>
            </a:r>
            <a:r>
              <a:rPr lang="en-US" dirty="0"/>
              <a:t> is nontrivial</a:t>
            </a:r>
          </a:p>
          <a:p>
            <a:r>
              <a:rPr lang="en-US" dirty="0"/>
              <a:t>Show that </a:t>
            </a:r>
            <a:r>
              <a:rPr lang="en-US" i="1" dirty="0"/>
              <a:t>Y</a:t>
            </a:r>
            <a:r>
              <a:rPr lang="en-US" dirty="0"/>
              <a:t> = re(</a:t>
            </a:r>
            <a:r>
              <a:rPr lang="en-US" i="1" dirty="0"/>
              <a:t>Y</a:t>
            </a:r>
            <a:r>
              <a:rPr lang="en-US" dirty="0"/>
              <a:t>) or </a:t>
            </a:r>
            <a:r>
              <a:rPr lang="en-US" i="1" dirty="0"/>
              <a:t>Y</a:t>
            </a:r>
            <a:r>
              <a:rPr lang="en-US" dirty="0"/>
              <a:t> = re(re(</a:t>
            </a:r>
            <a:r>
              <a:rPr lang="en-US" i="1" dirty="0"/>
              <a:t>Y</a:t>
            </a:r>
            <a:r>
              <a:rPr lang="en-US" dirty="0"/>
              <a:t>))</a:t>
            </a:r>
          </a:p>
          <a:p>
            <a:pPr lvl="1"/>
            <a:r>
              <a:rPr lang="en-US" i="1" dirty="0"/>
              <a:t>Y</a:t>
            </a:r>
            <a:r>
              <a:rPr lang="en-US" dirty="0"/>
              <a:t> cannot be solved fast</a:t>
            </a:r>
          </a:p>
          <a:p>
            <a:pPr lvl="1"/>
            <a:r>
              <a:rPr lang="en-US" i="1" dirty="0"/>
              <a:t>X</a:t>
            </a:r>
            <a:r>
              <a:rPr lang="en-US" dirty="0"/>
              <a:t> cannot be solved fast</a:t>
            </a:r>
          </a:p>
        </p:txBody>
      </p:sp>
    </p:spTree>
    <p:extLst>
      <p:ext uri="{BB962C8B-B14F-4D97-AF65-F5344CB8AC3E}">
        <p14:creationId xmlns:p14="http://schemas.microsoft.com/office/powerpoint/2010/main" val="2414545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4DA3-2DCB-3A49-BA6A-F70DE1C8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Sinkless and sourceless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10D99-7C00-E44E-A0C6-EA49F58EE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Labels: </a:t>
            </a:r>
            <a:r>
              <a:rPr lang="en-US" dirty="0"/>
              <a:t>{ O, I }</a:t>
            </a:r>
          </a:p>
          <a:p>
            <a:pPr lvl="1"/>
            <a:r>
              <a:rPr lang="en-US" dirty="0"/>
              <a:t>O = </a:t>
            </a:r>
            <a:r>
              <a:rPr lang="en-US" i="1" dirty="0"/>
              <a:t>“edge oriented away from the active node”</a:t>
            </a:r>
            <a:br>
              <a:rPr lang="en-US" i="1" dirty="0"/>
            </a:br>
            <a:r>
              <a:rPr lang="en-US" dirty="0"/>
              <a:t>I = </a:t>
            </a:r>
            <a:r>
              <a:rPr lang="en-US" i="1" dirty="0"/>
              <a:t>“edge oriented towards the active node”</a:t>
            </a:r>
          </a:p>
          <a:p>
            <a:r>
              <a:rPr lang="en-US" b="1" dirty="0">
                <a:latin typeface="Bernino Sans" pitchFamily="2" charset="77"/>
              </a:rPr>
              <a:t>Active: </a:t>
            </a:r>
            <a:r>
              <a:rPr lang="en-US" dirty="0"/>
              <a:t>[ O, I, ? ]</a:t>
            </a:r>
          </a:p>
          <a:p>
            <a:pPr lvl="1"/>
            <a:r>
              <a:rPr lang="en-US" i="1" dirty="0"/>
              <a:t>“at least one outgoing and one incoming edge”</a:t>
            </a:r>
          </a:p>
          <a:p>
            <a:r>
              <a:rPr lang="en-US" b="1" dirty="0">
                <a:latin typeface="Bernino Sans" pitchFamily="2" charset="77"/>
              </a:rPr>
              <a:t>Passive: </a:t>
            </a:r>
            <a:r>
              <a:rPr lang="en-US" dirty="0"/>
              <a:t>[ I, O, ? ]</a:t>
            </a:r>
          </a:p>
          <a:p>
            <a:pPr lvl="1"/>
            <a:r>
              <a:rPr lang="en-US" i="1" dirty="0"/>
              <a:t>“at least one outgoing and one incoming edge”</a:t>
            </a:r>
          </a:p>
        </p:txBody>
      </p:sp>
    </p:spTree>
    <p:extLst>
      <p:ext uri="{BB962C8B-B14F-4D97-AF65-F5344CB8AC3E}">
        <p14:creationId xmlns:p14="http://schemas.microsoft.com/office/powerpoint/2010/main" val="656859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2349</TotalTime>
  <Words>975</Words>
  <Application>Microsoft Macintosh PowerPoint</Application>
  <PresentationFormat>Widescreen</PresentationFormat>
  <Paragraphs>118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Arial</vt:lpstr>
      <vt:lpstr>Bernina Sans Condensed Lt</vt:lpstr>
      <vt:lpstr>Bernina Sans Extrabold</vt:lpstr>
      <vt:lpstr>Bernina Sans Narrow Exbold</vt:lpstr>
      <vt:lpstr>Bernino Sans</vt:lpstr>
      <vt:lpstr>Bernino Sans Extrabold</vt:lpstr>
      <vt:lpstr>Bernino Sans Light</vt:lpstr>
      <vt:lpstr>Bernino Sans Semibold</vt:lpstr>
      <vt:lpstr>Calibri</vt:lpstr>
      <vt:lpstr>Office Theme</vt:lpstr>
      <vt:lpstr>Distributed Algorithms</vt:lpstr>
      <vt:lpstr>Recap</vt:lpstr>
      <vt:lpstr>Recap</vt:lpstr>
      <vt:lpstr>This week’s plan</vt:lpstr>
      <vt:lpstr>Round elimination</vt:lpstr>
      <vt:lpstr>Round elimination</vt:lpstr>
      <vt:lpstr>Sinkless orientation</vt:lpstr>
      <vt:lpstr>PowerPoint Presentation</vt:lpstr>
      <vt:lpstr>PowerPoint Presentation</vt:lpstr>
      <vt:lpstr>Output problem</vt:lpstr>
      <vt:lpstr>PowerPoint Presentation</vt:lpstr>
      <vt:lpstr>PowerPoint Presentation</vt:lpstr>
      <vt:lpstr>Fixed points</vt:lpstr>
      <vt:lpstr>Fixed points</vt:lpstr>
      <vt:lpstr>Often used like this</vt:lpstr>
      <vt:lpstr>Sinkless and sourceless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137</cp:revision>
  <dcterms:created xsi:type="dcterms:W3CDTF">2020-08-20T21:40:58Z</dcterms:created>
  <dcterms:modified xsi:type="dcterms:W3CDTF">2025-11-09T22:44:23Z</dcterms:modified>
</cp:coreProperties>
</file>