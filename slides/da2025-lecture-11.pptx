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8" r:id="rId2"/>
    <p:sldId id="259" r:id="rId3"/>
    <p:sldId id="260" r:id="rId4"/>
    <p:sldId id="688" r:id="rId5"/>
    <p:sldId id="275" r:id="rId6"/>
    <p:sldId id="691" r:id="rId7"/>
    <p:sldId id="689" r:id="rId8"/>
    <p:sldId id="283" r:id="rId9"/>
    <p:sldId id="274" r:id="rId10"/>
    <p:sldId id="690" r:id="rId11"/>
    <p:sldId id="285" r:id="rId12"/>
    <p:sldId id="284" r:id="rId13"/>
    <p:sldId id="286" r:id="rId14"/>
    <p:sldId id="277" r:id="rId15"/>
    <p:sldId id="276" r:id="rId16"/>
    <p:sldId id="278" r:id="rId17"/>
    <p:sldId id="279" r:id="rId18"/>
    <p:sldId id="281" r:id="rId19"/>
    <p:sldId id="282" r:id="rId20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kka Suomela" initials="JS" lastIdx="1" clrIdx="0">
    <p:extLst>
      <p:ext uri="{19B8F6BF-5375-455C-9EA6-DF929625EA0E}">
        <p15:presenceInfo xmlns:p15="http://schemas.microsoft.com/office/powerpoint/2012/main" userId="Jukka Suomel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A2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62"/>
    <p:restoredTop sz="94658"/>
  </p:normalViewPr>
  <p:slideViewPr>
    <p:cSldViewPr snapToGrid="0" snapToObjects="1" showGuides="1">
      <p:cViewPr varScale="1">
        <p:scale>
          <a:sx n="171" d="100"/>
          <a:sy n="171" d="100"/>
        </p:scale>
        <p:origin x="184" y="5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13" d="100"/>
          <a:sy n="113" d="100"/>
        </p:scale>
        <p:origin x="3968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6484328-04A3-7843-965F-F9FCF8FB550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24FBE8-8971-8346-9236-9DF4B52C885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EFFC9C-04E4-E646-9E5F-B16BB383ECF2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20D8F2-9A47-854C-B63E-66FE5E7DBE4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B89FF2-CE78-2843-889A-B6E27294CA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AB006-7503-7746-988C-9209368E9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832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95A92-54D0-5E4B-A08D-97789E42C8EA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802235-233E-0844-BB48-1C5592EE2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385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802235-233E-0844-BB48-1C5592EE2C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327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D2313-3F2F-9325-B1B4-1917DE905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F3961C-66A8-B9A2-C2D8-A6A91A74FA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3D8A05-AA9C-320B-5103-28465CD707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54693-CEFF-5F27-0A4F-5676EC749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802235-233E-0844-BB48-1C5592EE2C0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042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802235-233E-0844-BB48-1C5592EE2C0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018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D6FA4-843D-924B-BC97-88ED56BB60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E24BB-AF11-0C42-B367-84AB17691A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l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E63C8-1A0A-DE4B-8F9D-9859F3A92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B12D2-1B95-8845-9B08-DBFCB474E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0950C-5C76-3C4B-B34E-19DEE54DF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893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1AEBD-0551-A547-B83E-C271624A3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DD3C9-17CB-FD4E-8809-8DE14CCDA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2000"/>
              </a:spcBef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58015-51BF-EF4F-9739-37FEE6B9F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34205-BE2D-254D-BEC9-0BB1024B1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F3557-84C1-D54E-9119-182795A9C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64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9E013-0F63-B64E-BAC0-D9E906CDA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002631"/>
            <a:ext cx="10515600" cy="2852737"/>
          </a:xfrm>
        </p:spPr>
        <p:txBody>
          <a:bodyPr anchor="ctr"/>
          <a:lstStyle>
            <a:lvl1pPr>
              <a:lnSpc>
                <a:spcPct val="85000"/>
              </a:lnSpc>
              <a:defRPr sz="9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EDF2B-59A1-414D-967A-87DA44DF8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7891C-D434-294F-9585-19B4B6FB9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87E74-5591-F741-8FBD-43022C8AE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52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908FD-40AF-EC46-94AB-D35B74113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675C4-FEE5-704A-B42A-B9D3C77FA0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17F22-768A-6F47-A69C-E46B7787AA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D7C00-45A4-3A4B-95EB-16382EA46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486AED-7632-4945-8CCA-711A93111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B51905-D94F-684E-BD6E-A62226F93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623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F886B-6FB5-D446-9682-9800E1C12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90D4D-52E7-4943-B1C2-33770A0D4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E51B8-0734-144F-B0BD-21BD9E6718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642CC6-9117-694C-A77F-64C82B08D6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4061DB-9603-6E41-8E20-747F5E9797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B07FAE-8FD2-1B49-B848-E20F1548C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BFB7DD-34B1-C343-A725-682248A89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074AF8-6765-114D-809E-4E4A19743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52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B813F-AF15-0D44-B62B-21240A8B6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32E685-C3DC-7342-B982-AF73BF3AC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5BAA55-CF23-2C46-BF4B-A80568831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47FE7D-DFAF-334E-9095-F7D2E31B4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483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93BE0D-A561-8A44-BBDE-398A93EE6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243393-A1AC-C541-A7EE-DE419C528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FCBEA7-493B-214B-9C64-C44F952E4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202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4A2D2-9E6D-A44D-A19D-AAC0C2DB1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7D7CF-FEA7-F64D-BE64-A3952C65B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CDA71-C1BE-6648-A8DF-DC1C32EDA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1E058-7FF2-A547-9ACC-916552EB6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17FD9-7736-FC4C-A5F4-B8C017E88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7D751-3A0C-F743-91EB-0D5EBA1DD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17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294F0-EF06-4D4A-BF13-B005FD5E9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40C43B-4BA0-2347-B3BE-1E159DFA3E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74E973-8FC1-4949-A39B-2838C09A8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28C1E-1A01-5E47-843E-3B6223F6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039263-0F9C-D443-B847-BD4C53BFC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8E83DC-F401-7D4A-996D-758306F4A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172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5ECCE-D672-3D4B-8505-496041AA2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6C72F6-16C6-5849-A55A-EF4D7C301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8BA9E-C487-4C48-B2A8-760D44C4D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23C19-97D6-6240-BA38-1A21ABF7C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18CE7-C6BB-9742-B7F9-BFD1E9B91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899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BD6FB6-BBED-F64A-85B4-4E6C472D26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F249AD-E103-6D43-8D06-32D11CB4EE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4F2A8-78E4-F64A-8D10-4B2F78BA5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FF3E4-E77C-1343-B071-CE67723D4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5222F-7958-AE47-944B-C4C16B12B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9108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DD3C9-17CB-FD4E-8809-8DE14CCDA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/>
          <a:lstStyle>
            <a:lvl1pPr>
              <a:spcBef>
                <a:spcPts val="2000"/>
              </a:spcBef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58015-51BF-EF4F-9739-37FEE6B9F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34205-BE2D-254D-BEC9-0BB1024B1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F3557-84C1-D54E-9119-182795A9C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400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90587A-C8DA-1C4E-BF76-5740F2C6B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DD8E66-CCE9-144A-BE3F-270183262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D3984-C873-FD42-A795-14EDD39255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D074E6-BC95-7A40-8145-5D6390B81855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7FBFB-30EE-2448-94F7-D2F71C1C91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98439-4275-6143-B3C3-B34081AAA6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443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b="1" i="0" kern="1200">
          <a:solidFill>
            <a:schemeClr val="accent1"/>
          </a:solidFill>
          <a:latin typeface="Bernina Sans Extrabold" pitchFamily="2" charset="77"/>
          <a:ea typeface="Roboto Black" panose="02000000000000000000" pitchFamily="2" charset="0"/>
          <a:cs typeface="Roboto Condensed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FEF3B-F00A-D246-8261-43306475CE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91001" y="134003"/>
            <a:ext cx="7824952" cy="3184634"/>
          </a:xfrm>
        </p:spPr>
        <p:txBody>
          <a:bodyPr wrap="none" lIns="0" tIns="0" rIns="0" bIns="0">
            <a:noAutofit/>
          </a:bodyPr>
          <a:lstStyle/>
          <a:p>
            <a:pPr>
              <a:lnSpc>
                <a:spcPct val="80000"/>
              </a:lnSpc>
            </a:pPr>
            <a:r>
              <a:rPr lang="en-US" sz="10300" dirty="0">
                <a:latin typeface="Bernina Sans Narrow Exbold" pitchFamily="2" charset="77"/>
              </a:rPr>
              <a:t>Distributed</a:t>
            </a:r>
            <a:br>
              <a:rPr lang="en-US" sz="10000" dirty="0">
                <a:latin typeface="Bernina Sans Narrow Exbold" pitchFamily="2" charset="77"/>
              </a:rPr>
            </a:br>
            <a:r>
              <a:rPr lang="en-US" sz="10700" dirty="0">
                <a:latin typeface="Bernina Sans Narrow Exbold" pitchFamily="2" charset="77"/>
              </a:rPr>
              <a:t>Algorithms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87823746-A1C8-D348-B17D-7808ABDD6C0B}"/>
              </a:ext>
            </a:extLst>
          </p:cNvPr>
          <p:cNvSpPr txBox="1">
            <a:spLocks/>
          </p:cNvSpPr>
          <p:nvPr/>
        </p:nvSpPr>
        <p:spPr>
          <a:xfrm>
            <a:off x="557048" y="4233039"/>
            <a:ext cx="1196801" cy="2356947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900" b="1" dirty="0">
                <a:solidFill>
                  <a:schemeClr val="bg2">
                    <a:lumMod val="90000"/>
                  </a:schemeClr>
                </a:solidFill>
                <a:latin typeface="Bernina Sans Narrow Exbold" pitchFamily="2" charset="77"/>
              </a:rPr>
              <a:t>11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704C214C-540C-C148-AE23-4DF697E105B9}"/>
              </a:ext>
            </a:extLst>
          </p:cNvPr>
          <p:cNvSpPr txBox="1">
            <a:spLocks/>
          </p:cNvSpPr>
          <p:nvPr/>
        </p:nvSpPr>
        <p:spPr>
          <a:xfrm>
            <a:off x="2667001" y="4197466"/>
            <a:ext cx="8991860" cy="2270242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dirty="0">
                <a:latin typeface="Bernina Sans Condensed Lt" pitchFamily="2" charset="77"/>
              </a:rPr>
              <a:t>Hardness of coloring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E2FBA02-6A99-A54A-A233-8C34F2BAD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024" y="23643"/>
            <a:ext cx="2289632" cy="21047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EB19155-555A-5E2F-E429-2C0717F52DD6}"/>
              </a:ext>
            </a:extLst>
          </p:cNvPr>
          <p:cNvSpPr txBox="1">
            <a:spLocks/>
          </p:cNvSpPr>
          <p:nvPr/>
        </p:nvSpPr>
        <p:spPr>
          <a:xfrm>
            <a:off x="8517692" y="3045454"/>
            <a:ext cx="2772793" cy="129005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700" b="1" dirty="0">
                <a:solidFill>
                  <a:schemeClr val="accent1"/>
                </a:solidFill>
                <a:latin typeface="Bernina Sans Narrow Exbold" pitchFamily="2" charset="77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665760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D72FD-97AA-C54C-9574-A92722B4A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week’s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299F6-C682-8C4E-98FF-5E1B0BAAD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Bernino Sans" pitchFamily="2" charset="77"/>
              </a:rPr>
              <a:t>Specific technical result:</a:t>
            </a:r>
          </a:p>
          <a:p>
            <a:pPr lvl="1"/>
            <a:r>
              <a:rPr lang="en-US" dirty="0"/>
              <a:t>3-coloring of cycles in the LOCAL model</a:t>
            </a:r>
          </a:p>
          <a:p>
            <a:pPr lvl="1"/>
            <a:r>
              <a:rPr lang="en-US" dirty="0"/>
              <a:t>possible in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O</a:t>
            </a:r>
            <a:r>
              <a:rPr lang="en-US" b="1" dirty="0">
                <a:solidFill>
                  <a:schemeClr val="accent2"/>
                </a:solidFill>
                <a:latin typeface="Bernino Sans Semibold" pitchFamily="2" charset="77"/>
              </a:rPr>
              <a:t>(log*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n</a:t>
            </a:r>
            <a:r>
              <a:rPr lang="en-US" b="1" dirty="0">
                <a:solidFill>
                  <a:schemeClr val="accent2"/>
                </a:solidFill>
                <a:latin typeface="Bernino Sans Semibold" pitchFamily="2" charset="77"/>
              </a:rPr>
              <a:t>) </a:t>
            </a:r>
            <a:r>
              <a:rPr lang="en-US" dirty="0"/>
              <a:t>rounds  </a:t>
            </a:r>
            <a:r>
              <a:rPr lang="en-US" dirty="0">
                <a:solidFill>
                  <a:schemeClr val="accent1"/>
                </a:solidFill>
              </a:rPr>
              <a:t>(week 1)</a:t>
            </a:r>
          </a:p>
          <a:p>
            <a:pPr lvl="1"/>
            <a:r>
              <a:rPr lang="en-US" dirty="0"/>
              <a:t>not possible in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o</a:t>
            </a:r>
            <a:r>
              <a:rPr lang="en-US" b="1" dirty="0">
                <a:solidFill>
                  <a:schemeClr val="accent2"/>
                </a:solidFill>
                <a:latin typeface="Bernino Sans Semibold" pitchFamily="2" charset="77"/>
              </a:rPr>
              <a:t>(log*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n</a:t>
            </a:r>
            <a:r>
              <a:rPr lang="en-US" b="1" dirty="0">
                <a:solidFill>
                  <a:schemeClr val="accent2"/>
                </a:solidFill>
                <a:latin typeface="Bernino Sans Semibold" pitchFamily="2" charset="77"/>
              </a:rPr>
              <a:t>)</a:t>
            </a:r>
            <a:r>
              <a:rPr lang="en-US" dirty="0"/>
              <a:t> rounds  </a:t>
            </a:r>
            <a:r>
              <a:rPr lang="en-US" dirty="0">
                <a:solidFill>
                  <a:schemeClr val="accent1"/>
                </a:solidFill>
              </a:rPr>
              <a:t>(this week)</a:t>
            </a:r>
          </a:p>
          <a:p>
            <a:r>
              <a:rPr lang="en-US" b="1" dirty="0">
                <a:latin typeface="Bernino Sans" pitchFamily="2" charset="77"/>
              </a:rPr>
              <a:t>General idea:</a:t>
            </a:r>
          </a:p>
          <a:p>
            <a:pPr lvl="1"/>
            <a:r>
              <a:rPr lang="en-US" dirty="0"/>
              <a:t>how to use round elimination to prove</a:t>
            </a:r>
            <a:br>
              <a:rPr lang="en-US" dirty="0"/>
            </a:br>
            <a:r>
              <a:rPr lang="en-US" dirty="0"/>
              <a:t>negative results in the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LOCAL </a:t>
            </a:r>
            <a:r>
              <a:rPr lang="en-US" dirty="0"/>
              <a:t>model and/or</a:t>
            </a:r>
            <a:br>
              <a:rPr lang="en-US" dirty="0"/>
            </a:br>
            <a:r>
              <a:rPr lang="en-US" dirty="0"/>
              <a:t>for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randomized </a:t>
            </a:r>
            <a:r>
              <a:rPr lang="en-US" dirty="0"/>
              <a:t>algorithms</a:t>
            </a:r>
          </a:p>
        </p:txBody>
      </p:sp>
    </p:spTree>
    <p:extLst>
      <p:ext uri="{BB962C8B-B14F-4D97-AF65-F5344CB8AC3E}">
        <p14:creationId xmlns:p14="http://schemas.microsoft.com/office/powerpoint/2010/main" val="1729891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8F05A-7999-DB46-80F8-0F647D139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&amp; workaround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37FE8-7358-0046-B222-27CECE3EB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Round elimination does not work directly</a:t>
            </a:r>
            <a:br>
              <a:rPr lang="en-US" dirty="0"/>
            </a:br>
            <a:r>
              <a:rPr lang="en-US" dirty="0"/>
              <a:t>in the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LOCAL</a:t>
            </a:r>
            <a:r>
              <a:rPr lang="en-US" dirty="0"/>
              <a:t> model</a:t>
            </a:r>
          </a:p>
          <a:p>
            <a:pPr lvl="1"/>
            <a:r>
              <a:rPr lang="en-US" dirty="0"/>
              <a:t>problem: </a:t>
            </a:r>
            <a:r>
              <a:rPr lang="en-US" b="1" dirty="0">
                <a:latin typeface="Bernino Sans" pitchFamily="2" charset="77"/>
              </a:rPr>
              <a:t>independence </a:t>
            </a:r>
            <a:r>
              <a:rPr lang="en-US" dirty="0"/>
              <a:t>vs. unique identifiers</a:t>
            </a:r>
          </a:p>
          <a:p>
            <a:r>
              <a:rPr lang="en-US" dirty="0"/>
              <a:t>But we can use it to study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randomized</a:t>
            </a:r>
            <a:r>
              <a:rPr lang="en-US" dirty="0"/>
              <a:t> algorithms in the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PN</a:t>
            </a:r>
            <a:r>
              <a:rPr lang="en-US" dirty="0"/>
              <a:t> model</a:t>
            </a:r>
          </a:p>
          <a:p>
            <a:pPr lvl="1"/>
            <a:r>
              <a:rPr lang="en-US" dirty="0"/>
              <a:t>random bits are independent!</a:t>
            </a:r>
          </a:p>
          <a:p>
            <a:r>
              <a:rPr lang="en-US" dirty="0"/>
              <a:t>Then results for the LOCAL model follow!</a:t>
            </a:r>
          </a:p>
        </p:txBody>
      </p:sp>
    </p:spTree>
    <p:extLst>
      <p:ext uri="{BB962C8B-B14F-4D97-AF65-F5344CB8AC3E}">
        <p14:creationId xmlns:p14="http://schemas.microsoft.com/office/powerpoint/2010/main" val="2284761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9F137E-DA15-5A45-AA0B-FD4B32B5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>
              <a:spcBef>
                <a:spcPts val="8000"/>
              </a:spcBef>
              <a:buNone/>
            </a:pPr>
            <a:r>
              <a:rPr lang="en-US" sz="7200" dirty="0">
                <a:latin typeface="Bernina Sans Light" pitchFamily="2" charset="77"/>
              </a:rPr>
              <a:t>General idea:</a:t>
            </a:r>
            <a:br>
              <a:rPr lang="en-US" sz="7200" dirty="0">
                <a:latin typeface="Bernina Sans Light" pitchFamily="2" charset="77"/>
              </a:rPr>
            </a:br>
            <a:r>
              <a:rPr lang="en-US" sz="7200" b="1" dirty="0">
                <a:solidFill>
                  <a:schemeClr val="accent1"/>
                </a:solidFill>
                <a:latin typeface="Bernina Sans Extrabold" pitchFamily="2" charset="77"/>
              </a:rPr>
              <a:t>Randomized</a:t>
            </a:r>
            <a:br>
              <a:rPr lang="en-US" sz="7200" b="1" dirty="0">
                <a:solidFill>
                  <a:schemeClr val="accent1"/>
                </a:solidFill>
                <a:latin typeface="Bernina Sans Extrabold" pitchFamily="2" charset="77"/>
              </a:rPr>
            </a:br>
            <a:r>
              <a:rPr lang="en-US" sz="7200" b="1" dirty="0">
                <a:solidFill>
                  <a:schemeClr val="accent1"/>
                </a:solidFill>
                <a:latin typeface="Bernina Sans Extrabold" pitchFamily="2" charset="77"/>
              </a:rPr>
              <a:t>round elimination</a:t>
            </a:r>
            <a:endParaRPr lang="en-US" sz="7200" b="1" dirty="0">
              <a:solidFill>
                <a:schemeClr val="bg1"/>
              </a:solidFill>
              <a:latin typeface="Bernina Sans Extra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56223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D9167-6DF5-3845-9F54-179E1CEE7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704975"/>
          </a:xfrm>
        </p:spPr>
        <p:txBody>
          <a:bodyPr/>
          <a:lstStyle/>
          <a:p>
            <a:r>
              <a:rPr lang="en-US" dirty="0"/>
              <a:t>Randomized round elimination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36B71-4BDB-2A40-9822-9A9301FAC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98699"/>
            <a:ext cx="10515600" cy="3878263"/>
          </a:xfrm>
        </p:spPr>
        <p:txBody>
          <a:bodyPr/>
          <a:lstStyle/>
          <a:p>
            <a:r>
              <a:rPr lang="en-US" b="1" dirty="0">
                <a:latin typeface="Bernino Sans" pitchFamily="2" charset="77"/>
              </a:rPr>
              <a:t>The same pair of problems:</a:t>
            </a:r>
            <a:r>
              <a:rPr lang="en-US" dirty="0"/>
              <a:t> </a:t>
            </a:r>
            <a:r>
              <a:rPr lang="en-US" i="1" dirty="0"/>
              <a:t>X</a:t>
            </a:r>
            <a:r>
              <a:rPr lang="en-US" dirty="0"/>
              <a:t> and re(</a:t>
            </a:r>
            <a:r>
              <a:rPr lang="en-US" i="1" dirty="0"/>
              <a:t>X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re(</a:t>
            </a:r>
            <a:r>
              <a:rPr lang="en-US" i="1" dirty="0"/>
              <a:t>X</a:t>
            </a:r>
            <a:r>
              <a:rPr lang="en-US" dirty="0"/>
              <a:t>) does not depend on model of computing!</a:t>
            </a:r>
          </a:p>
          <a:p>
            <a:r>
              <a:rPr lang="en-US" b="1" dirty="0">
                <a:latin typeface="Bernino Sans" pitchFamily="2" charset="77"/>
              </a:rPr>
              <a:t>Different implications </a:t>
            </a:r>
            <a:r>
              <a:rPr lang="en-US" dirty="0"/>
              <a:t>in different models:</a:t>
            </a:r>
          </a:p>
          <a:p>
            <a:pPr lvl="1"/>
            <a:r>
              <a:rPr lang="en-US" i="1" dirty="0"/>
              <a:t>if A is a deterministic PN-algorithm that</a:t>
            </a:r>
            <a:br>
              <a:rPr lang="en-US" i="1" dirty="0"/>
            </a:br>
            <a:r>
              <a:rPr lang="en-US" i="1" dirty="0"/>
              <a:t>solves X in T rounds then …</a:t>
            </a:r>
          </a:p>
          <a:p>
            <a:pPr lvl="1"/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if A is a randomized PN-algorithm that</a:t>
            </a:r>
            <a:b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</a:b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solves X in T rounds with high probability then …</a:t>
            </a:r>
          </a:p>
        </p:txBody>
      </p:sp>
    </p:spTree>
    <p:extLst>
      <p:ext uri="{BB962C8B-B14F-4D97-AF65-F5344CB8AC3E}">
        <p14:creationId xmlns:p14="http://schemas.microsoft.com/office/powerpoint/2010/main" val="3378515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234F1-3364-637F-F3CA-5E8E63775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66690-9C06-BE9F-D67F-826330062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704975"/>
          </a:xfrm>
        </p:spPr>
        <p:txBody>
          <a:bodyPr/>
          <a:lstStyle/>
          <a:p>
            <a:r>
              <a:rPr lang="en-US" dirty="0"/>
              <a:t>Randomized round elimination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A1BEA-97EE-6002-1322-315C082AB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98699"/>
            <a:ext cx="10515600" cy="3878263"/>
          </a:xfrm>
        </p:spPr>
        <p:txBody>
          <a:bodyPr/>
          <a:lstStyle/>
          <a:p>
            <a:r>
              <a:rPr lang="en-US" b="1" i="1" dirty="0">
                <a:solidFill>
                  <a:schemeClr val="accent2"/>
                </a:solidFill>
                <a:latin typeface="Bernino Sans" pitchFamily="2" charset="77"/>
              </a:rPr>
              <a:t>A</a:t>
            </a:r>
            <a:r>
              <a:rPr lang="en-US" b="1" baseline="-25000" dirty="0">
                <a:solidFill>
                  <a:schemeClr val="accent2"/>
                </a:solidFill>
                <a:latin typeface="Bernino Sans" pitchFamily="2" charset="77"/>
              </a:rPr>
              <a:t>0</a:t>
            </a:r>
            <a:r>
              <a:rPr lang="en-US" b="1" dirty="0">
                <a:solidFill>
                  <a:schemeClr val="accent2"/>
                </a:solidFill>
                <a:latin typeface="Bernino Sans" pitchFamily="2" charset="77"/>
              </a:rPr>
              <a:t>: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solves </a:t>
            </a:r>
            <a:r>
              <a:rPr lang="en-US" i="1" dirty="0"/>
              <a:t>X</a:t>
            </a:r>
            <a:r>
              <a:rPr lang="en-US" dirty="0"/>
              <a:t>, local failure probability &lt; </a:t>
            </a:r>
            <a:r>
              <a:rPr lang="en-US" b="1" i="1" dirty="0">
                <a:solidFill>
                  <a:schemeClr val="accent2"/>
                </a:solidFill>
                <a:latin typeface="Bernino Sans" pitchFamily="2" charset="77"/>
              </a:rPr>
              <a:t>p</a:t>
            </a:r>
            <a:r>
              <a:rPr lang="en-US" b="1" baseline="-25000" dirty="0">
                <a:solidFill>
                  <a:schemeClr val="accent2"/>
                </a:solidFill>
                <a:latin typeface="Bernino Sans" pitchFamily="2" charset="77"/>
              </a:rPr>
              <a:t>0</a:t>
            </a:r>
            <a:endParaRPr lang="en-US" baseline="30000" dirty="0">
              <a:solidFill>
                <a:schemeClr val="accent2"/>
              </a:solidFill>
            </a:endParaRPr>
          </a:p>
          <a:p>
            <a:r>
              <a:rPr lang="en-US" b="1" i="1" dirty="0">
                <a:solidFill>
                  <a:schemeClr val="accent2"/>
                </a:solidFill>
                <a:latin typeface="Bernino Sans" pitchFamily="2" charset="77"/>
              </a:rPr>
              <a:t>A</a:t>
            </a:r>
            <a:r>
              <a:rPr lang="en-US" b="1" baseline="-25000" dirty="0">
                <a:solidFill>
                  <a:schemeClr val="accent2"/>
                </a:solidFill>
                <a:latin typeface="Bernino Sans" pitchFamily="2" charset="77"/>
              </a:rPr>
              <a:t>1</a:t>
            </a:r>
            <a:r>
              <a:rPr lang="en-US" b="1" dirty="0">
                <a:solidFill>
                  <a:schemeClr val="accent2"/>
                </a:solidFill>
                <a:latin typeface="Bernino Sans" pitchFamily="2" charset="77"/>
              </a:rPr>
              <a:t>: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solves re(</a:t>
            </a:r>
            <a:r>
              <a:rPr lang="en-US" i="1" dirty="0"/>
              <a:t>X</a:t>
            </a:r>
            <a:r>
              <a:rPr lang="en-US" dirty="0"/>
              <a:t>), local failure probability &lt; </a:t>
            </a:r>
            <a:r>
              <a:rPr lang="en-US" b="1" i="1" dirty="0">
                <a:solidFill>
                  <a:schemeClr val="accent2"/>
                </a:solidFill>
                <a:latin typeface="Bernino Sans" pitchFamily="2" charset="77"/>
              </a:rPr>
              <a:t>p</a:t>
            </a:r>
            <a:r>
              <a:rPr lang="en-US" b="1" baseline="-25000" dirty="0">
                <a:solidFill>
                  <a:schemeClr val="accent2"/>
                </a:solidFill>
                <a:latin typeface="Bernino Sans" pitchFamily="2" charset="77"/>
              </a:rPr>
              <a:t>1</a:t>
            </a:r>
            <a:endParaRPr lang="en-US" i="1" dirty="0">
              <a:solidFill>
                <a:schemeClr val="accent2"/>
              </a:solidFill>
            </a:endParaRPr>
          </a:p>
          <a:p>
            <a:r>
              <a:rPr lang="en-US" dirty="0"/>
              <a:t>Failure probability increases ≈ </a:t>
            </a:r>
            <a:r>
              <a:rPr lang="en-US" dirty="0" err="1"/>
              <a:t>polynomially</a:t>
            </a:r>
            <a:endParaRPr lang="en-US" dirty="0"/>
          </a:p>
          <a:p>
            <a:pPr lvl="1"/>
            <a:r>
              <a:rPr lang="en-US" dirty="0"/>
              <a:t>we can repeat this </a:t>
            </a:r>
            <a:r>
              <a:rPr lang="en-US" b="1" dirty="0">
                <a:latin typeface="Bernino Sans" pitchFamily="2" charset="77"/>
              </a:rPr>
              <a:t>≈ log log </a:t>
            </a:r>
            <a:r>
              <a:rPr lang="en-US" b="1" i="1" dirty="0">
                <a:latin typeface="Bernino Sans" pitchFamily="2" charset="77"/>
              </a:rPr>
              <a:t>n</a:t>
            </a:r>
            <a:r>
              <a:rPr lang="en-US" b="1" dirty="0">
                <a:latin typeface="Bernino Sans" pitchFamily="2" charset="77"/>
              </a:rPr>
              <a:t> </a:t>
            </a:r>
            <a:r>
              <a:rPr lang="en-US" dirty="0"/>
              <a:t>times</a:t>
            </a:r>
            <a:br>
              <a:rPr lang="en-US" dirty="0"/>
            </a:br>
            <a:r>
              <a:rPr lang="en-US" dirty="0"/>
              <a:t>before </a:t>
            </a:r>
            <a:r>
              <a:rPr lang="en-US" i="1" dirty="0"/>
              <a:t>A</a:t>
            </a:r>
            <a:r>
              <a:rPr lang="en-US" i="1" baseline="-25000" dirty="0"/>
              <a:t>k</a:t>
            </a:r>
            <a:r>
              <a:rPr lang="en-US" dirty="0"/>
              <a:t> becomes useless</a:t>
            </a:r>
          </a:p>
          <a:p>
            <a:pPr lvl="1"/>
            <a:r>
              <a:rPr lang="en-US" dirty="0"/>
              <a:t>in particular, repeating this </a:t>
            </a:r>
            <a:r>
              <a:rPr lang="en-US" b="1" dirty="0">
                <a:latin typeface="Bernino Sans" pitchFamily="2" charset="77"/>
              </a:rPr>
              <a:t>≈ log* </a:t>
            </a:r>
            <a:r>
              <a:rPr lang="en-US" b="1" i="1" dirty="0">
                <a:latin typeface="Bernino Sans" pitchFamily="2" charset="77"/>
              </a:rPr>
              <a:t>n</a:t>
            </a:r>
            <a:r>
              <a:rPr lang="en-US" b="1" dirty="0">
                <a:latin typeface="Bernino Sans" pitchFamily="2" charset="77"/>
              </a:rPr>
              <a:t> </a:t>
            </a:r>
            <a:r>
              <a:rPr lang="en-US" dirty="0"/>
              <a:t>times is fine!</a:t>
            </a:r>
          </a:p>
        </p:txBody>
      </p:sp>
    </p:spTree>
    <p:extLst>
      <p:ext uri="{BB962C8B-B14F-4D97-AF65-F5344CB8AC3E}">
        <p14:creationId xmlns:p14="http://schemas.microsoft.com/office/powerpoint/2010/main" val="2375728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9F137E-DA15-5A45-AA0B-FD4B32B5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>
              <a:spcBef>
                <a:spcPts val="8000"/>
              </a:spcBef>
              <a:buNone/>
            </a:pPr>
            <a:r>
              <a:rPr lang="en-US" sz="7200" dirty="0">
                <a:latin typeface="Bernina Sans Light" pitchFamily="2" charset="77"/>
              </a:rPr>
              <a:t>Case study: </a:t>
            </a:r>
            <a:r>
              <a:rPr lang="en-US" sz="7200" b="1" dirty="0">
                <a:solidFill>
                  <a:schemeClr val="accent1"/>
                </a:solidFill>
                <a:latin typeface="Bernina Sans Extrabold" pitchFamily="2" charset="77"/>
              </a:rPr>
              <a:t>Coloring</a:t>
            </a:r>
            <a:br>
              <a:rPr lang="en-US" sz="7200" b="1" dirty="0">
                <a:solidFill>
                  <a:schemeClr val="accent1"/>
                </a:solidFill>
                <a:latin typeface="Bernina Sans Extrabold" pitchFamily="2" charset="77"/>
              </a:rPr>
            </a:br>
            <a:r>
              <a:rPr lang="en-US" sz="7200" b="1" dirty="0">
                <a:solidFill>
                  <a:schemeClr val="accent1"/>
                </a:solidFill>
                <a:latin typeface="Bernina Sans Extrabold" pitchFamily="2" charset="77"/>
              </a:rPr>
              <a:t>directed cycles</a:t>
            </a:r>
            <a:endParaRPr lang="en-US" sz="7200" b="1" dirty="0">
              <a:solidFill>
                <a:schemeClr val="bg1"/>
              </a:solidFill>
              <a:latin typeface="Bernina Sans Extra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505113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4EFF17-741F-AE40-A12A-6C0EC7F6F35B}"/>
              </a:ext>
            </a:extLst>
          </p:cNvPr>
          <p:cNvSpPr txBox="1"/>
          <p:nvPr/>
        </p:nvSpPr>
        <p:spPr>
          <a:xfrm>
            <a:off x="518001" y="1733089"/>
            <a:ext cx="1143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ndale Mono" panose="020B0509000000000004" pitchFamily="49" charset="0"/>
              </a:rPr>
              <a:t>A a</a:t>
            </a:r>
          </a:p>
          <a:p>
            <a:r>
              <a:rPr lang="en-US" sz="2800" dirty="0">
                <a:latin typeface="Andale Mono" panose="020B0509000000000004" pitchFamily="49" charset="0"/>
              </a:rPr>
              <a:t>B b</a:t>
            </a:r>
          </a:p>
          <a:p>
            <a:r>
              <a:rPr lang="en-US" sz="2800" dirty="0">
                <a:latin typeface="Andale Mono" panose="020B0509000000000004" pitchFamily="49" charset="0"/>
              </a:rPr>
              <a:t>C 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171C0A-A2DC-4443-980F-48B844F55032}"/>
              </a:ext>
            </a:extLst>
          </p:cNvPr>
          <p:cNvSpPr txBox="1"/>
          <p:nvPr/>
        </p:nvSpPr>
        <p:spPr>
          <a:xfrm>
            <a:off x="518001" y="3451042"/>
            <a:ext cx="104387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ndale Mono" panose="020B0509000000000004" pitchFamily="49" charset="0"/>
              </a:rPr>
              <a:t>A </a:t>
            </a:r>
            <a:r>
              <a:rPr lang="en-US" sz="2800" dirty="0" err="1">
                <a:latin typeface="Andale Mono" panose="020B0509000000000004" pitchFamily="49" charset="0"/>
              </a:rPr>
              <a:t>bc</a:t>
            </a:r>
            <a:endParaRPr lang="en-US" sz="2800" dirty="0">
              <a:latin typeface="Andale Mono" panose="020B0509000000000004" pitchFamily="49" charset="0"/>
            </a:endParaRPr>
          </a:p>
          <a:p>
            <a:r>
              <a:rPr lang="en-US" sz="2800" dirty="0">
                <a:latin typeface="Andale Mono" panose="020B0509000000000004" pitchFamily="49" charset="0"/>
              </a:rPr>
              <a:t>B ac</a:t>
            </a:r>
          </a:p>
          <a:p>
            <a:r>
              <a:rPr lang="en-US" sz="2800" dirty="0">
                <a:latin typeface="Andale Mono" panose="020B0509000000000004" pitchFamily="49" charset="0"/>
              </a:rPr>
              <a:t>C ab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B6079A-2723-5540-AD84-93B7440B11A1}"/>
              </a:ext>
            </a:extLst>
          </p:cNvPr>
          <p:cNvSpPr txBox="1"/>
          <p:nvPr/>
        </p:nvSpPr>
        <p:spPr>
          <a:xfrm>
            <a:off x="2467175" y="440428"/>
            <a:ext cx="1143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ndale Mono" panose="020B0509000000000004" pitchFamily="49" charset="0"/>
              </a:rPr>
              <a:t>F G</a:t>
            </a:r>
          </a:p>
          <a:p>
            <a:r>
              <a:rPr lang="en-US" sz="2800" dirty="0">
                <a:latin typeface="Andale Mono" panose="020B0509000000000004" pitchFamily="49" charset="0"/>
              </a:rPr>
              <a:t>E H</a:t>
            </a:r>
          </a:p>
          <a:p>
            <a:r>
              <a:rPr lang="en-US" sz="2800" dirty="0">
                <a:latin typeface="Andale Mono" panose="020B0509000000000004" pitchFamily="49" charset="0"/>
              </a:rPr>
              <a:t>D I</a:t>
            </a:r>
          </a:p>
          <a:p>
            <a:r>
              <a:rPr lang="en-US" sz="2800" dirty="0">
                <a:latin typeface="Andale Mono" panose="020B0509000000000004" pitchFamily="49" charset="0"/>
              </a:rPr>
              <a:t>C J</a:t>
            </a:r>
          </a:p>
          <a:p>
            <a:r>
              <a:rPr lang="en-US" sz="2800" dirty="0">
                <a:latin typeface="Andale Mono" panose="020B0509000000000004" pitchFamily="49" charset="0"/>
              </a:rPr>
              <a:t>B K</a:t>
            </a:r>
          </a:p>
          <a:p>
            <a:r>
              <a:rPr lang="en-US" sz="2800" dirty="0">
                <a:latin typeface="Andale Mono" panose="020B0509000000000004" pitchFamily="49" charset="0"/>
              </a:rPr>
              <a:t>A 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73051B-464E-AF40-A2CD-74A64C3C3DCC}"/>
              </a:ext>
            </a:extLst>
          </p:cNvPr>
          <p:cNvSpPr txBox="1"/>
          <p:nvPr/>
        </p:nvSpPr>
        <p:spPr>
          <a:xfrm>
            <a:off x="2466119" y="3451042"/>
            <a:ext cx="168828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ndale Mono" panose="020B0509000000000004" pitchFamily="49" charset="0"/>
              </a:rPr>
              <a:t>ACE GIK</a:t>
            </a:r>
          </a:p>
          <a:p>
            <a:r>
              <a:rPr lang="en-US" sz="2800" dirty="0">
                <a:latin typeface="Andale Mono" panose="020B0509000000000004" pitchFamily="49" charset="0"/>
              </a:rPr>
              <a:t>BCF HIL</a:t>
            </a:r>
          </a:p>
          <a:p>
            <a:r>
              <a:rPr lang="en-US" sz="2800" dirty="0">
                <a:latin typeface="Andale Mono" panose="020B0509000000000004" pitchFamily="49" charset="0"/>
              </a:rPr>
              <a:t>DEF JKL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F552F9-0EAB-824E-B6B5-4DE9D5E3CA88}"/>
              </a:ext>
            </a:extLst>
          </p:cNvPr>
          <p:cNvSpPr txBox="1"/>
          <p:nvPr/>
        </p:nvSpPr>
        <p:spPr>
          <a:xfrm>
            <a:off x="5058645" y="486595"/>
            <a:ext cx="1143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ndale Mono" panose="020B0509000000000004" pitchFamily="49" charset="0"/>
              </a:rPr>
              <a:t>A a</a:t>
            </a:r>
          </a:p>
          <a:p>
            <a:r>
              <a:rPr lang="en-US" sz="2800" dirty="0">
                <a:latin typeface="Andale Mono" panose="020B0509000000000004" pitchFamily="49" charset="0"/>
              </a:rPr>
              <a:t>B b</a:t>
            </a:r>
          </a:p>
          <a:p>
            <a:r>
              <a:rPr lang="en-US" sz="2800" dirty="0">
                <a:latin typeface="Andale Mono" panose="020B0509000000000004" pitchFamily="49" charset="0"/>
              </a:rPr>
              <a:t>C c</a:t>
            </a:r>
          </a:p>
          <a:p>
            <a:r>
              <a:rPr lang="en-US" sz="2800" dirty="0">
                <a:latin typeface="Andale Mono" panose="020B0509000000000004" pitchFamily="49" charset="0"/>
              </a:rPr>
              <a:t>D d</a:t>
            </a:r>
          </a:p>
          <a:p>
            <a:r>
              <a:rPr lang="en-US" sz="2800" dirty="0">
                <a:latin typeface="Andale Mono" panose="020B0509000000000004" pitchFamily="49" charset="0"/>
              </a:rPr>
              <a:t>E e</a:t>
            </a:r>
          </a:p>
          <a:p>
            <a:r>
              <a:rPr lang="en-US" sz="2800" dirty="0">
                <a:latin typeface="Andale Mono" panose="020B0509000000000004" pitchFamily="49" charset="0"/>
              </a:rPr>
              <a:t>F 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B186D0-F250-0A4F-9888-69AF927FBC9F}"/>
              </a:ext>
            </a:extLst>
          </p:cNvPr>
          <p:cNvSpPr txBox="1"/>
          <p:nvPr/>
        </p:nvSpPr>
        <p:spPr>
          <a:xfrm>
            <a:off x="5058645" y="3451042"/>
            <a:ext cx="168828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ndale Mono" panose="020B0509000000000004" pitchFamily="49" charset="0"/>
              </a:rPr>
              <a:t>ACE </a:t>
            </a:r>
            <a:r>
              <a:rPr lang="en-US" sz="2800" dirty="0" err="1">
                <a:latin typeface="Andale Mono" panose="020B0509000000000004" pitchFamily="49" charset="0"/>
              </a:rPr>
              <a:t>fdb</a:t>
            </a:r>
            <a:endParaRPr lang="en-US" sz="2800" dirty="0">
              <a:latin typeface="Andale Mono" panose="020B0509000000000004" pitchFamily="49" charset="0"/>
            </a:endParaRPr>
          </a:p>
          <a:p>
            <a:r>
              <a:rPr lang="en-US" sz="2800" dirty="0">
                <a:latin typeface="Andale Mono" panose="020B0509000000000004" pitchFamily="49" charset="0"/>
              </a:rPr>
              <a:t>BCF </a:t>
            </a:r>
            <a:r>
              <a:rPr lang="en-US" sz="2800" dirty="0" err="1">
                <a:latin typeface="Andale Mono" panose="020B0509000000000004" pitchFamily="49" charset="0"/>
              </a:rPr>
              <a:t>eda</a:t>
            </a:r>
            <a:endParaRPr lang="en-US" sz="2800" dirty="0">
              <a:latin typeface="Andale Mono" panose="020B0509000000000004" pitchFamily="49" charset="0"/>
            </a:endParaRPr>
          </a:p>
          <a:p>
            <a:r>
              <a:rPr lang="en-US" sz="2800" dirty="0">
                <a:latin typeface="Andale Mono" panose="020B0509000000000004" pitchFamily="49" charset="0"/>
              </a:rPr>
              <a:t>DEF cba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2FD0C0-E5F4-FD4A-B276-A47B3008DAEA}"/>
              </a:ext>
            </a:extLst>
          </p:cNvPr>
          <p:cNvSpPr txBox="1"/>
          <p:nvPr/>
        </p:nvSpPr>
        <p:spPr>
          <a:xfrm>
            <a:off x="7553101" y="484451"/>
            <a:ext cx="1143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ndale Mono" panose="020B0509000000000004" pitchFamily="49" charset="0"/>
              </a:rPr>
              <a:t>A a</a:t>
            </a:r>
          </a:p>
          <a:p>
            <a:r>
              <a:rPr lang="en-US" sz="2800" dirty="0">
                <a:latin typeface="Andale Mono" panose="020B0509000000000004" pitchFamily="49" charset="0"/>
              </a:rPr>
              <a:t>B b</a:t>
            </a:r>
          </a:p>
          <a:p>
            <a:r>
              <a:rPr lang="en-US" sz="2800" dirty="0">
                <a:latin typeface="Andale Mono" panose="020B0509000000000004" pitchFamily="49" charset="0"/>
              </a:rPr>
              <a:t>C c</a:t>
            </a:r>
          </a:p>
          <a:p>
            <a:r>
              <a:rPr lang="en-US" sz="2800" dirty="0">
                <a:latin typeface="Andale Mono" panose="020B0509000000000004" pitchFamily="49" charset="0"/>
              </a:rPr>
              <a:t>D d</a:t>
            </a:r>
          </a:p>
          <a:p>
            <a:r>
              <a:rPr lang="en-US" sz="2800" dirty="0">
                <a:latin typeface="Andale Mono" panose="020B0509000000000004" pitchFamily="49" charset="0"/>
              </a:rPr>
              <a:t>E e</a:t>
            </a:r>
          </a:p>
          <a:p>
            <a:r>
              <a:rPr lang="en-US" sz="2800" dirty="0">
                <a:latin typeface="Andale Mono" panose="020B0509000000000004" pitchFamily="49" charset="0"/>
              </a:rPr>
              <a:t>F 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A2A0AD-E5B8-024B-93C3-34BD0FC3EFB4}"/>
              </a:ext>
            </a:extLst>
          </p:cNvPr>
          <p:cNvSpPr txBox="1"/>
          <p:nvPr/>
        </p:nvSpPr>
        <p:spPr>
          <a:xfrm>
            <a:off x="7552046" y="3447493"/>
            <a:ext cx="168828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ndale Mono" panose="020B0509000000000004" pitchFamily="49" charset="0"/>
              </a:rPr>
              <a:t>A </a:t>
            </a:r>
            <a:r>
              <a:rPr lang="en-US" sz="2800" dirty="0" err="1">
                <a:latin typeface="Andale Mono" panose="020B0509000000000004" pitchFamily="49" charset="0"/>
              </a:rPr>
              <a:t>bdf</a:t>
            </a:r>
            <a:endParaRPr lang="en-US" sz="2800" dirty="0">
              <a:latin typeface="Andale Mono" panose="020B0509000000000004" pitchFamily="49" charset="0"/>
            </a:endParaRPr>
          </a:p>
          <a:p>
            <a:r>
              <a:rPr lang="en-US" sz="2800" dirty="0">
                <a:latin typeface="Andale Mono" panose="020B0509000000000004" pitchFamily="49" charset="0"/>
              </a:rPr>
              <a:t>B </a:t>
            </a:r>
            <a:r>
              <a:rPr lang="en-US" sz="2800" dirty="0" err="1">
                <a:latin typeface="Andale Mono" panose="020B0509000000000004" pitchFamily="49" charset="0"/>
              </a:rPr>
              <a:t>ade</a:t>
            </a:r>
            <a:endParaRPr lang="en-US" sz="2800" dirty="0">
              <a:latin typeface="Andale Mono" panose="020B0509000000000004" pitchFamily="49" charset="0"/>
            </a:endParaRPr>
          </a:p>
          <a:p>
            <a:r>
              <a:rPr lang="en-US" sz="2800" dirty="0">
                <a:latin typeface="Andale Mono" panose="020B0509000000000004" pitchFamily="49" charset="0"/>
              </a:rPr>
              <a:t>C </a:t>
            </a:r>
            <a:r>
              <a:rPr lang="en-US" sz="2800" dirty="0" err="1">
                <a:latin typeface="Andale Mono" panose="020B0509000000000004" pitchFamily="49" charset="0"/>
              </a:rPr>
              <a:t>abdef</a:t>
            </a:r>
            <a:endParaRPr lang="en-US" sz="2800" dirty="0">
              <a:latin typeface="Andale Mono" panose="020B0509000000000004" pitchFamily="49" charset="0"/>
            </a:endParaRPr>
          </a:p>
          <a:p>
            <a:r>
              <a:rPr lang="en-US" sz="2800" dirty="0">
                <a:latin typeface="Andale Mono" panose="020B0509000000000004" pitchFamily="49" charset="0"/>
              </a:rPr>
              <a:t>D </a:t>
            </a:r>
            <a:r>
              <a:rPr lang="en-US" sz="2800" dirty="0" err="1">
                <a:latin typeface="Andale Mono" panose="020B0509000000000004" pitchFamily="49" charset="0"/>
              </a:rPr>
              <a:t>abc</a:t>
            </a:r>
            <a:endParaRPr lang="en-US" sz="2800" dirty="0">
              <a:latin typeface="Andale Mono" panose="020B0509000000000004" pitchFamily="49" charset="0"/>
            </a:endParaRPr>
          </a:p>
          <a:p>
            <a:r>
              <a:rPr lang="en-US" sz="2800" dirty="0">
                <a:latin typeface="Andale Mono" panose="020B0509000000000004" pitchFamily="49" charset="0"/>
              </a:rPr>
              <a:t>E </a:t>
            </a:r>
            <a:r>
              <a:rPr lang="en-US" sz="2800" dirty="0" err="1">
                <a:latin typeface="Andale Mono" panose="020B0509000000000004" pitchFamily="49" charset="0"/>
              </a:rPr>
              <a:t>abcdf</a:t>
            </a:r>
            <a:endParaRPr lang="en-US" sz="2800" dirty="0">
              <a:latin typeface="Andale Mono" panose="020B0509000000000004" pitchFamily="49" charset="0"/>
            </a:endParaRPr>
          </a:p>
          <a:p>
            <a:r>
              <a:rPr lang="en-US" sz="2800" dirty="0">
                <a:latin typeface="Andale Mono" panose="020B0509000000000004" pitchFamily="49" charset="0"/>
              </a:rPr>
              <a:t>F </a:t>
            </a:r>
            <a:r>
              <a:rPr lang="en-US" sz="2800" dirty="0" err="1">
                <a:latin typeface="Andale Mono" panose="020B0509000000000004" pitchFamily="49" charset="0"/>
              </a:rPr>
              <a:t>abcde</a:t>
            </a:r>
            <a:endParaRPr lang="en-US" sz="2800" dirty="0">
              <a:latin typeface="Andale Mono" panose="020B05090000000000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C9A2E4-3CFD-8D42-8132-8F0D2A7E718C}"/>
              </a:ext>
            </a:extLst>
          </p:cNvPr>
          <p:cNvSpPr txBox="1"/>
          <p:nvPr/>
        </p:nvSpPr>
        <p:spPr>
          <a:xfrm>
            <a:off x="10047558" y="464453"/>
            <a:ext cx="1143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ndale Mono" panose="020B0509000000000004" pitchFamily="49" charset="0"/>
              </a:rPr>
              <a:t>A a</a:t>
            </a:r>
          </a:p>
          <a:p>
            <a:r>
              <a:rPr lang="en-US" sz="2800" dirty="0">
                <a:latin typeface="Andale Mono" panose="020B0509000000000004" pitchFamily="49" charset="0"/>
              </a:rPr>
              <a:t>B b</a:t>
            </a:r>
          </a:p>
          <a:p>
            <a:r>
              <a:rPr lang="en-US" sz="2800" dirty="0">
                <a:latin typeface="Andale Mono" panose="020B0509000000000004" pitchFamily="49" charset="0"/>
              </a:rPr>
              <a:t>C c</a:t>
            </a:r>
          </a:p>
          <a:p>
            <a:r>
              <a:rPr lang="en-US" sz="2800" dirty="0">
                <a:latin typeface="Andale Mono" panose="020B0509000000000004" pitchFamily="49" charset="0"/>
              </a:rPr>
              <a:t>D d</a:t>
            </a:r>
          </a:p>
          <a:p>
            <a:r>
              <a:rPr lang="en-US" sz="2800" dirty="0">
                <a:latin typeface="Andale Mono" panose="020B0509000000000004" pitchFamily="49" charset="0"/>
              </a:rPr>
              <a:t>E e</a:t>
            </a:r>
          </a:p>
          <a:p>
            <a:r>
              <a:rPr lang="en-US" sz="2800" dirty="0">
                <a:latin typeface="Andale Mono" panose="020B0509000000000004" pitchFamily="49" charset="0"/>
              </a:rPr>
              <a:t>F f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9E6533-370F-894A-9433-0F488364C8E7}"/>
              </a:ext>
            </a:extLst>
          </p:cNvPr>
          <p:cNvSpPr txBox="1"/>
          <p:nvPr/>
        </p:nvSpPr>
        <p:spPr>
          <a:xfrm>
            <a:off x="10045447" y="3429000"/>
            <a:ext cx="168828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ndale Mono" panose="020B0509000000000004" pitchFamily="49" charset="0"/>
              </a:rPr>
              <a:t>A </a:t>
            </a:r>
            <a:r>
              <a:rPr lang="en-US" sz="2800" dirty="0" err="1">
                <a:latin typeface="Andale Mono" panose="020B0509000000000004" pitchFamily="49" charset="0"/>
              </a:rPr>
              <a:t>bcdef</a:t>
            </a:r>
            <a:endParaRPr lang="en-US" sz="2800" dirty="0">
              <a:latin typeface="Andale Mono" panose="020B0509000000000004" pitchFamily="49" charset="0"/>
            </a:endParaRPr>
          </a:p>
          <a:p>
            <a:r>
              <a:rPr lang="en-US" sz="2800" dirty="0">
                <a:latin typeface="Andale Mono" panose="020B0509000000000004" pitchFamily="49" charset="0"/>
              </a:rPr>
              <a:t>B </a:t>
            </a:r>
            <a:r>
              <a:rPr lang="en-US" sz="2800" dirty="0" err="1">
                <a:latin typeface="Andale Mono" panose="020B0509000000000004" pitchFamily="49" charset="0"/>
              </a:rPr>
              <a:t>acdef</a:t>
            </a:r>
            <a:endParaRPr lang="en-US" sz="2800" dirty="0">
              <a:latin typeface="Andale Mono" panose="020B0509000000000004" pitchFamily="49" charset="0"/>
            </a:endParaRPr>
          </a:p>
          <a:p>
            <a:r>
              <a:rPr lang="en-US" sz="2800" dirty="0">
                <a:latin typeface="Andale Mono" panose="020B0509000000000004" pitchFamily="49" charset="0"/>
              </a:rPr>
              <a:t>C </a:t>
            </a:r>
            <a:r>
              <a:rPr lang="en-US" sz="2800" dirty="0" err="1">
                <a:latin typeface="Andale Mono" panose="020B0509000000000004" pitchFamily="49" charset="0"/>
              </a:rPr>
              <a:t>abdef</a:t>
            </a:r>
            <a:endParaRPr lang="en-US" sz="2800" dirty="0">
              <a:latin typeface="Andale Mono" panose="020B0509000000000004" pitchFamily="49" charset="0"/>
            </a:endParaRPr>
          </a:p>
          <a:p>
            <a:r>
              <a:rPr lang="en-US" sz="2800" dirty="0">
                <a:latin typeface="Andale Mono" panose="020B0509000000000004" pitchFamily="49" charset="0"/>
              </a:rPr>
              <a:t>D </a:t>
            </a:r>
            <a:r>
              <a:rPr lang="en-US" sz="2800" dirty="0" err="1">
                <a:latin typeface="Andale Mono" panose="020B0509000000000004" pitchFamily="49" charset="0"/>
              </a:rPr>
              <a:t>abcef</a:t>
            </a:r>
            <a:endParaRPr lang="en-US" sz="2800" dirty="0">
              <a:latin typeface="Andale Mono" panose="020B0509000000000004" pitchFamily="49" charset="0"/>
            </a:endParaRPr>
          </a:p>
          <a:p>
            <a:r>
              <a:rPr lang="en-US" sz="2800" dirty="0">
                <a:latin typeface="Andale Mono" panose="020B0509000000000004" pitchFamily="49" charset="0"/>
              </a:rPr>
              <a:t>E </a:t>
            </a:r>
            <a:r>
              <a:rPr lang="en-US" sz="2800" dirty="0" err="1">
                <a:latin typeface="Andale Mono" panose="020B0509000000000004" pitchFamily="49" charset="0"/>
              </a:rPr>
              <a:t>abcdf</a:t>
            </a:r>
            <a:endParaRPr lang="en-US" sz="2800" dirty="0">
              <a:latin typeface="Andale Mono" panose="020B0509000000000004" pitchFamily="49" charset="0"/>
            </a:endParaRPr>
          </a:p>
          <a:p>
            <a:r>
              <a:rPr lang="en-US" sz="2800" dirty="0">
                <a:latin typeface="Andale Mono" panose="020B0509000000000004" pitchFamily="49" charset="0"/>
              </a:rPr>
              <a:t>F </a:t>
            </a:r>
            <a:r>
              <a:rPr lang="en-US" sz="2800" dirty="0" err="1">
                <a:latin typeface="Andale Mono" panose="020B0509000000000004" pitchFamily="49" charset="0"/>
              </a:rPr>
              <a:t>abcde</a:t>
            </a:r>
            <a:endParaRPr lang="en-US" sz="2800" dirty="0">
              <a:latin typeface="Andale Mono" panose="020B0509000000000004" pitchFamily="49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DD75C69-60F6-6F48-81FA-68E0C28FD3F6}"/>
              </a:ext>
            </a:extLst>
          </p:cNvPr>
          <p:cNvCxnSpPr>
            <a:cxnSpLocks/>
          </p:cNvCxnSpPr>
          <p:nvPr/>
        </p:nvCxnSpPr>
        <p:spPr>
          <a:xfrm>
            <a:off x="2006600" y="0"/>
            <a:ext cx="0" cy="68580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EAD3F55-353A-C94D-898F-388327795481}"/>
              </a:ext>
            </a:extLst>
          </p:cNvPr>
          <p:cNvCxnSpPr>
            <a:cxnSpLocks/>
          </p:cNvCxnSpPr>
          <p:nvPr/>
        </p:nvCxnSpPr>
        <p:spPr>
          <a:xfrm>
            <a:off x="4610100" y="0"/>
            <a:ext cx="0" cy="68580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E345680-379F-8A45-A1E5-37B8E35B4659}"/>
              </a:ext>
            </a:extLst>
          </p:cNvPr>
          <p:cNvCxnSpPr>
            <a:cxnSpLocks/>
          </p:cNvCxnSpPr>
          <p:nvPr/>
        </p:nvCxnSpPr>
        <p:spPr>
          <a:xfrm>
            <a:off x="7124700" y="0"/>
            <a:ext cx="0" cy="68580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544DB3E-92D4-DA49-B1EF-546D9A793818}"/>
              </a:ext>
            </a:extLst>
          </p:cNvPr>
          <p:cNvCxnSpPr>
            <a:cxnSpLocks/>
          </p:cNvCxnSpPr>
          <p:nvPr/>
        </p:nvCxnSpPr>
        <p:spPr>
          <a:xfrm>
            <a:off x="9652000" y="0"/>
            <a:ext cx="0" cy="68580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9683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ED0DBD-0662-5747-B2CC-CDD407258E30}"/>
              </a:ext>
            </a:extLst>
          </p:cNvPr>
          <p:cNvSpPr txBox="1"/>
          <p:nvPr/>
        </p:nvSpPr>
        <p:spPr>
          <a:xfrm>
            <a:off x="2881987" y="2407461"/>
            <a:ext cx="25122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latin typeface="Bernino Sans" pitchFamily="2" charset="77"/>
              </a:rPr>
              <a:t>2</a:t>
            </a:r>
            <a:r>
              <a:rPr lang="en-US" sz="3200" b="1" i="1" baseline="30000" dirty="0">
                <a:latin typeface="Bernino Sans" pitchFamily="2" charset="77"/>
              </a:rPr>
              <a:t>k</a:t>
            </a:r>
            <a:r>
              <a:rPr lang="en-US" sz="3200" b="1" dirty="0">
                <a:latin typeface="Bernino Sans" pitchFamily="2" charset="77"/>
              </a:rPr>
              <a:t>-coloring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FE3DEA-A32F-594B-8275-0F3677322459}"/>
              </a:ext>
            </a:extLst>
          </p:cNvPr>
          <p:cNvSpPr txBox="1"/>
          <p:nvPr/>
        </p:nvSpPr>
        <p:spPr>
          <a:xfrm>
            <a:off x="6550124" y="2407461"/>
            <a:ext cx="25987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latin typeface="Bernino Sans" pitchFamily="2" charset="77"/>
              </a:rPr>
              <a:t>2</a:t>
            </a:r>
            <a:r>
              <a:rPr lang="en-US" sz="3200" b="1" i="1" dirty="0">
                <a:latin typeface="Bernino Sans" pitchFamily="2" charset="77"/>
              </a:rPr>
              <a:t>k</a:t>
            </a:r>
            <a:r>
              <a:rPr lang="en-US" sz="3200" b="1" dirty="0">
                <a:latin typeface="Bernino Sans" pitchFamily="2" charset="77"/>
              </a:rPr>
              <a:t>-coloring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5A39DA-7032-F847-A57B-F0DF2A17336F}"/>
              </a:ext>
            </a:extLst>
          </p:cNvPr>
          <p:cNvSpPr txBox="1"/>
          <p:nvPr/>
        </p:nvSpPr>
        <p:spPr>
          <a:xfrm>
            <a:off x="2881987" y="3865763"/>
            <a:ext cx="25122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latin typeface="Bernino Sans" pitchFamily="2" charset="77"/>
              </a:rPr>
              <a:t>2</a:t>
            </a:r>
            <a:r>
              <a:rPr lang="en-US" sz="3200" b="1" i="1" baseline="30000" dirty="0">
                <a:latin typeface="Bernino Sans" pitchFamily="2" charset="77"/>
              </a:rPr>
              <a:t>k</a:t>
            </a:r>
            <a:r>
              <a:rPr lang="en-US" sz="3200" b="1" dirty="0">
                <a:latin typeface="Bernino Sans" pitchFamily="2" charset="77"/>
              </a:rPr>
              <a:t>-coloring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69566F-2F91-C842-A94F-35E7B8FE87C2}"/>
              </a:ext>
            </a:extLst>
          </p:cNvPr>
          <p:cNvSpPr txBox="1"/>
          <p:nvPr/>
        </p:nvSpPr>
        <p:spPr>
          <a:xfrm>
            <a:off x="6666341" y="3865763"/>
            <a:ext cx="2366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i="1" dirty="0">
                <a:latin typeface="Bernino Sans" pitchFamily="2" charset="77"/>
              </a:rPr>
              <a:t>k</a:t>
            </a:r>
            <a:r>
              <a:rPr lang="en-US" sz="3200" b="1" dirty="0">
                <a:latin typeface="Bernino Sans" pitchFamily="2" charset="77"/>
              </a:rPr>
              <a:t>-coloring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7F596F-5790-0B44-BFE8-8C343E57F4B9}"/>
              </a:ext>
            </a:extLst>
          </p:cNvPr>
          <p:cNvSpPr txBox="1"/>
          <p:nvPr/>
        </p:nvSpPr>
        <p:spPr>
          <a:xfrm>
            <a:off x="3030265" y="3136613"/>
            <a:ext cx="22156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i="1" dirty="0">
                <a:latin typeface="Bernino Sans Light" pitchFamily="2" charset="77"/>
              </a:rPr>
              <a:t>T</a:t>
            </a:r>
            <a:r>
              <a:rPr lang="en-US" sz="2800" dirty="0">
                <a:latin typeface="Bernino Sans Light" pitchFamily="2" charset="77"/>
              </a:rPr>
              <a:t> − 1 rounds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5426E9-E655-084D-8823-8F77264C5B79}"/>
              </a:ext>
            </a:extLst>
          </p:cNvPr>
          <p:cNvSpPr txBox="1"/>
          <p:nvPr/>
        </p:nvSpPr>
        <p:spPr>
          <a:xfrm>
            <a:off x="7034230" y="3136612"/>
            <a:ext cx="16305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i="1" dirty="0">
                <a:latin typeface="Bernino Sans Light" pitchFamily="2" charset="77"/>
              </a:rPr>
              <a:t>T</a:t>
            </a:r>
            <a:r>
              <a:rPr lang="en-US" sz="2800" dirty="0">
                <a:latin typeface="Bernino Sans Light" pitchFamily="2" charset="77"/>
              </a:rPr>
              <a:t> rounds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3B564EE5-432B-974A-A170-B1FC3332DED8}"/>
              </a:ext>
            </a:extLst>
          </p:cNvPr>
          <p:cNvSpPr/>
          <p:nvPr/>
        </p:nvSpPr>
        <p:spPr>
          <a:xfrm>
            <a:off x="5633291" y="2466441"/>
            <a:ext cx="815248" cy="466819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786050-0A04-4146-81E3-B199FB9E9339}"/>
              </a:ext>
            </a:extLst>
          </p:cNvPr>
          <p:cNvSpPr txBox="1"/>
          <p:nvPr/>
        </p:nvSpPr>
        <p:spPr>
          <a:xfrm>
            <a:off x="674857" y="345274"/>
            <a:ext cx="29209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i="1" dirty="0" err="1">
                <a:latin typeface="Bernino Sans" pitchFamily="2" charset="77"/>
              </a:rPr>
              <a:t>n</a:t>
            </a:r>
            <a:r>
              <a:rPr lang="en-US" sz="3200" b="1" i="1" baseline="30000" dirty="0" err="1">
                <a:latin typeface="Bernino Sans" pitchFamily="2" charset="77"/>
              </a:rPr>
              <a:t>O</a:t>
            </a:r>
            <a:r>
              <a:rPr lang="en-US" sz="3200" b="1" baseline="30000" dirty="0">
                <a:latin typeface="Bernino Sans" pitchFamily="2" charset="77"/>
              </a:rPr>
              <a:t>(1)</a:t>
            </a:r>
            <a:r>
              <a:rPr lang="en-US" sz="3200" b="1" dirty="0">
                <a:latin typeface="Bernino Sans" pitchFamily="2" charset="77"/>
              </a:rPr>
              <a:t>-coloring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64D069-07F9-024C-B9F2-417D33B592D2}"/>
              </a:ext>
            </a:extLst>
          </p:cNvPr>
          <p:cNvSpPr txBox="1"/>
          <p:nvPr/>
        </p:nvSpPr>
        <p:spPr>
          <a:xfrm>
            <a:off x="1042745" y="874964"/>
            <a:ext cx="218521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Bernino Sans Light" pitchFamily="2" charset="77"/>
              </a:rPr>
              <a:t>0 rounds</a:t>
            </a:r>
          </a:p>
          <a:p>
            <a:pPr algn="ctr"/>
            <a:r>
              <a:rPr lang="en-US" sz="2800" i="1" dirty="0">
                <a:latin typeface="Bernino Sans Light" pitchFamily="2" charset="77"/>
              </a:rPr>
              <a:t>(unique IDs)</a:t>
            </a: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641EE43D-1002-314E-9C09-0A8A8D498EFB}"/>
              </a:ext>
            </a:extLst>
          </p:cNvPr>
          <p:cNvSpPr/>
          <p:nvPr/>
        </p:nvSpPr>
        <p:spPr>
          <a:xfrm>
            <a:off x="3901441" y="641554"/>
            <a:ext cx="815248" cy="466819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B59B6DC3-B2DD-5E44-8F80-F4DF85961D5A}"/>
              </a:ext>
            </a:extLst>
          </p:cNvPr>
          <p:cNvSpPr/>
          <p:nvPr/>
        </p:nvSpPr>
        <p:spPr>
          <a:xfrm>
            <a:off x="4913157" y="640174"/>
            <a:ext cx="815248" cy="466819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6309B916-8B24-8B45-970B-BB2D4C96E652}"/>
              </a:ext>
            </a:extLst>
          </p:cNvPr>
          <p:cNvSpPr/>
          <p:nvPr/>
        </p:nvSpPr>
        <p:spPr>
          <a:xfrm>
            <a:off x="5924873" y="638794"/>
            <a:ext cx="815248" cy="466819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CDE98633-B489-9741-A99B-21DF6A1B3AF6}"/>
              </a:ext>
            </a:extLst>
          </p:cNvPr>
          <p:cNvSpPr/>
          <p:nvPr/>
        </p:nvSpPr>
        <p:spPr>
          <a:xfrm>
            <a:off x="6936589" y="637414"/>
            <a:ext cx="815248" cy="466819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8653FF31-BB1A-2141-9AD1-A9925786974C}"/>
              </a:ext>
            </a:extLst>
          </p:cNvPr>
          <p:cNvSpPr/>
          <p:nvPr/>
        </p:nvSpPr>
        <p:spPr>
          <a:xfrm>
            <a:off x="7948305" y="636034"/>
            <a:ext cx="815248" cy="466819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756221-69A7-D547-97B5-CE9B9C8362A9}"/>
              </a:ext>
            </a:extLst>
          </p:cNvPr>
          <p:cNvSpPr txBox="1"/>
          <p:nvPr/>
        </p:nvSpPr>
        <p:spPr>
          <a:xfrm>
            <a:off x="9014644" y="345274"/>
            <a:ext cx="23391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latin typeface="Bernino Sans" pitchFamily="2" charset="77"/>
              </a:rPr>
              <a:t>3-coloring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5070A2-AEB6-6146-B366-60A8173D448D}"/>
              </a:ext>
            </a:extLst>
          </p:cNvPr>
          <p:cNvSpPr txBox="1"/>
          <p:nvPr/>
        </p:nvSpPr>
        <p:spPr>
          <a:xfrm>
            <a:off x="9319214" y="874964"/>
            <a:ext cx="172996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i="1" dirty="0">
                <a:latin typeface="Bernino Sans Light" pitchFamily="2" charset="77"/>
              </a:rPr>
              <a:t>O</a:t>
            </a:r>
            <a:r>
              <a:rPr lang="en-US" sz="2800" dirty="0">
                <a:latin typeface="Bernino Sans Light" pitchFamily="2" charset="77"/>
              </a:rPr>
              <a:t>(log* </a:t>
            </a:r>
            <a:r>
              <a:rPr lang="en-US" sz="2800" i="1" dirty="0">
                <a:latin typeface="Bernino Sans Light" pitchFamily="2" charset="77"/>
              </a:rPr>
              <a:t>n</a:t>
            </a:r>
            <a:r>
              <a:rPr lang="en-US" sz="2800" dirty="0">
                <a:latin typeface="Bernino Sans Light" pitchFamily="2" charset="77"/>
              </a:rPr>
              <a:t>)</a:t>
            </a:r>
          </a:p>
          <a:p>
            <a:pPr algn="ctr"/>
            <a:r>
              <a:rPr lang="en-US" sz="2800" dirty="0">
                <a:latin typeface="Bernino Sans Light" pitchFamily="2" charset="77"/>
              </a:rPr>
              <a:t>rounds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57E740-0DE5-8E4F-80C4-857DF168459F}"/>
              </a:ext>
            </a:extLst>
          </p:cNvPr>
          <p:cNvSpPr txBox="1"/>
          <p:nvPr/>
        </p:nvSpPr>
        <p:spPr>
          <a:xfrm>
            <a:off x="1094954" y="5188266"/>
            <a:ext cx="23134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i="1" dirty="0">
                <a:latin typeface="Bernino Sans" pitchFamily="2" charset="77"/>
              </a:rPr>
              <a:t>c</a:t>
            </a:r>
            <a:r>
              <a:rPr lang="en-US" sz="3200" b="1" dirty="0">
                <a:latin typeface="Bernino Sans" pitchFamily="2" charset="77"/>
              </a:rPr>
              <a:t>-coloring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12E58E-6953-2343-AD42-C6C252091302}"/>
              </a:ext>
            </a:extLst>
          </p:cNvPr>
          <p:cNvSpPr txBox="1"/>
          <p:nvPr/>
        </p:nvSpPr>
        <p:spPr>
          <a:xfrm>
            <a:off x="1425172" y="5728973"/>
            <a:ext cx="1653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Bernino Sans Light" pitchFamily="2" charset="77"/>
              </a:rPr>
              <a:t>0 rounds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E7BA55-303A-994E-A466-59788E8714C7}"/>
              </a:ext>
            </a:extLst>
          </p:cNvPr>
          <p:cNvSpPr txBox="1"/>
          <p:nvPr/>
        </p:nvSpPr>
        <p:spPr>
          <a:xfrm>
            <a:off x="8719535" y="5188266"/>
            <a:ext cx="23391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latin typeface="Bernino Sans" pitchFamily="2" charset="77"/>
              </a:rPr>
              <a:t>3-coloring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F826086-C92F-564E-A0EC-007FFDF60C43}"/>
              </a:ext>
            </a:extLst>
          </p:cNvPr>
          <p:cNvSpPr txBox="1"/>
          <p:nvPr/>
        </p:nvSpPr>
        <p:spPr>
          <a:xfrm>
            <a:off x="8833348" y="5728973"/>
            <a:ext cx="211147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i="1" dirty="0">
                <a:latin typeface="Bernino Sans Light" pitchFamily="2" charset="77"/>
              </a:rPr>
              <a:t>T</a:t>
            </a:r>
            <a:r>
              <a:rPr lang="en-US" sz="2800" dirty="0">
                <a:latin typeface="Bernino Sans Light" pitchFamily="2" charset="77"/>
              </a:rPr>
              <a:t> &lt;&lt; log* </a:t>
            </a:r>
            <a:r>
              <a:rPr lang="en-US" sz="2800" i="1" dirty="0">
                <a:latin typeface="Bernino Sans Light" pitchFamily="2" charset="77"/>
              </a:rPr>
              <a:t>n</a:t>
            </a:r>
            <a:endParaRPr lang="en-US" sz="2800" dirty="0">
              <a:latin typeface="Bernino Sans Light" pitchFamily="2" charset="77"/>
            </a:endParaRPr>
          </a:p>
          <a:p>
            <a:pPr algn="ctr"/>
            <a:r>
              <a:rPr lang="en-US" sz="2800" dirty="0">
                <a:latin typeface="Bernino Sans Light" pitchFamily="2" charset="77"/>
              </a:rPr>
              <a:t>rounds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093D8E7-89D8-B942-8F66-2425F6483513}"/>
              </a:ext>
            </a:extLst>
          </p:cNvPr>
          <p:cNvSpPr txBox="1"/>
          <p:nvPr/>
        </p:nvSpPr>
        <p:spPr>
          <a:xfrm>
            <a:off x="4977799" y="1135353"/>
            <a:ext cx="27093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i="1" dirty="0">
                <a:solidFill>
                  <a:schemeClr val="accent1"/>
                </a:solidFill>
                <a:latin typeface="Bernino Sans Light" pitchFamily="2" charset="77"/>
              </a:rPr>
              <a:t>O</a:t>
            </a:r>
            <a:r>
              <a:rPr lang="en-US" sz="2800" dirty="0">
                <a:solidFill>
                  <a:schemeClr val="accent1"/>
                </a:solidFill>
                <a:latin typeface="Bernino Sans Light" pitchFamily="2" charset="77"/>
              </a:rPr>
              <a:t>(log* </a:t>
            </a:r>
            <a:r>
              <a:rPr lang="en-US" sz="2800" i="1" dirty="0">
                <a:solidFill>
                  <a:schemeClr val="accent1"/>
                </a:solidFill>
                <a:latin typeface="Bernino Sans Light" pitchFamily="2" charset="77"/>
              </a:rPr>
              <a:t>n</a:t>
            </a:r>
            <a:r>
              <a:rPr lang="en-US" sz="2800" dirty="0">
                <a:solidFill>
                  <a:schemeClr val="accent1"/>
                </a:solidFill>
                <a:latin typeface="Bernino Sans Light" pitchFamily="2" charset="77"/>
              </a:rPr>
              <a:t>) steps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3618DE4-0054-314B-88D0-BA2F52F90CFD}"/>
              </a:ext>
            </a:extLst>
          </p:cNvPr>
          <p:cNvSpPr txBox="1"/>
          <p:nvPr/>
        </p:nvSpPr>
        <p:spPr>
          <a:xfrm>
            <a:off x="5389045" y="5991121"/>
            <a:ext cx="13660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i="1" dirty="0">
                <a:solidFill>
                  <a:schemeClr val="accent2"/>
                </a:solidFill>
                <a:latin typeface="Bernino Sans Light" pitchFamily="2" charset="77"/>
              </a:rPr>
              <a:t>T</a:t>
            </a:r>
            <a:r>
              <a:rPr lang="en-US" sz="2800" dirty="0">
                <a:solidFill>
                  <a:schemeClr val="accent2"/>
                </a:solidFill>
                <a:latin typeface="Bernino Sans Light" pitchFamily="2" charset="77"/>
              </a:rPr>
              <a:t> steps</a:t>
            </a:r>
          </a:p>
        </p:txBody>
      </p:sp>
      <p:sp>
        <p:nvSpPr>
          <p:cNvPr id="36" name="Left Arrow 35">
            <a:extLst>
              <a:ext uri="{FF2B5EF4-FFF2-40B4-BE49-F238E27FC236}">
                <a16:creationId xmlns:a16="http://schemas.microsoft.com/office/drawing/2014/main" id="{A5CDF5C4-2E50-3641-BD0C-4FBBD515D53A}"/>
              </a:ext>
            </a:extLst>
          </p:cNvPr>
          <p:cNvSpPr/>
          <p:nvPr/>
        </p:nvSpPr>
        <p:spPr>
          <a:xfrm>
            <a:off x="5588661" y="3920331"/>
            <a:ext cx="815249" cy="471228"/>
          </a:xfrm>
          <a:prstGeom prst="left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</a:t>
            </a:r>
          </a:p>
        </p:txBody>
      </p:sp>
      <p:sp>
        <p:nvSpPr>
          <p:cNvPr id="37" name="Left Arrow 36">
            <a:extLst>
              <a:ext uri="{FF2B5EF4-FFF2-40B4-BE49-F238E27FC236}">
                <a16:creationId xmlns:a16="http://schemas.microsoft.com/office/drawing/2014/main" id="{EEC548A6-43A9-2C4D-9543-5CAEF7ADC249}"/>
              </a:ext>
            </a:extLst>
          </p:cNvPr>
          <p:cNvSpPr/>
          <p:nvPr/>
        </p:nvSpPr>
        <p:spPr>
          <a:xfrm>
            <a:off x="3641028" y="5473961"/>
            <a:ext cx="815249" cy="471228"/>
          </a:xfrm>
          <a:prstGeom prst="left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</a:t>
            </a:r>
          </a:p>
        </p:txBody>
      </p:sp>
      <p:sp>
        <p:nvSpPr>
          <p:cNvPr id="38" name="Left Arrow 37">
            <a:extLst>
              <a:ext uri="{FF2B5EF4-FFF2-40B4-BE49-F238E27FC236}">
                <a16:creationId xmlns:a16="http://schemas.microsoft.com/office/drawing/2014/main" id="{B53FA62E-69D3-DA4C-BDAA-12D42993B8DD}"/>
              </a:ext>
            </a:extLst>
          </p:cNvPr>
          <p:cNvSpPr/>
          <p:nvPr/>
        </p:nvSpPr>
        <p:spPr>
          <a:xfrm>
            <a:off x="4652744" y="5473961"/>
            <a:ext cx="815249" cy="471228"/>
          </a:xfrm>
          <a:prstGeom prst="left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</a:t>
            </a:r>
          </a:p>
        </p:txBody>
      </p:sp>
      <p:sp>
        <p:nvSpPr>
          <p:cNvPr id="39" name="Left Arrow 38">
            <a:extLst>
              <a:ext uri="{FF2B5EF4-FFF2-40B4-BE49-F238E27FC236}">
                <a16:creationId xmlns:a16="http://schemas.microsoft.com/office/drawing/2014/main" id="{04C17C00-35D0-B847-8555-7F76486C8380}"/>
              </a:ext>
            </a:extLst>
          </p:cNvPr>
          <p:cNvSpPr/>
          <p:nvPr/>
        </p:nvSpPr>
        <p:spPr>
          <a:xfrm>
            <a:off x="5664460" y="5473961"/>
            <a:ext cx="815249" cy="471228"/>
          </a:xfrm>
          <a:prstGeom prst="left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</a:t>
            </a:r>
          </a:p>
        </p:txBody>
      </p:sp>
      <p:sp>
        <p:nvSpPr>
          <p:cNvPr id="40" name="Left Arrow 39">
            <a:extLst>
              <a:ext uri="{FF2B5EF4-FFF2-40B4-BE49-F238E27FC236}">
                <a16:creationId xmlns:a16="http://schemas.microsoft.com/office/drawing/2014/main" id="{2E355ABA-1156-A14F-931A-7A4F5E62852D}"/>
              </a:ext>
            </a:extLst>
          </p:cNvPr>
          <p:cNvSpPr/>
          <p:nvPr/>
        </p:nvSpPr>
        <p:spPr>
          <a:xfrm>
            <a:off x="6676176" y="5473961"/>
            <a:ext cx="815249" cy="471228"/>
          </a:xfrm>
          <a:prstGeom prst="left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</a:t>
            </a:r>
          </a:p>
        </p:txBody>
      </p:sp>
      <p:sp>
        <p:nvSpPr>
          <p:cNvPr id="41" name="Left Arrow 40">
            <a:extLst>
              <a:ext uri="{FF2B5EF4-FFF2-40B4-BE49-F238E27FC236}">
                <a16:creationId xmlns:a16="http://schemas.microsoft.com/office/drawing/2014/main" id="{7D2DDE1A-D751-A84B-B721-A145003C5C3D}"/>
              </a:ext>
            </a:extLst>
          </p:cNvPr>
          <p:cNvSpPr/>
          <p:nvPr/>
        </p:nvSpPr>
        <p:spPr>
          <a:xfrm>
            <a:off x="7687892" y="5473961"/>
            <a:ext cx="815249" cy="471228"/>
          </a:xfrm>
          <a:prstGeom prst="left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8059EBC-FACE-5A41-A401-BD4A89CA7B5C}"/>
              </a:ext>
            </a:extLst>
          </p:cNvPr>
          <p:cNvCxnSpPr>
            <a:cxnSpLocks/>
          </p:cNvCxnSpPr>
          <p:nvPr/>
        </p:nvCxnSpPr>
        <p:spPr>
          <a:xfrm>
            <a:off x="0" y="2062351"/>
            <a:ext cx="121920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8F0AF96-9F5F-C84D-AEAD-F920136E6997}"/>
              </a:ext>
            </a:extLst>
          </p:cNvPr>
          <p:cNvCxnSpPr>
            <a:cxnSpLocks/>
          </p:cNvCxnSpPr>
          <p:nvPr/>
        </p:nvCxnSpPr>
        <p:spPr>
          <a:xfrm>
            <a:off x="0" y="4880833"/>
            <a:ext cx="121920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6E46F286-431D-3947-82BC-11B5C8D72199}"/>
              </a:ext>
            </a:extLst>
          </p:cNvPr>
          <p:cNvSpPr txBox="1"/>
          <p:nvPr/>
        </p:nvSpPr>
        <p:spPr>
          <a:xfrm>
            <a:off x="9897803" y="2220913"/>
            <a:ext cx="178767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i="1" dirty="0">
                <a:solidFill>
                  <a:schemeClr val="accent1"/>
                </a:solidFill>
                <a:latin typeface="Bernino Sans Light" pitchFamily="2" charset="77"/>
              </a:rPr>
              <a:t>Fast color</a:t>
            </a:r>
          </a:p>
          <a:p>
            <a:pPr algn="ctr"/>
            <a:r>
              <a:rPr lang="en-US" sz="2800" i="1" dirty="0">
                <a:solidFill>
                  <a:schemeClr val="accent1"/>
                </a:solidFill>
                <a:latin typeface="Bernino Sans Light" pitchFamily="2" charset="77"/>
              </a:rPr>
              <a:t>reduction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AC6B185-1963-D14B-8919-9FA0E70A3169}"/>
              </a:ext>
            </a:extLst>
          </p:cNvPr>
          <p:cNvSpPr txBox="1"/>
          <p:nvPr/>
        </p:nvSpPr>
        <p:spPr>
          <a:xfrm>
            <a:off x="9777579" y="3678891"/>
            <a:ext cx="202811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i="1" dirty="0">
                <a:solidFill>
                  <a:schemeClr val="accent2"/>
                </a:solidFill>
                <a:latin typeface="Bernino Sans Light" pitchFamily="2" charset="77"/>
              </a:rPr>
              <a:t>Round</a:t>
            </a:r>
          </a:p>
          <a:p>
            <a:pPr algn="ctr"/>
            <a:r>
              <a:rPr lang="en-US" sz="2800" i="1" dirty="0">
                <a:solidFill>
                  <a:schemeClr val="accent2"/>
                </a:solidFill>
                <a:latin typeface="Bernino Sans Light" pitchFamily="2" charset="77"/>
              </a:rPr>
              <a:t>elimination</a:t>
            </a:r>
          </a:p>
        </p:txBody>
      </p:sp>
    </p:spTree>
    <p:extLst>
      <p:ext uri="{BB962C8B-B14F-4D97-AF65-F5344CB8AC3E}">
        <p14:creationId xmlns:p14="http://schemas.microsoft.com/office/powerpoint/2010/main" val="48119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45CC8-AD73-0867-D7C3-4B3121D68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E8D5F3-2462-BBFC-FBCD-273797CBB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>
              <a:spcBef>
                <a:spcPts val="8000"/>
              </a:spcBef>
              <a:buNone/>
            </a:pPr>
            <a:r>
              <a:rPr lang="en-US" sz="7200" dirty="0">
                <a:latin typeface="Bernina Sans Light" pitchFamily="2" charset="77"/>
              </a:rPr>
              <a:t>Proof:</a:t>
            </a:r>
            <a:br>
              <a:rPr lang="en-US" sz="7200" dirty="0">
                <a:latin typeface="Bernina Sans Light" pitchFamily="2" charset="77"/>
              </a:rPr>
            </a:br>
            <a:r>
              <a:rPr lang="en-US" sz="7200" b="1" dirty="0">
                <a:solidFill>
                  <a:schemeClr val="accent1"/>
                </a:solidFill>
                <a:latin typeface="Bernina Sans Extrabold" pitchFamily="2" charset="77"/>
              </a:rPr>
              <a:t>Randomized</a:t>
            </a:r>
            <a:br>
              <a:rPr lang="en-US" sz="7200" b="1" dirty="0">
                <a:solidFill>
                  <a:schemeClr val="accent1"/>
                </a:solidFill>
                <a:latin typeface="Bernina Sans Extrabold" pitchFamily="2" charset="77"/>
              </a:rPr>
            </a:br>
            <a:r>
              <a:rPr lang="en-US" sz="7200" b="1" dirty="0">
                <a:solidFill>
                  <a:schemeClr val="accent1"/>
                </a:solidFill>
                <a:latin typeface="Bernina Sans Extrabold" pitchFamily="2" charset="77"/>
              </a:rPr>
              <a:t>round elimination</a:t>
            </a:r>
            <a:endParaRPr lang="en-US" sz="7200" b="1" dirty="0">
              <a:solidFill>
                <a:schemeClr val="bg1"/>
              </a:solidFill>
              <a:latin typeface="Bernina Sans Extra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249764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D9167-6DF5-3845-9F54-179E1CEE7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704975"/>
          </a:xfrm>
        </p:spPr>
        <p:txBody>
          <a:bodyPr/>
          <a:lstStyle/>
          <a:p>
            <a:r>
              <a:rPr lang="en-US" dirty="0"/>
              <a:t>Randomized round elimination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36B71-4BDB-2A40-9822-9A9301FAC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98699"/>
            <a:ext cx="10515600" cy="3878263"/>
          </a:xfrm>
        </p:spPr>
        <p:txBody>
          <a:bodyPr/>
          <a:lstStyle/>
          <a:p>
            <a:r>
              <a:rPr lang="en-US" dirty="0"/>
              <a:t>We will use cycles as an example</a:t>
            </a:r>
          </a:p>
          <a:p>
            <a:r>
              <a:rPr lang="en-US" dirty="0"/>
              <a:t>The same idea generalizes to biregular trees</a:t>
            </a:r>
          </a:p>
          <a:p>
            <a:pPr lvl="1"/>
            <a:r>
              <a:rPr lang="en-US" dirty="0"/>
              <a:t>probabilities that we get are just slightly different</a:t>
            </a:r>
          </a:p>
        </p:txBody>
      </p:sp>
    </p:spTree>
    <p:extLst>
      <p:ext uri="{BB962C8B-B14F-4D97-AF65-F5344CB8AC3E}">
        <p14:creationId xmlns:p14="http://schemas.microsoft.com/office/powerpoint/2010/main" val="882939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D9167-6DF5-3845-9F54-179E1CEE7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704975"/>
          </a:xfrm>
        </p:spPr>
        <p:txBody>
          <a:bodyPr/>
          <a:lstStyle/>
          <a:p>
            <a:r>
              <a:rPr lang="en-US" dirty="0"/>
              <a:t>Randomized round elimination in cycles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36B71-4BDB-2A40-9822-9A9301FAC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98699"/>
            <a:ext cx="10515600" cy="3878263"/>
          </a:xfrm>
        </p:spPr>
        <p:txBody>
          <a:bodyPr/>
          <a:lstStyle/>
          <a:p>
            <a:r>
              <a:rPr lang="en-US" b="1" i="1" dirty="0">
                <a:latin typeface="Bernino Sans" pitchFamily="2" charset="77"/>
              </a:rPr>
              <a:t>A</a:t>
            </a:r>
            <a:r>
              <a:rPr lang="en-US" b="1" baseline="-25000" dirty="0">
                <a:latin typeface="Bernino Sans" pitchFamily="2" charset="77"/>
              </a:rPr>
              <a:t>0</a:t>
            </a:r>
            <a:r>
              <a:rPr lang="en-US" b="1" dirty="0">
                <a:latin typeface="Bernino Sans" pitchFamily="2" charset="77"/>
              </a:rPr>
              <a:t>:</a:t>
            </a:r>
            <a:r>
              <a:rPr lang="en-US" dirty="0"/>
              <a:t> local failure probability &lt; 1/</a:t>
            </a:r>
            <a:r>
              <a:rPr lang="en-US" i="1" dirty="0"/>
              <a:t>x</a:t>
            </a:r>
            <a:r>
              <a:rPr lang="en-US" baseline="30000" dirty="0"/>
              <a:t>3</a:t>
            </a:r>
          </a:p>
          <a:p>
            <a:r>
              <a:rPr lang="en-US" b="1" i="1" dirty="0">
                <a:latin typeface="Bernino Sans" pitchFamily="2" charset="77"/>
              </a:rPr>
              <a:t>A</a:t>
            </a:r>
            <a:r>
              <a:rPr lang="en-US" b="1" baseline="-25000" dirty="0">
                <a:latin typeface="Bernino Sans" pitchFamily="2" charset="77"/>
              </a:rPr>
              <a:t>1</a:t>
            </a:r>
            <a:r>
              <a:rPr lang="en-US" b="1" dirty="0">
                <a:latin typeface="Bernino Sans" pitchFamily="2" charset="77"/>
              </a:rPr>
              <a:t>:</a:t>
            </a:r>
            <a:r>
              <a:rPr lang="en-US" dirty="0"/>
              <a:t> form the set of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frequent labels</a:t>
            </a:r>
          </a:p>
          <a:p>
            <a:pPr lvl="1"/>
            <a:r>
              <a:rPr lang="en-US" dirty="0"/>
              <a:t>labels that appear with probability ≥ 1/</a:t>
            </a:r>
            <a:r>
              <a:rPr lang="en-US" i="1" dirty="0"/>
              <a:t>x</a:t>
            </a:r>
          </a:p>
          <a:p>
            <a:r>
              <a:rPr lang="en-US" b="1" dirty="0">
                <a:latin typeface="Bernino Sans" pitchFamily="2" charset="77"/>
              </a:rPr>
              <a:t>Analysis:</a:t>
            </a:r>
            <a:r>
              <a:rPr lang="en-US" dirty="0"/>
              <a:t> focus on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lucky neighborhoods</a:t>
            </a:r>
          </a:p>
          <a:p>
            <a:pPr lvl="1"/>
            <a:r>
              <a:rPr lang="en-US" dirty="0"/>
              <a:t>neighborhoods in which</a:t>
            </a:r>
            <a:br>
              <a:rPr lang="en-US" dirty="0"/>
            </a:br>
            <a:r>
              <a:rPr lang="en-US" i="1" dirty="0"/>
              <a:t>A</a:t>
            </a:r>
            <a:r>
              <a:rPr lang="en-US" baseline="-25000" dirty="0"/>
              <a:t>0</a:t>
            </a:r>
            <a:r>
              <a:rPr lang="en-US" dirty="0"/>
              <a:t> fails with probability &lt; 1/</a:t>
            </a:r>
            <a:r>
              <a:rPr lang="en-US" i="1" dirty="0"/>
              <a:t>x</a:t>
            </a:r>
            <a:r>
              <a:rPr lang="en-US" baseline="30000" dirty="0"/>
              <a:t>2</a:t>
            </a:r>
          </a:p>
        </p:txBody>
      </p:sp>
      <p:sp>
        <p:nvSpPr>
          <p:cNvPr id="4" name="Rounded Rectangular Callout 3">
            <a:extLst>
              <a:ext uri="{FF2B5EF4-FFF2-40B4-BE49-F238E27FC236}">
                <a16:creationId xmlns:a16="http://schemas.microsoft.com/office/drawing/2014/main" id="{D0DEFFA6-15CC-2C4F-8ADA-9807B84C6E0E}"/>
              </a:ext>
            </a:extLst>
          </p:cNvPr>
          <p:cNvSpPr/>
          <p:nvPr/>
        </p:nvSpPr>
        <p:spPr>
          <a:xfrm>
            <a:off x="8686337" y="2199565"/>
            <a:ext cx="1968500" cy="709641"/>
          </a:xfrm>
          <a:prstGeom prst="wedgeRoundRectCallout">
            <a:avLst>
              <a:gd name="adj1" fmla="val -70629"/>
              <a:gd name="adj2" fmla="val 12669"/>
              <a:gd name="adj3" fmla="val 16667"/>
            </a:avLst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0"/>
              </a:spcBef>
            </a:pPr>
            <a:r>
              <a:rPr lang="en-US" sz="2800" dirty="0">
                <a:latin typeface="Bernino Sans" pitchFamily="2" charset="77"/>
              </a:rPr>
              <a:t>e.g. 0.1%</a:t>
            </a:r>
          </a:p>
        </p:txBody>
      </p:sp>
      <p:sp>
        <p:nvSpPr>
          <p:cNvPr id="5" name="Rounded Rectangular Callout 4">
            <a:extLst>
              <a:ext uri="{FF2B5EF4-FFF2-40B4-BE49-F238E27FC236}">
                <a16:creationId xmlns:a16="http://schemas.microsoft.com/office/drawing/2014/main" id="{C965E83E-4BC4-1B4A-BDBF-4867DECFF04D}"/>
              </a:ext>
            </a:extLst>
          </p:cNvPr>
          <p:cNvSpPr/>
          <p:nvPr/>
        </p:nvSpPr>
        <p:spPr>
          <a:xfrm>
            <a:off x="7747000" y="4986278"/>
            <a:ext cx="1829727" cy="709641"/>
          </a:xfrm>
          <a:prstGeom prst="wedgeRoundRectCallout">
            <a:avLst>
              <a:gd name="adj1" fmla="val -63533"/>
              <a:gd name="adj2" fmla="val 25197"/>
              <a:gd name="adj3" fmla="val 16667"/>
            </a:avLst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0"/>
              </a:spcBef>
            </a:pPr>
            <a:r>
              <a:rPr lang="en-US" sz="2800" dirty="0">
                <a:latin typeface="Bernino Sans" pitchFamily="2" charset="77"/>
              </a:rPr>
              <a:t>e.g. 1%</a:t>
            </a: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799960FA-50FB-F44D-ADFB-ADA18B9D7028}"/>
              </a:ext>
            </a:extLst>
          </p:cNvPr>
          <p:cNvSpPr/>
          <p:nvPr/>
        </p:nvSpPr>
        <p:spPr>
          <a:xfrm>
            <a:off x="9670587" y="3349157"/>
            <a:ext cx="1829726" cy="709641"/>
          </a:xfrm>
          <a:prstGeom prst="wedgeRoundRectCallout">
            <a:avLst>
              <a:gd name="adj1" fmla="val -63533"/>
              <a:gd name="adj2" fmla="val 25197"/>
              <a:gd name="adj3" fmla="val 16667"/>
            </a:avLst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0"/>
              </a:spcBef>
            </a:pPr>
            <a:r>
              <a:rPr lang="en-US" sz="2800" dirty="0">
                <a:latin typeface="Bernino Sans" pitchFamily="2" charset="77"/>
              </a:rPr>
              <a:t>e.g. 10%</a:t>
            </a:r>
          </a:p>
        </p:txBody>
      </p:sp>
    </p:spTree>
    <p:extLst>
      <p:ext uri="{BB962C8B-B14F-4D97-AF65-F5344CB8AC3E}">
        <p14:creationId xmlns:p14="http://schemas.microsoft.com/office/powerpoint/2010/main" val="340116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03FD3-BBEA-0748-8983-A6203CD8C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Intuition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F09DB-496C-A740-BBB8-035D1696E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Bernino Sans" pitchFamily="2" charset="77"/>
              </a:rPr>
              <a:t>Before seeing anything:</a:t>
            </a:r>
          </a:p>
          <a:p>
            <a:pPr lvl="1"/>
            <a:r>
              <a:rPr lang="en-US" dirty="0"/>
              <a:t>we know that </a:t>
            </a:r>
            <a:r>
              <a:rPr lang="en-US" i="1" dirty="0"/>
              <a:t>A</a:t>
            </a:r>
            <a:r>
              <a:rPr lang="en-US" baseline="-25000" dirty="0"/>
              <a:t>0</a:t>
            </a:r>
            <a:r>
              <a:rPr lang="en-US" dirty="0"/>
              <a:t> failure rate is &lt; 1/</a:t>
            </a:r>
            <a:r>
              <a:rPr lang="en-US" i="1" dirty="0"/>
              <a:t>x</a:t>
            </a:r>
            <a:r>
              <a:rPr lang="en-US" baseline="30000" dirty="0"/>
              <a:t>3</a:t>
            </a:r>
          </a:p>
          <a:p>
            <a:r>
              <a:rPr lang="en-US" b="1" dirty="0">
                <a:latin typeface="Bernino Sans" pitchFamily="2" charset="77"/>
              </a:rPr>
              <a:t>Gather more local information:</a:t>
            </a:r>
          </a:p>
          <a:p>
            <a:pPr lvl="1"/>
            <a:r>
              <a:rPr lang="en-US" dirty="0"/>
              <a:t>gain more information on </a:t>
            </a:r>
            <a:r>
              <a:rPr lang="en-US" i="1" dirty="0"/>
              <a:t>A</a:t>
            </a:r>
            <a:r>
              <a:rPr lang="en-US" baseline="-25000" dirty="0"/>
              <a:t>0</a:t>
            </a:r>
            <a:r>
              <a:rPr lang="en-US" dirty="0"/>
              <a:t> failure rate here</a:t>
            </a:r>
          </a:p>
          <a:p>
            <a:pPr lvl="1"/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“unlucky”: </a:t>
            </a:r>
            <a:r>
              <a:rPr lang="en-US" dirty="0"/>
              <a:t>much worse than average failure rate</a:t>
            </a:r>
          </a:p>
          <a:p>
            <a:pPr lvl="2"/>
            <a:r>
              <a:rPr lang="en-US" dirty="0"/>
              <a:t>ideally these are very rare</a:t>
            </a:r>
          </a:p>
          <a:p>
            <a:pPr lvl="1"/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“lucky”: </a:t>
            </a:r>
            <a:r>
              <a:rPr lang="en-US" dirty="0"/>
              <a:t>not much worse than average failure rate</a:t>
            </a:r>
          </a:p>
          <a:p>
            <a:pPr lvl="2"/>
            <a:r>
              <a:rPr lang="en-US" dirty="0"/>
              <a:t>ideally failure rate is still very low</a:t>
            </a:r>
          </a:p>
        </p:txBody>
      </p:sp>
    </p:spTree>
    <p:extLst>
      <p:ext uri="{BB962C8B-B14F-4D97-AF65-F5344CB8AC3E}">
        <p14:creationId xmlns:p14="http://schemas.microsoft.com/office/powerpoint/2010/main" val="3147573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1F2FC-D4D5-8D4E-B775-5BA2E9C03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active nodes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579B4-FE2A-C649-8BBF-EC7D2304D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Assume we are in a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lucky neighborhood</a:t>
            </a:r>
          </a:p>
          <a:p>
            <a:pPr lvl="1"/>
            <a:r>
              <a:rPr lang="en-US" dirty="0"/>
              <a:t>by definition: P[</a:t>
            </a:r>
            <a:r>
              <a:rPr lang="en-US" i="1" dirty="0"/>
              <a:t>A</a:t>
            </a:r>
            <a:r>
              <a:rPr lang="en-US" baseline="-25000" dirty="0"/>
              <a:t>0</a:t>
            </a:r>
            <a:r>
              <a:rPr lang="en-US" dirty="0"/>
              <a:t> fails] &lt; 1/</a:t>
            </a:r>
            <a:r>
              <a:rPr lang="en-US" i="1" dirty="0"/>
              <a:t>x</a:t>
            </a:r>
            <a:r>
              <a:rPr lang="en-US" baseline="30000" dirty="0"/>
              <a:t>2</a:t>
            </a:r>
            <a:endParaRPr lang="en-US" dirty="0"/>
          </a:p>
          <a:p>
            <a:r>
              <a:rPr lang="en-US" dirty="0"/>
              <a:t>Assume [</a:t>
            </a:r>
            <a:r>
              <a:rPr lang="en-US" i="1" dirty="0"/>
              <a:t>a</a:t>
            </a:r>
            <a:r>
              <a:rPr lang="en-US" dirty="0"/>
              <a:t>, </a:t>
            </a:r>
            <a:r>
              <a:rPr lang="en-US" i="1" dirty="0"/>
              <a:t>b</a:t>
            </a:r>
            <a:r>
              <a:rPr lang="en-US" dirty="0"/>
              <a:t>] is a pair of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frequent labels</a:t>
            </a:r>
          </a:p>
          <a:p>
            <a:pPr lvl="1"/>
            <a:r>
              <a:rPr lang="en-US" dirty="0"/>
              <a:t>happens here with probability ≥ 1/</a:t>
            </a:r>
            <a:r>
              <a:rPr lang="en-US" i="1" dirty="0"/>
              <a:t>x</a:t>
            </a:r>
            <a:r>
              <a:rPr lang="en-US" dirty="0"/>
              <a:t> · 1/</a:t>
            </a:r>
            <a:r>
              <a:rPr lang="en-US" i="1" dirty="0"/>
              <a:t>x</a:t>
            </a:r>
            <a:r>
              <a:rPr lang="en-US" dirty="0"/>
              <a:t> = 1/</a:t>
            </a:r>
            <a:r>
              <a:rPr lang="en-US" i="1" dirty="0"/>
              <a:t>x</a:t>
            </a:r>
            <a:r>
              <a:rPr lang="en-US" baseline="30000" dirty="0"/>
              <a:t>2</a:t>
            </a:r>
          </a:p>
          <a:p>
            <a:pPr lvl="1"/>
            <a:r>
              <a:rPr lang="en-US" i="1" dirty="0"/>
              <a:t>A</a:t>
            </a:r>
            <a:r>
              <a:rPr lang="en-US" baseline="-25000" dirty="0"/>
              <a:t>0</a:t>
            </a:r>
            <a:r>
              <a:rPr lang="en-US" dirty="0"/>
              <a:t> cannot fail here with probability ≥ 1/</a:t>
            </a:r>
            <a:r>
              <a:rPr lang="en-US" i="1" dirty="0"/>
              <a:t>x</a:t>
            </a:r>
            <a:r>
              <a:rPr lang="en-US" baseline="30000" dirty="0"/>
              <a:t>2</a:t>
            </a:r>
            <a:endParaRPr lang="en-US" dirty="0"/>
          </a:p>
          <a:p>
            <a:pPr lvl="1"/>
            <a:r>
              <a:rPr lang="en-US" b="1" dirty="0">
                <a:latin typeface="Bernino Sans" pitchFamily="2" charset="77"/>
              </a:rPr>
              <a:t>label pair [</a:t>
            </a:r>
            <a:r>
              <a:rPr lang="en-US" b="1" i="1" dirty="0">
                <a:latin typeface="Bernino Sans" pitchFamily="2" charset="77"/>
              </a:rPr>
              <a:t>a</a:t>
            </a:r>
            <a:r>
              <a:rPr lang="en-US" b="1" dirty="0">
                <a:latin typeface="Bernino Sans" pitchFamily="2" charset="77"/>
              </a:rPr>
              <a:t>, </a:t>
            </a:r>
            <a:r>
              <a:rPr lang="en-US" b="1" i="1" dirty="0">
                <a:latin typeface="Bernino Sans" pitchFamily="2" charset="77"/>
              </a:rPr>
              <a:t>b</a:t>
            </a:r>
            <a:r>
              <a:rPr lang="en-US" b="1" dirty="0">
                <a:latin typeface="Bernino Sans" pitchFamily="2" charset="77"/>
              </a:rPr>
              <a:t>] must be feasible!</a:t>
            </a:r>
          </a:p>
          <a:p>
            <a:r>
              <a:rPr lang="en-US" i="1" dirty="0"/>
              <a:t>A</a:t>
            </a:r>
            <a:r>
              <a:rPr lang="en-US" baseline="-25000" dirty="0"/>
              <a:t>1</a:t>
            </a:r>
            <a:r>
              <a:rPr lang="en-US" dirty="0"/>
              <a:t> can fail only in unlucky neighborhoods!</a:t>
            </a:r>
          </a:p>
        </p:txBody>
      </p:sp>
    </p:spTree>
    <p:extLst>
      <p:ext uri="{BB962C8B-B14F-4D97-AF65-F5344CB8AC3E}">
        <p14:creationId xmlns:p14="http://schemas.microsoft.com/office/powerpoint/2010/main" val="481181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1F2FC-D4D5-8D4E-B775-5BA2E9C03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Lucky neighborhoods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579B4-FE2A-C649-8BBF-EC7D2304D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Bernino Sans" pitchFamily="2" charset="77"/>
              </a:rPr>
              <a:t>Assumption: </a:t>
            </a:r>
            <a:r>
              <a:rPr lang="en-US" dirty="0"/>
              <a:t>P[</a:t>
            </a:r>
            <a:r>
              <a:rPr lang="en-US" i="1" dirty="0"/>
              <a:t>A</a:t>
            </a:r>
            <a:r>
              <a:rPr lang="en-US" baseline="-25000" dirty="0"/>
              <a:t>0</a:t>
            </a:r>
            <a:r>
              <a:rPr lang="en-US" dirty="0"/>
              <a:t> fails] &lt; 1/</a:t>
            </a:r>
            <a:r>
              <a:rPr lang="en-US" i="1" dirty="0"/>
              <a:t>x</a:t>
            </a:r>
            <a:r>
              <a:rPr lang="en-US" baseline="30000" dirty="0"/>
              <a:t>3</a:t>
            </a:r>
          </a:p>
          <a:p>
            <a:r>
              <a:rPr lang="en-US" b="1" dirty="0">
                <a:latin typeface="Bernino Sans" pitchFamily="2" charset="77"/>
              </a:rPr>
              <a:t>Definition: </a:t>
            </a:r>
            <a:r>
              <a:rPr lang="en-US" dirty="0"/>
              <a:t>P[</a:t>
            </a:r>
            <a:r>
              <a:rPr lang="en-US" i="1" dirty="0"/>
              <a:t>A</a:t>
            </a:r>
            <a:r>
              <a:rPr lang="en-US" baseline="-25000" dirty="0"/>
              <a:t>0</a:t>
            </a:r>
            <a:r>
              <a:rPr lang="en-US" dirty="0"/>
              <a:t> fails | unlucky] ≥ 1/</a:t>
            </a:r>
            <a:r>
              <a:rPr lang="en-US" i="1" dirty="0"/>
              <a:t>x</a:t>
            </a:r>
            <a:r>
              <a:rPr lang="en-US" baseline="30000" dirty="0"/>
              <a:t>2</a:t>
            </a:r>
            <a:endParaRPr lang="en-US" dirty="0"/>
          </a:p>
          <a:p>
            <a:r>
              <a:rPr lang="en-US" dirty="0"/>
              <a:t>P[</a:t>
            </a:r>
            <a:r>
              <a:rPr lang="en-US" i="1" dirty="0"/>
              <a:t>A</a:t>
            </a:r>
            <a:r>
              <a:rPr lang="en-US" baseline="-25000" dirty="0"/>
              <a:t>0</a:t>
            </a:r>
            <a:r>
              <a:rPr lang="en-US" dirty="0"/>
              <a:t> fails | unlucky] · P[unlucky] &lt; 1/</a:t>
            </a:r>
            <a:r>
              <a:rPr lang="en-US" i="1" dirty="0"/>
              <a:t>x</a:t>
            </a:r>
            <a:r>
              <a:rPr lang="en-US" baseline="30000" dirty="0"/>
              <a:t>3</a:t>
            </a:r>
            <a:endParaRPr lang="en-US" dirty="0"/>
          </a:p>
          <a:p>
            <a:r>
              <a:rPr lang="en-US" dirty="0"/>
              <a:t>P[unlucky] &lt; </a:t>
            </a:r>
            <a:r>
              <a:rPr lang="en-US" b="1" dirty="0">
                <a:solidFill>
                  <a:schemeClr val="accent1"/>
                </a:solidFill>
                <a:latin typeface="Bernino Sans" pitchFamily="2" charset="77"/>
              </a:rPr>
              <a:t>1/x</a:t>
            </a:r>
            <a:endParaRPr lang="en-US" b="1" i="1" dirty="0">
              <a:solidFill>
                <a:schemeClr val="accent1"/>
              </a:solidFill>
              <a:latin typeface="Bernino Sans" pitchFamily="2" charset="77"/>
            </a:endParaRPr>
          </a:p>
        </p:txBody>
      </p:sp>
      <p:sp>
        <p:nvSpPr>
          <p:cNvPr id="4" name="Rounded Rectangular Callout 3">
            <a:extLst>
              <a:ext uri="{FF2B5EF4-FFF2-40B4-BE49-F238E27FC236}">
                <a16:creationId xmlns:a16="http://schemas.microsoft.com/office/drawing/2014/main" id="{0164C875-0B38-1B76-0E8A-87E51980EA54}"/>
              </a:ext>
            </a:extLst>
          </p:cNvPr>
          <p:cNvSpPr/>
          <p:nvPr/>
        </p:nvSpPr>
        <p:spPr>
          <a:xfrm>
            <a:off x="8261794" y="1626024"/>
            <a:ext cx="1968500" cy="709641"/>
          </a:xfrm>
          <a:prstGeom prst="wedgeRoundRectCallout">
            <a:avLst>
              <a:gd name="adj1" fmla="val -70629"/>
              <a:gd name="adj2" fmla="val 12669"/>
              <a:gd name="adj3" fmla="val 16667"/>
            </a:avLst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0"/>
              </a:spcBef>
            </a:pPr>
            <a:r>
              <a:rPr lang="en-US" sz="2800" dirty="0">
                <a:latin typeface="Bernino Sans" pitchFamily="2" charset="77"/>
              </a:rPr>
              <a:t>e.g. 0.1%</a:t>
            </a:r>
          </a:p>
        </p:txBody>
      </p:sp>
      <p:sp>
        <p:nvSpPr>
          <p:cNvPr id="5" name="Rounded Rectangular Callout 4">
            <a:extLst>
              <a:ext uri="{FF2B5EF4-FFF2-40B4-BE49-F238E27FC236}">
                <a16:creationId xmlns:a16="http://schemas.microsoft.com/office/drawing/2014/main" id="{6DCE1056-E334-258A-0516-E4E4978FC497}"/>
              </a:ext>
            </a:extLst>
          </p:cNvPr>
          <p:cNvSpPr/>
          <p:nvPr/>
        </p:nvSpPr>
        <p:spPr>
          <a:xfrm>
            <a:off x="9749971" y="2719359"/>
            <a:ext cx="1829727" cy="709641"/>
          </a:xfrm>
          <a:prstGeom prst="wedgeRoundRectCallout">
            <a:avLst>
              <a:gd name="adj1" fmla="val -65318"/>
              <a:gd name="adj2" fmla="val -30026"/>
              <a:gd name="adj3" fmla="val 16667"/>
            </a:avLst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0"/>
              </a:spcBef>
            </a:pPr>
            <a:r>
              <a:rPr lang="en-US" sz="2800" dirty="0">
                <a:latin typeface="Bernino Sans" pitchFamily="2" charset="77"/>
              </a:rPr>
              <a:t>e.g. 1%</a:t>
            </a: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E1B676A2-4E28-2A83-56AB-F24E6FB8B739}"/>
              </a:ext>
            </a:extLst>
          </p:cNvPr>
          <p:cNvSpPr/>
          <p:nvPr/>
        </p:nvSpPr>
        <p:spPr>
          <a:xfrm>
            <a:off x="5338073" y="4198243"/>
            <a:ext cx="1829726" cy="709641"/>
          </a:xfrm>
          <a:prstGeom prst="wedgeRoundRectCallout">
            <a:avLst>
              <a:gd name="adj1" fmla="val -73052"/>
              <a:gd name="adj2" fmla="val -28492"/>
              <a:gd name="adj3" fmla="val 16667"/>
            </a:avLst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0"/>
              </a:spcBef>
            </a:pPr>
            <a:r>
              <a:rPr lang="en-US" sz="2800" dirty="0">
                <a:latin typeface="Bernino Sans" pitchFamily="2" charset="77"/>
              </a:rPr>
              <a:t>e.g. 10%</a:t>
            </a:r>
          </a:p>
        </p:txBody>
      </p:sp>
    </p:spTree>
    <p:extLst>
      <p:ext uri="{BB962C8B-B14F-4D97-AF65-F5344CB8AC3E}">
        <p14:creationId xmlns:p14="http://schemas.microsoft.com/office/powerpoint/2010/main" val="1714300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61076-568B-EC46-981F-67BD3A9EC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passive nodes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14748-627C-1C48-A2D6-787387FA7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P[</a:t>
            </a:r>
            <a:r>
              <a:rPr lang="en-US" i="1" dirty="0"/>
              <a:t>A</a:t>
            </a:r>
            <a:r>
              <a:rPr lang="en-US" baseline="-25000" dirty="0"/>
              <a:t>0</a:t>
            </a:r>
            <a:r>
              <a:rPr lang="en-US" dirty="0"/>
              <a:t> fails] &lt; </a:t>
            </a:r>
            <a:r>
              <a:rPr lang="en-US" b="1" dirty="0">
                <a:solidFill>
                  <a:schemeClr val="accent1"/>
                </a:solidFill>
                <a:latin typeface="Bernino Sans" pitchFamily="2" charset="77"/>
              </a:rPr>
              <a:t>1/</a:t>
            </a:r>
            <a:r>
              <a:rPr lang="en-US" b="1" i="1" dirty="0">
                <a:solidFill>
                  <a:schemeClr val="accent1"/>
                </a:solidFill>
                <a:latin typeface="Bernino Sans" pitchFamily="2" charset="77"/>
              </a:rPr>
              <a:t>x</a:t>
            </a:r>
            <a:r>
              <a:rPr lang="en-US" b="1" baseline="30000" dirty="0">
                <a:solidFill>
                  <a:schemeClr val="accent1"/>
                </a:solidFill>
                <a:latin typeface="Bernino Sans" pitchFamily="2" charset="77"/>
              </a:rPr>
              <a:t>3</a:t>
            </a:r>
            <a:endParaRPr lang="en-US" baseline="30000" dirty="0"/>
          </a:p>
          <a:p>
            <a:r>
              <a:rPr lang="en-US" dirty="0"/>
              <a:t>P[</a:t>
            </a:r>
            <a:r>
              <a:rPr lang="en-US" i="1" dirty="0"/>
              <a:t>A</a:t>
            </a:r>
            <a:r>
              <a:rPr lang="en-US" baseline="-25000" dirty="0"/>
              <a:t>0</a:t>
            </a:r>
            <a:r>
              <a:rPr lang="en-US" dirty="0"/>
              <a:t> output considered infrequent by </a:t>
            </a:r>
            <a:r>
              <a:rPr lang="en-US" i="1" dirty="0"/>
              <a:t>A</a:t>
            </a:r>
            <a:r>
              <a:rPr lang="en-US" baseline="-25000" dirty="0"/>
              <a:t>1</a:t>
            </a:r>
            <a:r>
              <a:rPr lang="en-US" dirty="0"/>
              <a:t>]</a:t>
            </a:r>
            <a:br>
              <a:rPr lang="en-US" dirty="0"/>
            </a:br>
            <a:r>
              <a:rPr lang="en-US" dirty="0"/>
              <a:t>&lt; </a:t>
            </a:r>
            <a:r>
              <a:rPr lang="en-US" b="1" dirty="0">
                <a:solidFill>
                  <a:schemeClr val="accent1"/>
                </a:solidFill>
                <a:latin typeface="Bernino Sans" pitchFamily="2" charset="77"/>
              </a:rPr>
              <a:t>#labels · #edges · 1/</a:t>
            </a:r>
            <a:r>
              <a:rPr lang="en-US" b="1" i="1" dirty="0">
                <a:solidFill>
                  <a:schemeClr val="accent1"/>
                </a:solidFill>
                <a:latin typeface="Bernino Sans" pitchFamily="2" charset="77"/>
              </a:rPr>
              <a:t>x</a:t>
            </a:r>
            <a:endParaRPr lang="en-US" dirty="0"/>
          </a:p>
          <a:p>
            <a:r>
              <a:rPr lang="en-US" b="1" dirty="0">
                <a:latin typeface="Bernino Sans" pitchFamily="2" charset="77"/>
              </a:rPr>
              <a:t>Otherwise:</a:t>
            </a:r>
          </a:p>
          <a:p>
            <a:pPr lvl="1"/>
            <a:r>
              <a:rPr lang="en-US" i="1" dirty="0"/>
              <a:t>A</a:t>
            </a:r>
            <a:r>
              <a:rPr lang="en-US" baseline="-25000" dirty="0"/>
              <a:t>0</a:t>
            </a:r>
            <a:r>
              <a:rPr lang="en-US" dirty="0"/>
              <a:t> does not fail, its outputs form a valid solution</a:t>
            </a:r>
          </a:p>
          <a:p>
            <a:pPr lvl="1"/>
            <a:r>
              <a:rPr lang="en-US" i="1" dirty="0"/>
              <a:t>A</a:t>
            </a:r>
            <a:r>
              <a:rPr lang="en-US" baseline="-25000" dirty="0"/>
              <a:t>0</a:t>
            </a:r>
            <a:r>
              <a:rPr lang="en-US" dirty="0"/>
              <a:t> outputs only labels that </a:t>
            </a:r>
            <a:r>
              <a:rPr lang="en-US" i="1" dirty="0"/>
              <a:t>A</a:t>
            </a:r>
            <a:r>
              <a:rPr lang="en-US" baseline="-25000" dirty="0"/>
              <a:t>1</a:t>
            </a:r>
            <a:r>
              <a:rPr lang="en-US" dirty="0"/>
              <a:t> considers frequent</a:t>
            </a:r>
          </a:p>
          <a:p>
            <a:pPr lvl="1"/>
            <a:r>
              <a:rPr lang="en-US" i="1" dirty="0"/>
              <a:t>A</a:t>
            </a:r>
            <a:r>
              <a:rPr lang="en-US" baseline="-25000" dirty="0"/>
              <a:t>1</a:t>
            </a:r>
            <a:r>
              <a:rPr lang="en-US" dirty="0"/>
              <a:t> has to succeed in solving re(</a:t>
            </a:r>
            <a:r>
              <a:rPr lang="en-US" i="1" dirty="0"/>
              <a:t>X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1678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B4C5D-1CA8-7E49-AF9A-2562C8116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3AFC2-977E-1F48-A6FC-F8029CD17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P[</a:t>
            </a:r>
            <a:r>
              <a:rPr lang="en-US" i="1" dirty="0"/>
              <a:t>A</a:t>
            </a:r>
            <a:r>
              <a:rPr lang="en-US" baseline="-25000" dirty="0"/>
              <a:t>0</a:t>
            </a:r>
            <a:r>
              <a:rPr lang="en-US" dirty="0"/>
              <a:t> fails] &lt; </a:t>
            </a:r>
            <a:r>
              <a:rPr lang="en-US" b="1" dirty="0">
                <a:solidFill>
                  <a:schemeClr val="accent2"/>
                </a:solidFill>
                <a:latin typeface="Bernino Sans" pitchFamily="2" charset="77"/>
              </a:rPr>
              <a:t>1/</a:t>
            </a:r>
            <a:r>
              <a:rPr lang="en-US" b="1" i="1" dirty="0">
                <a:solidFill>
                  <a:schemeClr val="accent2"/>
                </a:solidFill>
                <a:latin typeface="Bernino Sans" pitchFamily="2" charset="77"/>
              </a:rPr>
              <a:t>x</a:t>
            </a:r>
            <a:r>
              <a:rPr lang="en-US" b="1" baseline="30000" dirty="0">
                <a:solidFill>
                  <a:schemeClr val="accent2"/>
                </a:solidFill>
                <a:latin typeface="Bernino Sans" pitchFamily="2" charset="77"/>
              </a:rPr>
              <a:t>3</a:t>
            </a:r>
            <a:endParaRPr lang="en-US" baseline="30000" dirty="0">
              <a:solidFill>
                <a:schemeClr val="accent2"/>
              </a:solidFill>
            </a:endParaRPr>
          </a:p>
          <a:p>
            <a:r>
              <a:rPr lang="en-US" dirty="0"/>
              <a:t>Possible </a:t>
            </a:r>
            <a:r>
              <a:rPr lang="en-US" i="1" dirty="0"/>
              <a:t>A</a:t>
            </a:r>
            <a:r>
              <a:rPr lang="en-US" baseline="-25000" dirty="0"/>
              <a:t>1</a:t>
            </a:r>
            <a:r>
              <a:rPr lang="en-US" dirty="0"/>
              <a:t>-failures:</a:t>
            </a:r>
          </a:p>
          <a:p>
            <a:pPr lvl="1"/>
            <a:r>
              <a:rPr lang="en-US" dirty="0"/>
              <a:t>P[unlucky] &lt; </a:t>
            </a:r>
            <a:r>
              <a:rPr lang="en-US" b="1" dirty="0">
                <a:solidFill>
                  <a:schemeClr val="accent1"/>
                </a:solidFill>
                <a:latin typeface="Bernino Sans" pitchFamily="2" charset="77"/>
              </a:rPr>
              <a:t>1/x</a:t>
            </a:r>
            <a:endParaRPr lang="en-US" b="1" i="1" dirty="0">
              <a:solidFill>
                <a:schemeClr val="accent1"/>
              </a:solidFill>
              <a:latin typeface="Bernino Sans" pitchFamily="2" charset="77"/>
            </a:endParaRPr>
          </a:p>
          <a:p>
            <a:pPr lvl="1"/>
            <a:r>
              <a:rPr lang="en-US" dirty="0"/>
              <a:t>P[</a:t>
            </a:r>
            <a:r>
              <a:rPr lang="en-US" i="1" dirty="0"/>
              <a:t>A</a:t>
            </a:r>
            <a:r>
              <a:rPr lang="en-US" baseline="-25000" dirty="0"/>
              <a:t>0</a:t>
            </a:r>
            <a:r>
              <a:rPr lang="en-US" dirty="0"/>
              <a:t> fails] &lt; </a:t>
            </a:r>
            <a:r>
              <a:rPr lang="en-US" b="1" dirty="0">
                <a:solidFill>
                  <a:schemeClr val="accent1"/>
                </a:solidFill>
                <a:latin typeface="Bernino Sans" pitchFamily="2" charset="77"/>
              </a:rPr>
              <a:t>1/</a:t>
            </a:r>
            <a:r>
              <a:rPr lang="en-US" b="1" i="1" dirty="0">
                <a:solidFill>
                  <a:schemeClr val="accent1"/>
                </a:solidFill>
                <a:latin typeface="Bernino Sans" pitchFamily="2" charset="77"/>
              </a:rPr>
              <a:t>x</a:t>
            </a:r>
            <a:r>
              <a:rPr lang="en-US" b="1" baseline="30000" dirty="0">
                <a:solidFill>
                  <a:schemeClr val="accent1"/>
                </a:solidFill>
                <a:latin typeface="Bernino Sans" pitchFamily="2" charset="77"/>
              </a:rPr>
              <a:t>3</a:t>
            </a:r>
            <a:endParaRPr lang="en-US" baseline="30000" dirty="0"/>
          </a:p>
          <a:p>
            <a:pPr lvl="1"/>
            <a:r>
              <a:rPr lang="en-US" dirty="0"/>
              <a:t>P[</a:t>
            </a:r>
            <a:r>
              <a:rPr lang="en-US" i="1" dirty="0"/>
              <a:t>A</a:t>
            </a:r>
            <a:r>
              <a:rPr lang="en-US" baseline="-25000" dirty="0"/>
              <a:t>0</a:t>
            </a:r>
            <a:r>
              <a:rPr lang="en-US" dirty="0"/>
              <a:t> outputs some infrequent label]</a:t>
            </a:r>
            <a:br>
              <a:rPr lang="en-US" dirty="0"/>
            </a:br>
            <a:r>
              <a:rPr lang="en-US" dirty="0"/>
              <a:t>&lt; </a:t>
            </a:r>
            <a:r>
              <a:rPr lang="en-US" b="1" dirty="0">
                <a:solidFill>
                  <a:schemeClr val="accent1"/>
                </a:solidFill>
                <a:latin typeface="Bernino Sans" pitchFamily="2" charset="77"/>
              </a:rPr>
              <a:t>#labels · #edges · 1/</a:t>
            </a:r>
            <a:r>
              <a:rPr lang="en-US" b="1" i="1" dirty="0">
                <a:solidFill>
                  <a:schemeClr val="accent1"/>
                </a:solidFill>
                <a:latin typeface="Bernino Sans" pitchFamily="2" charset="77"/>
              </a:rPr>
              <a:t>x</a:t>
            </a:r>
          </a:p>
          <a:p>
            <a:r>
              <a:rPr lang="en-US" dirty="0"/>
              <a:t>P[</a:t>
            </a:r>
            <a:r>
              <a:rPr lang="en-US" i="1" dirty="0"/>
              <a:t>A</a:t>
            </a:r>
            <a:r>
              <a:rPr lang="en-US" baseline="-25000" dirty="0"/>
              <a:t>1</a:t>
            </a:r>
            <a:r>
              <a:rPr lang="en-US" dirty="0"/>
              <a:t> fails] &lt; </a:t>
            </a:r>
            <a:r>
              <a:rPr lang="en-US" b="1" dirty="0">
                <a:solidFill>
                  <a:schemeClr val="accent2"/>
                </a:solidFill>
                <a:latin typeface="Bernino Sans" pitchFamily="2" charset="77"/>
              </a:rPr>
              <a:t>constant · 1/</a:t>
            </a:r>
            <a:r>
              <a:rPr lang="en-US" b="1" i="1" dirty="0">
                <a:solidFill>
                  <a:schemeClr val="accent2"/>
                </a:solidFill>
                <a:latin typeface="Bernino Sans" pitchFamily="2" charset="77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2628880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D7CA2-FAA8-D843-9D23-51A1A9572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works very often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4C4A1-3756-124A-B412-0ACB99E35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round elimination in deterministic PN model</a:t>
            </a:r>
          </a:p>
          <a:p>
            <a:pPr lvl="1"/>
            <a:r>
              <a:rPr lang="en-US" dirty="0"/>
              <a:t>gain intuition on how the problem behaves</a:t>
            </a:r>
          </a:p>
          <a:p>
            <a:r>
              <a:rPr lang="en-US" dirty="0"/>
              <a:t>Then switch to randomized PN model</a:t>
            </a:r>
          </a:p>
          <a:p>
            <a:pPr lvl="1"/>
            <a:r>
              <a:rPr lang="en-US" dirty="0"/>
              <a:t>proper analysis of failure probabilities</a:t>
            </a:r>
          </a:p>
          <a:p>
            <a:r>
              <a:rPr lang="en-US" dirty="0"/>
              <a:t>Results for deterministic &amp; randomized LOCAL</a:t>
            </a:r>
            <a:br>
              <a:rPr lang="en-US" dirty="0"/>
            </a:br>
            <a:r>
              <a:rPr lang="en-US" dirty="0"/>
              <a:t>follow directly</a:t>
            </a:r>
          </a:p>
        </p:txBody>
      </p:sp>
    </p:spTree>
    <p:extLst>
      <p:ext uri="{BB962C8B-B14F-4D97-AF65-F5344CB8AC3E}">
        <p14:creationId xmlns:p14="http://schemas.microsoft.com/office/powerpoint/2010/main" val="25258841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E3FCB-0FA4-2645-BE89-E2C121423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Sinkless orientation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862A3-6F35-4A47-AE37-487C703BA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Bernino Sans" pitchFamily="2" charset="77"/>
              </a:rPr>
              <a:t>Deterministic PN:</a:t>
            </a:r>
          </a:p>
          <a:p>
            <a:pPr lvl="1"/>
            <a:r>
              <a:rPr lang="en-US" dirty="0"/>
              <a:t>not possible in </a:t>
            </a:r>
            <a:r>
              <a:rPr lang="en-US" i="1" dirty="0"/>
              <a:t>o</a:t>
            </a:r>
            <a:r>
              <a:rPr lang="en-US" dirty="0"/>
              <a:t>(log </a:t>
            </a:r>
            <a:r>
              <a:rPr lang="en-US" i="1" dirty="0"/>
              <a:t>n</a:t>
            </a:r>
            <a:r>
              <a:rPr lang="en-US" dirty="0"/>
              <a:t>) rounds  </a:t>
            </a:r>
            <a:r>
              <a:rPr lang="en-US" dirty="0">
                <a:solidFill>
                  <a:schemeClr val="accent1"/>
                </a:solidFill>
              </a:rPr>
              <a:t>(last week)</a:t>
            </a:r>
          </a:p>
          <a:p>
            <a:pPr lvl="1"/>
            <a:r>
              <a:rPr lang="en-US" dirty="0"/>
              <a:t>possible in </a:t>
            </a:r>
            <a:r>
              <a:rPr lang="en-US" i="1" dirty="0"/>
              <a:t>O</a:t>
            </a:r>
            <a:r>
              <a:rPr lang="en-US" dirty="0"/>
              <a:t>(log </a:t>
            </a:r>
            <a:r>
              <a:rPr lang="en-US" i="1" dirty="0"/>
              <a:t>n</a:t>
            </a:r>
            <a:r>
              <a:rPr lang="en-US" dirty="0"/>
              <a:t>) rounds  </a:t>
            </a:r>
            <a:r>
              <a:rPr lang="en-US" dirty="0">
                <a:solidFill>
                  <a:schemeClr val="accent1"/>
                </a:solidFill>
              </a:rPr>
              <a:t>(last week)</a:t>
            </a:r>
          </a:p>
          <a:p>
            <a:r>
              <a:rPr lang="en-US" b="1" dirty="0">
                <a:latin typeface="Bernino Sans" pitchFamily="2" charset="77"/>
              </a:rPr>
              <a:t>Randomized PN:</a:t>
            </a:r>
          </a:p>
          <a:p>
            <a:pPr lvl="1"/>
            <a:r>
              <a:rPr lang="en-US" dirty="0"/>
              <a:t>not possible in </a:t>
            </a:r>
            <a:r>
              <a:rPr lang="en-US" i="1" dirty="0"/>
              <a:t>o</a:t>
            </a:r>
            <a:r>
              <a:rPr lang="en-US" dirty="0"/>
              <a:t>(log log </a:t>
            </a:r>
            <a:r>
              <a:rPr lang="en-US" i="1" dirty="0"/>
              <a:t>n</a:t>
            </a:r>
            <a:r>
              <a:rPr lang="en-US" dirty="0"/>
              <a:t>) rounds  </a:t>
            </a:r>
            <a:r>
              <a:rPr lang="en-US" dirty="0">
                <a:solidFill>
                  <a:schemeClr val="accent1"/>
                </a:solidFill>
              </a:rPr>
              <a:t>(exercise)</a:t>
            </a:r>
          </a:p>
          <a:p>
            <a:pPr lvl="1"/>
            <a:r>
              <a:rPr lang="en-US" dirty="0"/>
              <a:t>possible in </a:t>
            </a:r>
            <a:r>
              <a:rPr lang="en-US" i="1" dirty="0"/>
              <a:t>O</a:t>
            </a:r>
            <a:r>
              <a:rPr lang="en-US" dirty="0"/>
              <a:t>(log log </a:t>
            </a:r>
            <a:r>
              <a:rPr lang="en-US" i="1" dirty="0"/>
              <a:t>n</a:t>
            </a:r>
            <a:r>
              <a:rPr lang="en-US" dirty="0"/>
              <a:t>) rounds  </a:t>
            </a:r>
            <a:r>
              <a:rPr lang="en-US" dirty="0">
                <a:solidFill>
                  <a:schemeClr val="accent1"/>
                </a:solidFill>
              </a:rPr>
              <a:t>(not easy)</a:t>
            </a:r>
          </a:p>
          <a:p>
            <a:r>
              <a:rPr lang="en-US" b="1" dirty="0">
                <a:latin typeface="Bernino Sans" pitchFamily="2" charset="77"/>
              </a:rPr>
              <a:t>Deterministic LOCAL?</a:t>
            </a:r>
          </a:p>
        </p:txBody>
      </p:sp>
    </p:spTree>
    <p:extLst>
      <p:ext uri="{BB962C8B-B14F-4D97-AF65-F5344CB8AC3E}">
        <p14:creationId xmlns:p14="http://schemas.microsoft.com/office/powerpoint/2010/main" val="128240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00000"/>
      </a:dk1>
      <a:lt1>
        <a:srgbClr val="FFFFFF"/>
      </a:lt1>
      <a:dk2>
        <a:srgbClr val="505050"/>
      </a:dk2>
      <a:lt2>
        <a:srgbClr val="DFDFDF"/>
      </a:lt2>
      <a:accent1>
        <a:srgbClr val="0087CC"/>
      </a:accent1>
      <a:accent2>
        <a:srgbClr val="F16924"/>
      </a:accent2>
      <a:accent3>
        <a:srgbClr val="909090"/>
      </a:accent3>
      <a:accent4>
        <a:srgbClr val="0087CC"/>
      </a:accent4>
      <a:accent5>
        <a:srgbClr val="F16924"/>
      </a:accent5>
      <a:accent6>
        <a:srgbClr val="909090"/>
      </a:accent6>
      <a:hlink>
        <a:srgbClr val="000000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spcBef>
            <a:spcPts val="2000"/>
          </a:spcBef>
          <a:defRPr sz="3200" b="1" dirty="0" smtClean="0">
            <a:latin typeface="Bernino Sans Semibold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sz="3600" dirty="0" smtClean="0">
            <a:latin typeface="Bernino Sans Light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2501</TotalTime>
  <Words>945</Words>
  <Application>Microsoft Macintosh PowerPoint</Application>
  <PresentationFormat>Widescreen</PresentationFormat>
  <Paragraphs>178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Andale Mono</vt:lpstr>
      <vt:lpstr>Arial</vt:lpstr>
      <vt:lpstr>Bernina Sans Condensed Lt</vt:lpstr>
      <vt:lpstr>Bernina Sans Extrabold</vt:lpstr>
      <vt:lpstr>Bernina Sans Light</vt:lpstr>
      <vt:lpstr>Bernina Sans Narrow Exbold</vt:lpstr>
      <vt:lpstr>Bernino Sans</vt:lpstr>
      <vt:lpstr>Bernino Sans Light</vt:lpstr>
      <vt:lpstr>Bernino Sans Semibold</vt:lpstr>
      <vt:lpstr>Calibri</vt:lpstr>
      <vt:lpstr>Office Theme</vt:lpstr>
      <vt:lpstr>Distributed Algorithms</vt:lpstr>
      <vt:lpstr>This week’s goals</vt:lpstr>
      <vt:lpstr>Challenge &amp; workaround</vt:lpstr>
      <vt:lpstr>PowerPoint Presentation</vt:lpstr>
      <vt:lpstr>Randomized round elimination</vt:lpstr>
      <vt:lpstr>Randomized round elimination</vt:lpstr>
      <vt:lpstr>PowerPoint Presentation</vt:lpstr>
      <vt:lpstr>PowerPoint Presentation</vt:lpstr>
      <vt:lpstr>PowerPoint Presentation</vt:lpstr>
      <vt:lpstr>PowerPoint Presentation</vt:lpstr>
      <vt:lpstr>Randomized round elimination</vt:lpstr>
      <vt:lpstr>Randomized round elimination in cycles</vt:lpstr>
      <vt:lpstr>Intuition</vt:lpstr>
      <vt:lpstr>New active nodes</vt:lpstr>
      <vt:lpstr>Lucky neighborhoods</vt:lpstr>
      <vt:lpstr>New passive nodes</vt:lpstr>
      <vt:lpstr>Summary</vt:lpstr>
      <vt:lpstr>What works very often</vt:lpstr>
      <vt:lpstr>Sinkless orientation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Algorithms</dc:title>
  <dc:creator>Jukka Suomela</dc:creator>
  <cp:lastModifiedBy>Suomela Jukka</cp:lastModifiedBy>
  <cp:revision>158</cp:revision>
  <dcterms:created xsi:type="dcterms:W3CDTF">2020-08-20T21:40:58Z</dcterms:created>
  <dcterms:modified xsi:type="dcterms:W3CDTF">2025-11-16T19:21:18Z</dcterms:modified>
</cp:coreProperties>
</file>