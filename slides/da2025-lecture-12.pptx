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8" r:id="rId2"/>
    <p:sldId id="688" r:id="rId3"/>
    <p:sldId id="690" r:id="rId4"/>
    <p:sldId id="691" r:id="rId5"/>
    <p:sldId id="692" r:id="rId6"/>
    <p:sldId id="693" r:id="rId7"/>
    <p:sldId id="694" r:id="rId8"/>
    <p:sldId id="696" r:id="rId9"/>
    <p:sldId id="695" r:id="rId10"/>
    <p:sldId id="697" r:id="rId11"/>
    <p:sldId id="698" r:id="rId12"/>
    <p:sldId id="699" r:id="rId13"/>
    <p:sldId id="705" r:id="rId14"/>
    <p:sldId id="700" r:id="rId15"/>
    <p:sldId id="701" r:id="rId16"/>
    <p:sldId id="702" r:id="rId17"/>
    <p:sldId id="704" r:id="rId18"/>
    <p:sldId id="703" r:id="rId19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kka Suomela" initials="JS" lastIdx="1" clrIdx="0">
    <p:extLst>
      <p:ext uri="{19B8F6BF-5375-455C-9EA6-DF929625EA0E}">
        <p15:presenceInfo xmlns:p15="http://schemas.microsoft.com/office/powerpoint/2012/main" userId="Jukka Suome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A2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96"/>
    <p:restoredTop sz="94726"/>
  </p:normalViewPr>
  <p:slideViewPr>
    <p:cSldViewPr snapToGrid="0" snapToObjects="1" showGuides="1">
      <p:cViewPr varScale="1">
        <p:scale>
          <a:sx n="116" d="100"/>
          <a:sy n="116" d="100"/>
        </p:scale>
        <p:origin x="41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3" d="100"/>
          <a:sy n="113" d="100"/>
        </p:scale>
        <p:origin x="3968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484328-04A3-7843-965F-F9FCF8FB55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24FBE8-8971-8346-9236-9DF4B52C88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FFC9C-04E4-E646-9E5F-B16BB383ECF2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0D8F2-9A47-854C-B63E-66FE5E7DBE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89FF2-CE78-2843-889A-B6E27294CA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AB006-7503-7746-988C-9209368E9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3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95A92-54D0-5E4B-A08D-97789E42C8EA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02235-233E-0844-BB48-1C5592EE2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85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02235-233E-0844-BB48-1C5592EE2C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2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02235-233E-0844-BB48-1C5592EE2C0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692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02235-233E-0844-BB48-1C5592EE2C0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09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6FA4-843D-924B-BC97-88ED56BB6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E24BB-AF11-0C42-B367-84AB17691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E63C8-1A0A-DE4B-8F9D-9859F3A9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B12D2-1B95-8845-9B08-DBFCB474E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0950C-5C76-3C4B-B34E-19DEE54D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93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AEBD-0551-A547-B83E-C271624A3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D3C9-17CB-FD4E-8809-8DE14CCDA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58015-51BF-EF4F-9739-37FEE6B9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34205-BE2D-254D-BEC9-0BB1024B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3557-84C1-D54E-9119-182795A9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6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E013-0F63-B64E-BAC0-D9E906CD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02631"/>
            <a:ext cx="10515600" cy="2852737"/>
          </a:xfrm>
        </p:spPr>
        <p:txBody>
          <a:bodyPr anchor="ctr"/>
          <a:lstStyle>
            <a:lvl1pPr>
              <a:lnSpc>
                <a:spcPct val="85000"/>
              </a:lnSpc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EDF2B-59A1-414D-967A-87DA44DF8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7891C-D434-294F-9585-19B4B6FB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87E74-5591-F741-8FBD-43022C8A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5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908FD-40AF-EC46-94AB-D35B7411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675C4-FEE5-704A-B42A-B9D3C77FA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17F22-768A-6F47-A69C-E46B7787A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D7C00-45A4-3A4B-95EB-16382EA46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86AED-7632-4945-8CCA-711A9311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51905-D94F-684E-BD6E-A62226F9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62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F886B-6FB5-D446-9682-9800E1C1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90D4D-52E7-4943-B1C2-33770A0D4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E51B8-0734-144F-B0BD-21BD9E671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642CC6-9117-694C-A77F-64C82B08D6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4061DB-9603-6E41-8E20-747F5E9797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B07FAE-8FD2-1B49-B848-E20F1548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BFB7DD-34B1-C343-A725-682248A89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74AF8-6765-114D-809E-4E4A19743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5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813F-AF15-0D44-B62B-21240A8B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32E685-C3DC-7342-B982-AF73BF3AC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BAA55-CF23-2C46-BF4B-A80568831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7FE7D-DFAF-334E-9095-F7D2E31B4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8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93BE0D-A561-8A44-BBDE-398A93EE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43393-A1AC-C541-A7EE-DE419C52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CBEA7-493B-214B-9C64-C44F952E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02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A2D2-9E6D-A44D-A19D-AAC0C2DB1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7D7CF-FEA7-F64D-BE64-A3952C65B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DA71-C1BE-6648-A8DF-DC1C32EDA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1E058-7FF2-A547-9ACC-916552EB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17FD9-7736-FC4C-A5F4-B8C017E8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7D751-3A0C-F743-91EB-0D5EBA1D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7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94F0-EF06-4D4A-BF13-B005FD5E9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0C43B-4BA0-2347-B3BE-1E159DFA3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4E973-8FC1-4949-A39B-2838C09A8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28C1E-1A01-5E47-843E-3B6223F6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39263-0F9C-D443-B847-BD4C53BF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E83DC-F401-7D4A-996D-758306F4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72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5ECCE-D672-3D4B-8505-496041AA2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C72F6-16C6-5849-A55A-EF4D7C301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8BA9E-C487-4C48-B2A8-760D44C4D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23C19-97D6-6240-BA38-1A21ABF7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18CE7-C6BB-9742-B7F9-BFD1E9B9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99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BD6FB6-BBED-F64A-85B4-4E6C472D2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249AD-E103-6D43-8D06-32D11CB4E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4F2A8-78E4-F64A-8D10-4B2F78BA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FF3E4-E77C-1343-B071-CE67723D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5222F-7958-AE47-944B-C4C16B12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10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D3C9-17CB-FD4E-8809-8DE14CCDA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58015-51BF-EF4F-9739-37FEE6B9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34205-BE2D-254D-BEC9-0BB1024B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3557-84C1-D54E-9119-182795A9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952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90587A-C8DA-1C4E-BF76-5740F2C6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D8E66-CCE9-144A-BE3F-270183262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D3984-C873-FD42-A795-14EDD39255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074E6-BC95-7A40-8145-5D6390B81855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7FBFB-30EE-2448-94F7-D2F71C1C9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98439-4275-6143-B3C3-B34081AAA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43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i="0" kern="1200">
          <a:solidFill>
            <a:schemeClr val="accent1"/>
          </a:solidFill>
          <a:latin typeface="Bernina Sans Extrabold" pitchFamily="2" charset="77"/>
          <a:ea typeface="Roboto Black" panose="02000000000000000000" pitchFamily="2" charset="0"/>
          <a:cs typeface="Roboto Condensed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EF3B-F00A-D246-8261-43306475C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1" y="134003"/>
            <a:ext cx="7824952" cy="3184634"/>
          </a:xfrm>
        </p:spPr>
        <p:txBody>
          <a:bodyPr wrap="none"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10300" dirty="0">
                <a:latin typeface="Bernina Sans Narrow Exbold" pitchFamily="2" charset="77"/>
              </a:rPr>
              <a:t>Distributed</a:t>
            </a:r>
            <a:br>
              <a:rPr lang="en-US" sz="10000" dirty="0">
                <a:latin typeface="Bernina Sans Narrow Exbold" pitchFamily="2" charset="77"/>
              </a:rPr>
            </a:br>
            <a:r>
              <a:rPr lang="en-US" sz="10700" dirty="0">
                <a:latin typeface="Bernina Sans Narrow Exbold" pitchFamily="2" charset="77"/>
              </a:rPr>
              <a:t>Algorithms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7823746-A1C8-D348-B17D-7808ABDD6C0B}"/>
              </a:ext>
            </a:extLst>
          </p:cNvPr>
          <p:cNvSpPr txBox="1">
            <a:spLocks/>
          </p:cNvSpPr>
          <p:nvPr/>
        </p:nvSpPr>
        <p:spPr>
          <a:xfrm>
            <a:off x="557048" y="4233039"/>
            <a:ext cx="1196801" cy="235694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900" b="1" dirty="0">
                <a:solidFill>
                  <a:schemeClr val="bg2">
                    <a:lumMod val="90000"/>
                  </a:schemeClr>
                </a:solidFill>
                <a:latin typeface="Bernina Sans Narrow Exbold" pitchFamily="2" charset="77"/>
              </a:rPr>
              <a:t>12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704C214C-540C-C148-AE23-4DF697E105B9}"/>
              </a:ext>
            </a:extLst>
          </p:cNvPr>
          <p:cNvSpPr txBox="1">
            <a:spLocks/>
          </p:cNvSpPr>
          <p:nvPr/>
        </p:nvSpPr>
        <p:spPr>
          <a:xfrm>
            <a:off x="2906485" y="4197466"/>
            <a:ext cx="8752375" cy="2270242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dirty="0">
                <a:latin typeface="Bernina Sans Condensed Lt" pitchFamily="2" charset="77"/>
              </a:rPr>
              <a:t>Conclusions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E2FBA02-6A99-A54A-A233-8C34F2BAD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024" y="23643"/>
            <a:ext cx="2289632" cy="21047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4D74C50-2ED8-51F2-E7B9-CEE331F51ED0}"/>
              </a:ext>
            </a:extLst>
          </p:cNvPr>
          <p:cNvSpPr txBox="1">
            <a:spLocks/>
          </p:cNvSpPr>
          <p:nvPr/>
        </p:nvSpPr>
        <p:spPr>
          <a:xfrm>
            <a:off x="8517692" y="3045454"/>
            <a:ext cx="2772793" cy="12900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700" b="1" dirty="0">
                <a:solidFill>
                  <a:schemeClr val="accent1"/>
                </a:solidFill>
                <a:latin typeface="Bernina Sans Narrow Exbold" pitchFamily="2" charset="77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66576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9F137E-DA15-5A45-AA0B-FD4B32B5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spcBef>
                <a:spcPts val="8000"/>
              </a:spcBef>
              <a:buNone/>
            </a:pPr>
            <a:r>
              <a:rPr lang="en-US" sz="8800" dirty="0">
                <a:latin typeface="Bernina Sans Light" pitchFamily="2" charset="77"/>
              </a:rPr>
              <a:t>Recap:</a:t>
            </a:r>
            <a:br>
              <a:rPr lang="en-US" sz="8800" dirty="0">
                <a:latin typeface="Bernina Sans Light" pitchFamily="2" charset="77"/>
              </a:rPr>
            </a:br>
            <a:r>
              <a:rPr lang="en-US" sz="8800" b="1" dirty="0">
                <a:solidFill>
                  <a:schemeClr val="accent1"/>
                </a:solidFill>
                <a:latin typeface="Bernina Sans Extrabold" pitchFamily="2" charset="77"/>
              </a:rPr>
              <a:t>Key ideas from previous weeks</a:t>
            </a:r>
            <a:endParaRPr lang="en-US" sz="8800" b="1" dirty="0">
              <a:solidFill>
                <a:schemeClr val="bg1"/>
              </a:solidFill>
              <a:latin typeface="Bernina Sans Extra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74781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DCB0C3-3790-7143-86EE-723128F46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of computing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6C361-8A2C-EA4E-8955-F3B8F7F14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PN</a:t>
            </a:r>
          </a:p>
          <a:p>
            <a:r>
              <a:rPr lang="en-US" b="1" dirty="0">
                <a:latin typeface="Bernino Sans" pitchFamily="2" charset="77"/>
              </a:rPr>
              <a:t>LOCAL</a:t>
            </a:r>
            <a:r>
              <a:rPr lang="en-US" dirty="0"/>
              <a:t> — unique identifiers</a:t>
            </a:r>
          </a:p>
          <a:p>
            <a:r>
              <a:rPr lang="en-US" b="1" dirty="0">
                <a:latin typeface="Bernino Sans" pitchFamily="2" charset="77"/>
              </a:rPr>
              <a:t>CONGEST</a:t>
            </a:r>
            <a:r>
              <a:rPr lang="en-US" dirty="0"/>
              <a:t> — bandwidth constraints</a:t>
            </a:r>
          </a:p>
          <a:p>
            <a:r>
              <a:rPr lang="en-US" dirty="0"/>
              <a:t>Deterministic and </a:t>
            </a:r>
            <a:r>
              <a:rPr lang="en-US" b="1" dirty="0">
                <a:latin typeface="Bernino Sans" pitchFamily="2" charset="77"/>
              </a:rPr>
              <a:t>randomized</a:t>
            </a:r>
            <a:r>
              <a:rPr lang="en-US" dirty="0"/>
              <a:t> algorithms</a:t>
            </a:r>
          </a:p>
        </p:txBody>
      </p:sp>
    </p:spTree>
    <p:extLst>
      <p:ext uri="{BB962C8B-B14F-4D97-AF65-F5344CB8AC3E}">
        <p14:creationId xmlns:p14="http://schemas.microsoft.com/office/powerpoint/2010/main" val="2779887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A6373-A48E-394F-94F1-7F95D0821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759BB-352D-2A4B-A237-E85BA46E0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Vertex coloring</a:t>
            </a:r>
          </a:p>
          <a:p>
            <a:pPr lvl="1"/>
            <a:r>
              <a:rPr lang="en-US" dirty="0"/>
              <a:t>coloring = schedule</a:t>
            </a:r>
          </a:p>
          <a:p>
            <a:pPr lvl="1"/>
            <a:r>
              <a:rPr lang="en-US" dirty="0"/>
              <a:t>coloring breaks symmetry</a:t>
            </a:r>
          </a:p>
          <a:p>
            <a:r>
              <a:rPr lang="en-US" dirty="0"/>
              <a:t>Used to solve many other problems</a:t>
            </a:r>
          </a:p>
          <a:p>
            <a:r>
              <a:rPr lang="en-US" dirty="0"/>
              <a:t>Used to show that other problems are hard</a:t>
            </a:r>
          </a:p>
          <a:p>
            <a:r>
              <a:rPr lang="en-US" dirty="0"/>
              <a:t>Demonstrates different algorithm design ideas and lower-bound techniques</a:t>
            </a:r>
          </a:p>
        </p:txBody>
      </p:sp>
    </p:spTree>
    <p:extLst>
      <p:ext uri="{BB962C8B-B14F-4D97-AF65-F5344CB8AC3E}">
        <p14:creationId xmlns:p14="http://schemas.microsoft.com/office/powerpoint/2010/main" val="3946716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7CA3F-FF41-4848-B88F-811D849E0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8B07D-4184-F842-B043-F30E7A9B0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Conflict avoidance &amp; coordination</a:t>
            </a:r>
          </a:p>
          <a:p>
            <a:r>
              <a:rPr lang="en-US" dirty="0"/>
              <a:t>Process nodes by color classes</a:t>
            </a:r>
          </a:p>
          <a:p>
            <a:r>
              <a:rPr lang="en-US" dirty="0"/>
              <a:t>Send proposals one by one</a:t>
            </a:r>
          </a:p>
          <a:p>
            <a:r>
              <a:rPr lang="en-US" dirty="0"/>
              <a:t>Random subset of nodes is active</a:t>
            </a:r>
          </a:p>
          <a:p>
            <a:r>
              <a:rPr lang="en-US" dirty="0"/>
              <a:t>Pipelining</a:t>
            </a:r>
          </a:p>
          <a:p>
            <a:r>
              <a:rPr lang="en-US" dirty="0"/>
              <a:t>Algebraic techniques</a:t>
            </a:r>
          </a:p>
        </p:txBody>
      </p:sp>
    </p:spTree>
    <p:extLst>
      <p:ext uri="{BB962C8B-B14F-4D97-AF65-F5344CB8AC3E}">
        <p14:creationId xmlns:p14="http://schemas.microsoft.com/office/powerpoint/2010/main" val="3335950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0977D-9784-6B4F-967C-387B17FC5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Lower bound proofs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E9C34-31E0-8C45-8121-1A4D69EB9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Covering maps — PN model</a:t>
            </a:r>
          </a:p>
          <a:p>
            <a:r>
              <a:rPr lang="en-US" dirty="0"/>
              <a:t>Local neighborhoods — any model</a:t>
            </a:r>
          </a:p>
          <a:p>
            <a:r>
              <a:rPr lang="en-US" dirty="0"/>
              <a:t>Round elimination</a:t>
            </a:r>
          </a:p>
          <a:p>
            <a:r>
              <a:rPr lang="en-US" dirty="0"/>
              <a:t>Simulation arguments</a:t>
            </a:r>
          </a:p>
          <a:p>
            <a:r>
              <a:rPr lang="en-US" b="1" dirty="0">
                <a:latin typeface="Bernino Sans" pitchFamily="2" charset="77"/>
              </a:rPr>
              <a:t>Reductions</a:t>
            </a:r>
          </a:p>
        </p:txBody>
      </p:sp>
    </p:spTree>
    <p:extLst>
      <p:ext uri="{BB962C8B-B14F-4D97-AF65-F5344CB8AC3E}">
        <p14:creationId xmlns:p14="http://schemas.microsoft.com/office/powerpoint/2010/main" val="4055495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9F137E-DA15-5A45-AA0B-FD4B32B5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spcBef>
                <a:spcPts val="8000"/>
              </a:spcBef>
              <a:buNone/>
            </a:pPr>
            <a:r>
              <a:rPr lang="en-US" sz="8800" b="1" dirty="0">
                <a:solidFill>
                  <a:schemeClr val="accent1"/>
                </a:solidFill>
                <a:latin typeface="Bernina Sans Extrabold" pitchFamily="2" charset="77"/>
              </a:rPr>
              <a:t>Key lessons</a:t>
            </a:r>
            <a:br>
              <a:rPr lang="en-US" sz="8800" b="1" dirty="0">
                <a:solidFill>
                  <a:schemeClr val="accent1"/>
                </a:solidFill>
                <a:latin typeface="Bernina Sans Extrabold" pitchFamily="2" charset="77"/>
              </a:rPr>
            </a:br>
            <a:r>
              <a:rPr lang="en-US" sz="8800" b="1" dirty="0">
                <a:solidFill>
                  <a:schemeClr val="accent1"/>
                </a:solidFill>
                <a:latin typeface="Bernina Sans Extrabold" pitchFamily="2" charset="77"/>
              </a:rPr>
              <a:t>learned</a:t>
            </a:r>
            <a:endParaRPr lang="en-US" sz="8800" b="1" dirty="0">
              <a:solidFill>
                <a:schemeClr val="bg1"/>
              </a:solidFill>
              <a:latin typeface="Bernina Sans Extra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36010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2C8E04-A197-BD45-B476-5CB4CB2F6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kinds of challenges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1D3BE1-2EF3-9C4D-8A1C-57E9FCC90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Unknown systems</a:t>
            </a:r>
          </a:p>
          <a:p>
            <a:pPr lvl="1"/>
            <a:r>
              <a:rPr lang="en-US" dirty="0"/>
              <a:t>algorithms that work in any network</a:t>
            </a:r>
          </a:p>
          <a:p>
            <a:r>
              <a:rPr lang="en-US" b="1" dirty="0">
                <a:latin typeface="Bernino Sans" pitchFamily="2" charset="77"/>
              </a:rPr>
              <a:t>Partial information</a:t>
            </a:r>
          </a:p>
          <a:p>
            <a:pPr lvl="1"/>
            <a:r>
              <a:rPr lang="en-US" dirty="0"/>
              <a:t>making decisions based on local information</a:t>
            </a:r>
          </a:p>
          <a:p>
            <a:r>
              <a:rPr lang="en-US" b="1" dirty="0">
                <a:latin typeface="Bernino Sans" pitchFamily="2" charset="77"/>
              </a:rPr>
              <a:t>Parallelism</a:t>
            </a:r>
          </a:p>
          <a:p>
            <a:pPr lvl="1"/>
            <a:r>
              <a:rPr lang="en-US" dirty="0"/>
              <a:t>many nodes act simultaneously</a:t>
            </a:r>
          </a:p>
        </p:txBody>
      </p:sp>
    </p:spTree>
    <p:extLst>
      <p:ext uri="{BB962C8B-B14F-4D97-AF65-F5344CB8AC3E}">
        <p14:creationId xmlns:p14="http://schemas.microsoft.com/office/powerpoint/2010/main" val="574092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9F137E-DA15-5A45-AA0B-FD4B32B5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spcBef>
                <a:spcPts val="8000"/>
              </a:spcBef>
              <a:buNone/>
            </a:pPr>
            <a:r>
              <a:rPr lang="en-US" sz="8800" b="1" dirty="0">
                <a:solidFill>
                  <a:schemeClr val="accent1"/>
                </a:solidFill>
                <a:latin typeface="Bernina Sans Extrabold" pitchFamily="2" charset="77"/>
              </a:rPr>
              <a:t>What else</a:t>
            </a:r>
            <a:br>
              <a:rPr lang="en-US" sz="8800" b="1" dirty="0">
                <a:solidFill>
                  <a:schemeClr val="accent1"/>
                </a:solidFill>
                <a:latin typeface="Bernina Sans Extrabold" pitchFamily="2" charset="77"/>
              </a:rPr>
            </a:br>
            <a:r>
              <a:rPr lang="en-US" sz="8800" b="1" dirty="0">
                <a:solidFill>
                  <a:schemeClr val="accent1"/>
                </a:solidFill>
                <a:latin typeface="Bernina Sans Extrabold" pitchFamily="2" charset="77"/>
              </a:rPr>
              <a:t>is there?</a:t>
            </a:r>
            <a:endParaRPr lang="en-US" sz="8800" b="1" dirty="0">
              <a:solidFill>
                <a:schemeClr val="bg1"/>
              </a:solidFill>
              <a:latin typeface="Bernina Sans Extra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02720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2C8E04-A197-BD45-B476-5CB4CB2F6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 vs. big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1D3BE1-2EF3-9C4D-8A1C-57E9FCC90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Models for computer networks</a:t>
            </a:r>
          </a:p>
          <a:p>
            <a:pPr lvl="1"/>
            <a:r>
              <a:rPr lang="en-US" dirty="0"/>
              <a:t>PN, LOCAL, CONGEST</a:t>
            </a:r>
          </a:p>
          <a:p>
            <a:r>
              <a:rPr lang="en-US" b="1" dirty="0">
                <a:latin typeface="Bernino Sans" pitchFamily="2" charset="77"/>
              </a:rPr>
              <a:t>Models for big data systems</a:t>
            </a:r>
          </a:p>
          <a:p>
            <a:pPr lvl="1"/>
            <a:r>
              <a:rPr lang="en-US" dirty="0"/>
              <a:t>congested clique</a:t>
            </a:r>
          </a:p>
          <a:p>
            <a:pPr lvl="1"/>
            <a:r>
              <a:rPr lang="en-US" dirty="0"/>
              <a:t>BSP (bulk-synchronous parallel)</a:t>
            </a:r>
          </a:p>
          <a:p>
            <a:pPr lvl="1"/>
            <a:r>
              <a:rPr lang="en-US" dirty="0"/>
              <a:t>MPC (massively parallel computation)</a:t>
            </a:r>
          </a:p>
          <a:p>
            <a:pPr lvl="1"/>
            <a:r>
              <a:rPr lang="en-US" i="1" dirty="0"/>
              <a:t>k</a:t>
            </a:r>
            <a:r>
              <a:rPr lang="en-US" dirty="0"/>
              <a:t>-machine model</a:t>
            </a:r>
          </a:p>
        </p:txBody>
      </p:sp>
    </p:spTree>
    <p:extLst>
      <p:ext uri="{BB962C8B-B14F-4D97-AF65-F5344CB8AC3E}">
        <p14:creationId xmlns:p14="http://schemas.microsoft.com/office/powerpoint/2010/main" val="4177765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C9CA0-9407-E54C-AEAC-5A793D46D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Asynchrony &amp; failures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767C4-494B-D544-A36D-A91FD58F1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Asynchronous networks</a:t>
            </a:r>
          </a:p>
          <a:p>
            <a:pPr lvl="1"/>
            <a:r>
              <a:rPr lang="en-US" dirty="0"/>
              <a:t>no failures → can use synchronizers</a:t>
            </a:r>
          </a:p>
          <a:p>
            <a:r>
              <a:rPr lang="en-US" b="1" dirty="0">
                <a:latin typeface="Bernino Sans" pitchFamily="2" charset="77"/>
              </a:rPr>
              <a:t>Tolerating failures</a:t>
            </a:r>
          </a:p>
          <a:p>
            <a:pPr lvl="1"/>
            <a:r>
              <a:rPr lang="en-US" dirty="0"/>
              <a:t>crash faults, Byzantine faults …</a:t>
            </a:r>
          </a:p>
          <a:p>
            <a:r>
              <a:rPr lang="en-US" b="1" dirty="0">
                <a:latin typeface="Bernino Sans" pitchFamily="2" charset="77"/>
              </a:rPr>
              <a:t>Recovery from failures</a:t>
            </a:r>
          </a:p>
          <a:p>
            <a:pPr lvl="1"/>
            <a:r>
              <a:rPr lang="en-US" dirty="0"/>
              <a:t>self-stabilization</a:t>
            </a:r>
          </a:p>
        </p:txBody>
      </p:sp>
    </p:spTree>
    <p:extLst>
      <p:ext uri="{BB962C8B-B14F-4D97-AF65-F5344CB8AC3E}">
        <p14:creationId xmlns:p14="http://schemas.microsoft.com/office/powerpoint/2010/main" val="2677516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4F235-32CA-2F4D-915D-F0BD05847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a lot more…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701EF-4EA3-B942-80D3-5277C7D1D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b="1" dirty="0">
                <a:latin typeface="Bernino Sans" pitchFamily="2" charset="77"/>
              </a:rPr>
              <a:t>Different kinds of models</a:t>
            </a:r>
          </a:p>
          <a:p>
            <a:pPr lvl="1"/>
            <a:r>
              <a:rPr lang="en-US" dirty="0"/>
              <a:t>shared memory — message passing </a:t>
            </a:r>
          </a:p>
          <a:p>
            <a:pPr lvl="1"/>
            <a:r>
              <a:rPr lang="en-US" dirty="0"/>
              <a:t>physical models (e.g. radio networks,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quantum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mobile agents (e.g. robot navigation, exploration)</a:t>
            </a:r>
          </a:p>
          <a:p>
            <a:pPr lvl="1"/>
            <a:r>
              <a:rPr lang="en-US" dirty="0"/>
              <a:t>security and privacy</a:t>
            </a:r>
          </a:p>
          <a:p>
            <a:r>
              <a:rPr lang="en-US" b="1" dirty="0">
                <a:latin typeface="Bernino Sans" pitchFamily="2" charset="77"/>
              </a:rPr>
              <a:t>Different kinds of questions</a:t>
            </a:r>
          </a:p>
          <a:p>
            <a:pPr lvl="1"/>
            <a:r>
              <a:rPr lang="en-US" dirty="0"/>
              <a:t>solving — proving — verifying — fixing</a:t>
            </a:r>
          </a:p>
          <a:p>
            <a:pPr lvl="1"/>
            <a:r>
              <a:rPr lang="en-US" dirty="0"/>
              <a:t>#rounds — #messages — #bits</a:t>
            </a:r>
          </a:p>
        </p:txBody>
      </p:sp>
    </p:spTree>
    <p:extLst>
      <p:ext uri="{BB962C8B-B14F-4D97-AF65-F5344CB8AC3E}">
        <p14:creationId xmlns:p14="http://schemas.microsoft.com/office/powerpoint/2010/main" val="3092838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4527C-C2F8-1857-801D-2A79DB9AB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current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B278C-32FE-7226-C682-A9398B88C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quantum-LOCAL any stronger than LOCAL?</a:t>
            </a:r>
          </a:p>
          <a:p>
            <a:r>
              <a:rPr lang="en-US" dirty="0"/>
              <a:t>Locality in different settings:</a:t>
            </a:r>
          </a:p>
          <a:p>
            <a:pPr lvl="1"/>
            <a:r>
              <a:rPr lang="en-US" dirty="0"/>
              <a:t>online algorithms</a:t>
            </a:r>
          </a:p>
          <a:p>
            <a:pPr lvl="1"/>
            <a:r>
              <a:rPr lang="en-US" dirty="0"/>
              <a:t>dynamic algorithms</a:t>
            </a:r>
          </a:p>
          <a:p>
            <a:pPr lvl="1"/>
            <a:r>
              <a:rPr lang="en-US" dirty="0"/>
              <a:t>probability distributions</a:t>
            </a:r>
          </a:p>
          <a:p>
            <a:pPr lvl="1"/>
            <a:r>
              <a:rPr lang="en-US" dirty="0"/>
              <a:t>volume vs. distance</a:t>
            </a:r>
          </a:p>
          <a:p>
            <a:r>
              <a:rPr lang="en-US" dirty="0"/>
              <a:t>Massively parallel 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061139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9F137E-DA15-5A45-AA0B-FD4B32B5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spcBef>
                <a:spcPts val="8000"/>
              </a:spcBef>
              <a:buNone/>
            </a:pPr>
            <a:r>
              <a:rPr lang="en-US" sz="8800" b="1" dirty="0">
                <a:solidFill>
                  <a:schemeClr val="accent1"/>
                </a:solidFill>
                <a:latin typeface="Bernina Sans Extrabold" pitchFamily="2" charset="77"/>
              </a:rPr>
              <a:t>What next?</a:t>
            </a:r>
            <a:endParaRPr lang="en-US" sz="8800" b="1" dirty="0">
              <a:solidFill>
                <a:schemeClr val="bg1"/>
              </a:solidFill>
              <a:latin typeface="Bernina Sans Extra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51618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46F243-CC49-814B-B95B-3A34CEC57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 this week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E46BAD-FA49-9040-919E-7858995BC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Exercises 12.1–12.4: </a:t>
            </a:r>
            <a:r>
              <a:rPr lang="en-US" dirty="0"/>
              <a:t>small research project</a:t>
            </a:r>
          </a:p>
          <a:p>
            <a:pPr lvl="1"/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what are possible distributed complexities?</a:t>
            </a:r>
          </a:p>
          <a:p>
            <a:pPr lvl="1"/>
            <a:r>
              <a:rPr lang="en-US" dirty="0"/>
              <a:t>LOCAL model</a:t>
            </a:r>
          </a:p>
          <a:p>
            <a:pPr lvl="1"/>
            <a:r>
              <a:rPr lang="en-US" dirty="0"/>
              <a:t>locally verifiable problems</a:t>
            </a:r>
          </a:p>
          <a:p>
            <a:pPr lvl="1"/>
            <a:r>
              <a:rPr lang="en-US" dirty="0"/>
              <a:t>cycles</a:t>
            </a:r>
          </a:p>
          <a:p>
            <a:r>
              <a:rPr lang="en-US" b="1" dirty="0">
                <a:latin typeface="Bernino Sans" pitchFamily="2" charset="77"/>
              </a:rPr>
              <a:t>Exercise 12.5: </a:t>
            </a:r>
            <a:r>
              <a:rPr lang="en-US" dirty="0"/>
              <a:t>an example of an open research question</a:t>
            </a:r>
          </a:p>
        </p:txBody>
      </p:sp>
    </p:spTree>
    <p:extLst>
      <p:ext uri="{BB962C8B-B14F-4D97-AF65-F5344CB8AC3E}">
        <p14:creationId xmlns:p14="http://schemas.microsoft.com/office/powerpoint/2010/main" val="759163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F7ED9-20FF-9E46-A78F-938674E6F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 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5074C-624E-8943-938C-63182571A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Setup and rules exactly like the first exam</a:t>
            </a:r>
          </a:p>
          <a:p>
            <a:r>
              <a:rPr lang="en-US" dirty="0"/>
              <a:t>Allowed: one A4-sized 2-sided </a:t>
            </a:r>
            <a:r>
              <a:rPr lang="en-US" b="1" dirty="0">
                <a:latin typeface="Bernino Sans" pitchFamily="2" charset="77"/>
              </a:rPr>
              <a:t>cheat sheet</a:t>
            </a:r>
          </a:p>
          <a:p>
            <a:pPr lvl="1"/>
            <a:r>
              <a:rPr lang="en-US" dirty="0"/>
              <a:t>no other material or equipment</a:t>
            </a:r>
          </a:p>
          <a:p>
            <a:r>
              <a:rPr lang="en-US" dirty="0"/>
              <a:t>Focus: proving impossibility results</a:t>
            </a:r>
          </a:p>
        </p:txBody>
      </p:sp>
    </p:spTree>
    <p:extLst>
      <p:ext uri="{BB962C8B-B14F-4D97-AF65-F5344CB8AC3E}">
        <p14:creationId xmlns:p14="http://schemas.microsoft.com/office/powerpoint/2010/main" val="2785603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AB242-4A41-C640-96C5-F10C7DB0A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C6212-356E-1540-80CA-6B1098D2E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1 extra point </a:t>
            </a:r>
            <a:r>
              <a:rPr lang="en-US" dirty="0"/>
              <a:t>for everyone who provides feedback in the official Aalto course feedback system (in MyCourses)</a:t>
            </a:r>
          </a:p>
        </p:txBody>
      </p:sp>
    </p:spTree>
    <p:extLst>
      <p:ext uri="{BB962C8B-B14F-4D97-AF65-F5344CB8AC3E}">
        <p14:creationId xmlns:p14="http://schemas.microsoft.com/office/powerpoint/2010/main" val="2203980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54187-C184-BB40-A3D4-6E1CBC3B0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B07E8-A545-104E-A840-BE3711839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Ask us if you are interested in doing more:</a:t>
            </a:r>
          </a:p>
          <a:p>
            <a:pPr lvl="1"/>
            <a:r>
              <a:rPr lang="en-US" dirty="0"/>
              <a:t>thesis topics</a:t>
            </a:r>
          </a:p>
          <a:p>
            <a:pPr lvl="1"/>
            <a:r>
              <a:rPr lang="en-US" dirty="0"/>
              <a:t>research projects</a:t>
            </a:r>
          </a:p>
          <a:p>
            <a:pPr lvl="1"/>
            <a:r>
              <a:rPr lang="en-US" dirty="0"/>
              <a:t>summer jobs</a:t>
            </a:r>
          </a:p>
          <a:p>
            <a:pPr lvl="1"/>
            <a:r>
              <a:rPr lang="en-US" dirty="0"/>
              <a:t>doctoral studies …</a:t>
            </a:r>
          </a:p>
        </p:txBody>
      </p:sp>
    </p:spTree>
    <p:extLst>
      <p:ext uri="{BB962C8B-B14F-4D97-AF65-F5344CB8AC3E}">
        <p14:creationId xmlns:p14="http://schemas.microsoft.com/office/powerpoint/2010/main" val="1464308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505050"/>
      </a:dk2>
      <a:lt2>
        <a:srgbClr val="DFDFDF"/>
      </a:lt2>
      <a:accent1>
        <a:srgbClr val="0087CC"/>
      </a:accent1>
      <a:accent2>
        <a:srgbClr val="F16924"/>
      </a:accent2>
      <a:accent3>
        <a:srgbClr val="909090"/>
      </a:accent3>
      <a:accent4>
        <a:srgbClr val="0087CC"/>
      </a:accent4>
      <a:accent5>
        <a:srgbClr val="F16924"/>
      </a:accent5>
      <a:accent6>
        <a:srgbClr val="909090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spcBef>
            <a:spcPts val="2000"/>
          </a:spcBef>
          <a:defRPr sz="3200" b="1" dirty="0" smtClean="0">
            <a:latin typeface="Bernino Sans Semibold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3600" dirty="0" smtClean="0">
            <a:latin typeface="Bernino Sans Ligh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2647</TotalTime>
  <Words>394</Words>
  <Application>Microsoft Macintosh PowerPoint</Application>
  <PresentationFormat>Widescreen</PresentationFormat>
  <Paragraphs>95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Bernina Sans Condensed Lt</vt:lpstr>
      <vt:lpstr>Bernina Sans Extrabold</vt:lpstr>
      <vt:lpstr>Bernina Sans Light</vt:lpstr>
      <vt:lpstr>Bernina Sans Narrow Exbold</vt:lpstr>
      <vt:lpstr>Bernino Sans</vt:lpstr>
      <vt:lpstr>Bernino Sans Light</vt:lpstr>
      <vt:lpstr>Bernino Sans Semibold</vt:lpstr>
      <vt:lpstr>Calibri</vt:lpstr>
      <vt:lpstr>Office Theme</vt:lpstr>
      <vt:lpstr>Distributed Algorithms</vt:lpstr>
      <vt:lpstr>PowerPoint Presentation</vt:lpstr>
      <vt:lpstr>Models of computing</vt:lpstr>
      <vt:lpstr>Canonical problems</vt:lpstr>
      <vt:lpstr>Algorithm ideas</vt:lpstr>
      <vt:lpstr>Lower bound proofs</vt:lpstr>
      <vt:lpstr>PowerPoint Presentation</vt:lpstr>
      <vt:lpstr>New kinds of challenges</vt:lpstr>
      <vt:lpstr>PowerPoint Presentation</vt:lpstr>
      <vt:lpstr>Networks vs. big data</vt:lpstr>
      <vt:lpstr>Asynchrony &amp; failures</vt:lpstr>
      <vt:lpstr>And a lot more…</vt:lpstr>
      <vt:lpstr>Our current research</vt:lpstr>
      <vt:lpstr>PowerPoint Presentation</vt:lpstr>
      <vt:lpstr>Exercises this week</vt:lpstr>
      <vt:lpstr>Exam next week</vt:lpstr>
      <vt:lpstr>Course feedback</vt:lpstr>
      <vt:lpstr>After this course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Algorithms</dc:title>
  <dc:creator>Jukka Suomela</dc:creator>
  <cp:lastModifiedBy>Suomela Jukka</cp:lastModifiedBy>
  <cp:revision>171</cp:revision>
  <dcterms:created xsi:type="dcterms:W3CDTF">2020-08-20T21:40:58Z</dcterms:created>
  <dcterms:modified xsi:type="dcterms:W3CDTF">2025-11-23T18:16:49Z</dcterms:modified>
</cp:coreProperties>
</file>