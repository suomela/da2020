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83" r:id="rId2"/>
    <p:sldId id="263" r:id="rId3"/>
    <p:sldId id="258" r:id="rId4"/>
    <p:sldId id="282" r:id="rId5"/>
    <p:sldId id="267" r:id="rId6"/>
    <p:sldId id="264" r:id="rId7"/>
    <p:sldId id="266" r:id="rId8"/>
    <p:sldId id="265" r:id="rId9"/>
    <p:sldId id="259" r:id="rId10"/>
    <p:sldId id="261" r:id="rId11"/>
  </p:sldIdLst>
  <p:sldSz cx="12192000" cy="6858000"/>
  <p:notesSz cx="6858000" cy="9144000"/>
  <p:defaultTextStyle>
    <a:defPPr>
      <a:defRPr lang="en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kka Suomela" initials="JS" lastIdx="1" clrIdx="0">
    <p:extLst>
      <p:ext uri="{19B8F6BF-5375-455C-9EA6-DF929625EA0E}">
        <p15:presenceInfo xmlns:p15="http://schemas.microsoft.com/office/powerpoint/2012/main" userId="Jukka Suomel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A2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6"/>
    <p:restoredTop sz="94056"/>
  </p:normalViewPr>
  <p:slideViewPr>
    <p:cSldViewPr snapToGrid="0" snapToObjects="1" showGuides="1">
      <p:cViewPr varScale="1">
        <p:scale>
          <a:sx n="161" d="100"/>
          <a:sy n="161" d="100"/>
        </p:scale>
        <p:origin x="240" y="6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13" d="100"/>
          <a:sy n="113" d="100"/>
        </p:scale>
        <p:origin x="3968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6484328-04A3-7843-965F-F9FCF8FB550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24FBE8-8971-8346-9236-9DF4B52C885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EFFC9C-04E4-E646-9E5F-B16BB383ECF2}" type="datetimeFigureOut">
              <a:rPr lang="en-US" smtClean="0"/>
              <a:t>11/2/25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20D8F2-9A47-854C-B63E-66FE5E7DBE4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B89FF2-CE78-2843-889A-B6E27294CA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8AB006-7503-7746-988C-9209368E95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832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795A92-54D0-5E4B-A08D-97789E42C8EA}" type="datetimeFigureOut">
              <a:rPr lang="en-US" smtClean="0"/>
              <a:t>11/2/25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802235-233E-0844-BB48-1C5592EE2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385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802235-233E-0844-BB48-1C5592EE2C0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327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802235-233E-0844-BB48-1C5592EE2C0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327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D6FA4-843D-924B-BC97-88ED56BB60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DE24BB-AF11-0C42-B367-84AB17691A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l">
              <a:buNone/>
              <a:defRPr sz="3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1E63C8-1A0A-DE4B-8F9D-9859F3A92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B12D2-1B95-8845-9B08-DBFCB474E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0950C-5C76-3C4B-B34E-19DEE54DF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893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1AEBD-0551-A547-B83E-C271624A3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DD3C9-17CB-FD4E-8809-8DE14CCDA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2000"/>
              </a:spcBef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58015-51BF-EF4F-9739-37FEE6B9F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34205-BE2D-254D-BEC9-0BB1024B1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F3557-84C1-D54E-9119-182795A9C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64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9E013-0F63-B64E-BAC0-D9E906CDA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002631"/>
            <a:ext cx="10515600" cy="2852737"/>
          </a:xfrm>
        </p:spPr>
        <p:txBody>
          <a:bodyPr anchor="ctr"/>
          <a:lstStyle>
            <a:lvl1pPr>
              <a:lnSpc>
                <a:spcPct val="85000"/>
              </a:lnSpc>
              <a:defRPr sz="9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EDF2B-59A1-414D-967A-87DA44DF8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17891C-D434-294F-9585-19B4B6FB9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87E74-5591-F741-8FBD-43022C8AE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452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908FD-40AF-EC46-94AB-D35B74113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675C4-FEE5-704A-B42A-B9D3C77FA0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617F22-768A-6F47-A69C-E46B7787AA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ED7C00-45A4-3A4B-95EB-16382EA46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11/2/25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486AED-7632-4945-8CCA-711A93111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B51905-D94F-684E-BD6E-A62226F93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623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F886B-6FB5-D446-9682-9800E1C12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990D4D-52E7-4943-B1C2-33770A0D4D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DE51B8-0734-144F-B0BD-21BD9E6718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642CC6-9117-694C-A77F-64C82B08D6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4061DB-9603-6E41-8E20-747F5E9797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B07FAE-8FD2-1B49-B848-E20F1548C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11/2/25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BFB7DD-34B1-C343-A725-682248A89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074AF8-6765-114D-809E-4E4A19743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552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B813F-AF15-0D44-B62B-21240A8B6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32E685-C3DC-7342-B982-AF73BF3AC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11/2/25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5BAA55-CF23-2C46-BF4B-A80568831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47FE7D-DFAF-334E-9095-F7D2E31B4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483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93BE0D-A561-8A44-BBDE-398A93EE6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11/2/25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243393-A1AC-C541-A7EE-DE419C528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FCBEA7-493B-214B-9C64-C44F952E4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202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4A2D2-9E6D-A44D-A19D-AAC0C2DB1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7D7CF-FEA7-F64D-BE64-A3952C65B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ACDA71-C1BE-6648-A8DF-DC1C32EDA6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61E058-7FF2-A547-9ACC-916552EB6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11/2/25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917FD9-7736-FC4C-A5F4-B8C017E88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27D751-3A0C-F743-91EB-0D5EBA1DD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17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294F0-EF06-4D4A-BF13-B005FD5E9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40C43B-4BA0-2347-B3BE-1E159DFA3E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74E973-8FC1-4949-A39B-2838C09A8C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228C1E-1A01-5E47-843E-3B6223F6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11/2/25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039263-0F9C-D443-B847-BD4C53BFC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8E83DC-F401-7D4A-996D-758306F4A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172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5ECCE-D672-3D4B-8505-496041AA2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6C72F6-16C6-5849-A55A-EF4D7C3015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58BA9E-C487-4C48-B2A8-760D44C4D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823C19-97D6-6240-BA38-1A21ABF7C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18CE7-C6BB-9742-B7F9-BFD1E9B91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899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BD6FB6-BBED-F64A-85B4-4E6C472D26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F249AD-E103-6D43-8D06-32D11CB4EE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F4F2A8-78E4-F64A-8D10-4B2F78BA5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FF3E4-E77C-1343-B071-CE67723D4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05222F-7958-AE47-944B-C4C16B12B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910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90587A-C8DA-1C4E-BF76-5740F2C6B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DD8E66-CCE9-144A-BE3F-270183262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0D3984-C873-FD42-A795-14EDD39255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D074E6-BC95-7A40-8145-5D6390B81855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07FBFB-30EE-2448-94F7-D2F71C1C91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98439-4275-6143-B3C3-B34081AAA6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443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b="1" i="0" kern="1200">
          <a:solidFill>
            <a:schemeClr val="accent1"/>
          </a:solidFill>
          <a:latin typeface="Bernina Sans Extrabold" pitchFamily="2" charset="77"/>
          <a:ea typeface="Roboto Black" panose="02000000000000000000" pitchFamily="2" charset="0"/>
          <a:cs typeface="Roboto Condensed" panose="020000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1"/>
          </a:solidFill>
          <a:latin typeface="Bernino Sans Light" pitchFamily="2" charset="77"/>
          <a:ea typeface="Roboto Light" panose="02000000000000000000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b="0" i="0" kern="1200">
          <a:solidFill>
            <a:schemeClr val="tx1"/>
          </a:solidFill>
          <a:latin typeface="Bernino Sans Light" pitchFamily="2" charset="77"/>
          <a:ea typeface="Roboto Light" panose="02000000000000000000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Bernino Sans Light" pitchFamily="2" charset="77"/>
          <a:ea typeface="Roboto Light" panose="02000000000000000000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Bernino Sans Light" pitchFamily="2" charset="77"/>
          <a:ea typeface="Roboto Light" panose="02000000000000000000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Bernino Sans Light" pitchFamily="2" charset="77"/>
          <a:ea typeface="Roboto Light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FEF3B-F00A-D246-8261-43306475CE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91001" y="134003"/>
            <a:ext cx="7824952" cy="3184634"/>
          </a:xfrm>
        </p:spPr>
        <p:txBody>
          <a:bodyPr wrap="none" lIns="0" tIns="0" rIns="0" bIns="0">
            <a:noAutofit/>
          </a:bodyPr>
          <a:lstStyle/>
          <a:p>
            <a:pPr>
              <a:lnSpc>
                <a:spcPct val="80000"/>
              </a:lnSpc>
            </a:pPr>
            <a:r>
              <a:rPr lang="en-US" sz="10300" dirty="0">
                <a:latin typeface="Bernina Sans Narrow Exbold" pitchFamily="2" charset="77"/>
              </a:rPr>
              <a:t>Distributed</a:t>
            </a:r>
            <a:br>
              <a:rPr lang="en-US" sz="10000" dirty="0">
                <a:latin typeface="Bernina Sans Narrow Exbold" pitchFamily="2" charset="77"/>
              </a:rPr>
            </a:br>
            <a:r>
              <a:rPr lang="en-US" sz="10700" dirty="0">
                <a:latin typeface="Bernina Sans Narrow Exbold" pitchFamily="2" charset="77"/>
              </a:rPr>
              <a:t>Algorithms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87823746-A1C8-D348-B17D-7808ABDD6C0B}"/>
              </a:ext>
            </a:extLst>
          </p:cNvPr>
          <p:cNvSpPr txBox="1">
            <a:spLocks/>
          </p:cNvSpPr>
          <p:nvPr/>
        </p:nvSpPr>
        <p:spPr>
          <a:xfrm>
            <a:off x="557048" y="4233039"/>
            <a:ext cx="1196801" cy="2356947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9900" b="1" dirty="0">
                <a:solidFill>
                  <a:schemeClr val="bg2">
                    <a:lumMod val="90000"/>
                  </a:schemeClr>
                </a:solidFill>
                <a:latin typeface="Bernina Sans Narrow Exbold" pitchFamily="2" charset="77"/>
              </a:rPr>
              <a:t>8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704C214C-540C-C148-AE23-4DF697E105B9}"/>
              </a:ext>
            </a:extLst>
          </p:cNvPr>
          <p:cNvSpPr txBox="1">
            <a:spLocks/>
          </p:cNvSpPr>
          <p:nvPr/>
        </p:nvSpPr>
        <p:spPr>
          <a:xfrm>
            <a:off x="2068286" y="4210166"/>
            <a:ext cx="9590574" cy="2270242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400" dirty="0">
                <a:latin typeface="Bernina Sans Condensed Lt" pitchFamily="2" charset="77"/>
              </a:rPr>
              <a:t>Local neighborhoods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E2FBA02-6A99-A54A-A233-8C34F2BADC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024" y="23643"/>
            <a:ext cx="2289632" cy="21047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166AD8B2-AAA0-8002-F746-21619F85DC80}"/>
              </a:ext>
            </a:extLst>
          </p:cNvPr>
          <p:cNvSpPr txBox="1">
            <a:spLocks/>
          </p:cNvSpPr>
          <p:nvPr/>
        </p:nvSpPr>
        <p:spPr>
          <a:xfrm>
            <a:off x="8517692" y="3045454"/>
            <a:ext cx="2772793" cy="129005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700" b="1" dirty="0">
                <a:solidFill>
                  <a:schemeClr val="accent1"/>
                </a:solidFill>
                <a:latin typeface="Bernina Sans Narrow Exbold" pitchFamily="2" charset="77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1768543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1CEA4-A8F5-DE4B-8A60-94FDF407B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High-level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B8C83-79B1-6440-A908-714240EB47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Algorithm </a:t>
            </a:r>
            <a:r>
              <a:rPr lang="en-US" i="1" dirty="0"/>
              <a:t>A</a:t>
            </a:r>
            <a:r>
              <a:rPr lang="en-US" dirty="0"/>
              <a:t> runs in </a:t>
            </a:r>
            <a:r>
              <a:rPr lang="en-US" b="1" i="1" dirty="0">
                <a:latin typeface="Bernino Sans" pitchFamily="2" charset="77"/>
              </a:rPr>
              <a:t>T</a:t>
            </a:r>
            <a:r>
              <a:rPr lang="en-US" b="1" dirty="0">
                <a:latin typeface="Bernino Sans" pitchFamily="2" charset="77"/>
              </a:rPr>
              <a:t> rounds </a:t>
            </a:r>
            <a:r>
              <a:rPr lang="en-US" dirty="0"/>
              <a:t>and solves problem </a:t>
            </a:r>
            <a:r>
              <a:rPr lang="en-US" i="1" dirty="0"/>
              <a:t>X</a:t>
            </a:r>
            <a:endParaRPr lang="en-US" dirty="0"/>
          </a:p>
          <a:p>
            <a:pPr marL="540000" indent="-540000">
              <a:buFont typeface="Apple SD Gothic Neo Light" panose="02000300000000000000" pitchFamily="2" charset="-127"/>
              <a:buChar char="➞"/>
            </a:pPr>
            <a:r>
              <a:rPr lang="en-US" i="1" dirty="0"/>
              <a:t>A</a:t>
            </a:r>
            <a:r>
              <a:rPr lang="en-US" dirty="0"/>
              <a:t> is a </a:t>
            </a:r>
            <a:r>
              <a:rPr lang="en-US" b="1" dirty="0">
                <a:latin typeface="Bernino Sans" pitchFamily="2" charset="77"/>
              </a:rPr>
              <a:t>mapping from radius-</a:t>
            </a:r>
            <a:r>
              <a:rPr lang="en-US" b="1" i="1" dirty="0">
                <a:latin typeface="Bernino Sans" pitchFamily="2" charset="77"/>
              </a:rPr>
              <a:t>T</a:t>
            </a:r>
            <a:r>
              <a:rPr lang="en-US" b="1" dirty="0">
                <a:latin typeface="Bernino Sans" pitchFamily="2" charset="77"/>
              </a:rPr>
              <a:t> neighborhoods </a:t>
            </a:r>
            <a:r>
              <a:rPr lang="en-US" dirty="0"/>
              <a:t>to local outputs</a:t>
            </a:r>
          </a:p>
          <a:p>
            <a:pPr marL="0" indent="0">
              <a:buNone/>
            </a:pPr>
            <a:r>
              <a:rPr lang="en-US" dirty="0"/>
              <a:t>Such a mapping cannot solve </a:t>
            </a:r>
            <a:r>
              <a:rPr lang="en-US" i="1" dirty="0"/>
              <a:t>X</a:t>
            </a:r>
            <a:r>
              <a:rPr lang="en-US" dirty="0"/>
              <a:t> correctly</a:t>
            </a:r>
          </a:p>
          <a:p>
            <a:pPr marL="540000" indent="-540000">
              <a:buFont typeface="Apple SD Gothic Neo Light" panose="02000300000000000000" pitchFamily="2" charset="-127"/>
              <a:buChar char="➞"/>
            </a:pPr>
            <a:r>
              <a:rPr lang="en-US" dirty="0"/>
              <a:t>Problem </a:t>
            </a:r>
            <a:r>
              <a:rPr lang="en-US" i="1" dirty="0"/>
              <a:t>X</a:t>
            </a:r>
            <a:r>
              <a:rPr lang="en-US" dirty="0"/>
              <a:t> is not solvable in </a:t>
            </a:r>
            <a:r>
              <a:rPr lang="en-US" i="1" dirty="0"/>
              <a:t>T</a:t>
            </a:r>
            <a:r>
              <a:rPr lang="en-US" dirty="0"/>
              <a:t> rounds</a:t>
            </a:r>
          </a:p>
        </p:txBody>
      </p:sp>
    </p:spTree>
    <p:extLst>
      <p:ext uri="{BB962C8B-B14F-4D97-AF65-F5344CB8AC3E}">
        <p14:creationId xmlns:p14="http://schemas.microsoft.com/office/powerpoint/2010/main" val="2818073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FEF3B-F00A-D246-8261-43306475CE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91001" y="134003"/>
            <a:ext cx="7824952" cy="3184634"/>
          </a:xfrm>
        </p:spPr>
        <p:txBody>
          <a:bodyPr wrap="none" lIns="0" tIns="0" rIns="0" bIns="0">
            <a:noAutofit/>
          </a:bodyPr>
          <a:lstStyle/>
          <a:p>
            <a:pPr>
              <a:lnSpc>
                <a:spcPct val="80000"/>
              </a:lnSpc>
            </a:pPr>
            <a:r>
              <a:rPr lang="en-US" sz="10300" dirty="0">
                <a:latin typeface="Bernina Sans Narrow Exbold" pitchFamily="2" charset="77"/>
              </a:rPr>
              <a:t>Distributed</a:t>
            </a:r>
            <a:br>
              <a:rPr lang="en-US" sz="10000" dirty="0">
                <a:latin typeface="Bernina Sans Narrow Exbold" pitchFamily="2" charset="77"/>
              </a:rPr>
            </a:br>
            <a:r>
              <a:rPr lang="en-US" sz="10700" dirty="0">
                <a:latin typeface="Bernina Sans Narrow Exbold" pitchFamily="2" charset="77"/>
              </a:rPr>
              <a:t>Algorithms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87823746-A1C8-D348-B17D-7808ABDD6C0B}"/>
              </a:ext>
            </a:extLst>
          </p:cNvPr>
          <p:cNvSpPr txBox="1">
            <a:spLocks/>
          </p:cNvSpPr>
          <p:nvPr/>
        </p:nvSpPr>
        <p:spPr>
          <a:xfrm>
            <a:off x="557048" y="4233039"/>
            <a:ext cx="1196801" cy="2356947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9900" b="1" dirty="0">
                <a:solidFill>
                  <a:schemeClr val="bg2">
                    <a:lumMod val="90000"/>
                  </a:schemeClr>
                </a:solidFill>
                <a:latin typeface="Bernina Sans Narrow Exbold" pitchFamily="2" charset="77"/>
              </a:rPr>
              <a:t>9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704C214C-540C-C148-AE23-4DF697E105B9}"/>
              </a:ext>
            </a:extLst>
          </p:cNvPr>
          <p:cNvSpPr txBox="1">
            <a:spLocks/>
          </p:cNvSpPr>
          <p:nvPr/>
        </p:nvSpPr>
        <p:spPr>
          <a:xfrm>
            <a:off x="2013857" y="4210166"/>
            <a:ext cx="9645003" cy="2270242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400" dirty="0">
                <a:latin typeface="Bernina Sans Condensed Lt" pitchFamily="2" charset="77"/>
              </a:rPr>
              <a:t>Round elimination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E2FBA02-6A99-A54A-A233-8C34F2BADC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024" y="23643"/>
            <a:ext cx="2289632" cy="21047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F8771DCF-CC01-0D0E-B5B5-1FD863D864ED}"/>
              </a:ext>
            </a:extLst>
          </p:cNvPr>
          <p:cNvSpPr txBox="1">
            <a:spLocks/>
          </p:cNvSpPr>
          <p:nvPr/>
        </p:nvSpPr>
        <p:spPr>
          <a:xfrm>
            <a:off x="8517692" y="3045454"/>
            <a:ext cx="2772793" cy="129005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700" b="1" dirty="0">
                <a:solidFill>
                  <a:schemeClr val="accent1"/>
                </a:solidFill>
                <a:latin typeface="Bernina Sans Narrow Exbold" pitchFamily="2" charset="77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665760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EB59E2F-E7C4-1C43-AF60-D37F90B6C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we automate</a:t>
            </a:r>
            <a:br>
              <a:rPr lang="en-US" dirty="0"/>
            </a:br>
            <a:r>
              <a:rPr lang="en-US" dirty="0"/>
              <a:t>our own work?</a:t>
            </a:r>
          </a:p>
        </p:txBody>
      </p:sp>
    </p:spTree>
    <p:extLst>
      <p:ext uri="{BB962C8B-B14F-4D97-AF65-F5344CB8AC3E}">
        <p14:creationId xmlns:p14="http://schemas.microsoft.com/office/powerpoint/2010/main" val="846313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DD5B2-5802-AA49-8D91-360D61F3C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I" dirty="0"/>
              <a:t>Meta-algorithmics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2F572-9E06-E849-818E-3B5484D547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FI" b="1" dirty="0">
                <a:latin typeface="Bernino Sans" pitchFamily="2" charset="77"/>
              </a:rPr>
              <a:t>Normal algorithms</a:t>
            </a:r>
            <a:r>
              <a:rPr lang="en-US" dirty="0"/>
              <a:t> — example:</a:t>
            </a:r>
            <a:endParaRPr lang="en-FI" b="1" dirty="0">
              <a:latin typeface="Bernino Sans" pitchFamily="2" charset="77"/>
            </a:endParaRPr>
          </a:p>
          <a:p>
            <a:pPr lvl="1"/>
            <a:r>
              <a:rPr lang="en-FI" dirty="0"/>
              <a:t>input: graph </a:t>
            </a:r>
            <a:r>
              <a:rPr lang="en-FI" i="1" dirty="0"/>
              <a:t>G</a:t>
            </a:r>
          </a:p>
          <a:p>
            <a:pPr lvl="1"/>
            <a:r>
              <a:rPr lang="en-FI" dirty="0"/>
              <a:t>output: coloring of graph </a:t>
            </a:r>
            <a:r>
              <a:rPr lang="en-FI" i="1" dirty="0"/>
              <a:t>G</a:t>
            </a:r>
          </a:p>
          <a:p>
            <a:r>
              <a:rPr lang="en-FI" b="1" dirty="0">
                <a:latin typeface="Bernino Sans" pitchFamily="2" charset="77"/>
              </a:rPr>
              <a:t>Meta-algorithms</a:t>
            </a:r>
            <a:r>
              <a:rPr lang="en-US" dirty="0"/>
              <a:t> — example:</a:t>
            </a:r>
            <a:endParaRPr lang="en-FI" b="1" dirty="0">
              <a:latin typeface="Bernino Sans" pitchFamily="2" charset="77"/>
            </a:endParaRPr>
          </a:p>
          <a:p>
            <a:pPr lvl="1"/>
            <a:r>
              <a:rPr lang="en-FI" dirty="0"/>
              <a:t>input: </a:t>
            </a:r>
            <a:r>
              <a:rPr lang="en-FI" b="1" i="1" dirty="0">
                <a:solidFill>
                  <a:schemeClr val="accent2"/>
                </a:solidFill>
                <a:latin typeface="Bernino Sans" pitchFamily="2" charset="77"/>
              </a:rPr>
              <a:t>computational problem </a:t>
            </a:r>
            <a:r>
              <a:rPr lang="en-FI" i="1" dirty="0"/>
              <a:t>P</a:t>
            </a:r>
          </a:p>
          <a:p>
            <a:pPr lvl="1"/>
            <a:r>
              <a:rPr lang="en-FI" dirty="0"/>
              <a:t>output: </a:t>
            </a:r>
            <a:r>
              <a:rPr lang="en-FI" b="1" i="1" dirty="0">
                <a:solidFill>
                  <a:schemeClr val="accent2"/>
                </a:solidFill>
                <a:latin typeface="Bernino Sans" pitchFamily="2" charset="77"/>
              </a:rPr>
              <a:t>algorithm</a:t>
            </a:r>
            <a:r>
              <a:rPr lang="en-FI" dirty="0"/>
              <a:t> for solving </a:t>
            </a:r>
            <a:r>
              <a:rPr lang="en-FI" i="1" dirty="0"/>
              <a:t>P</a:t>
            </a:r>
          </a:p>
        </p:txBody>
      </p:sp>
      <p:sp>
        <p:nvSpPr>
          <p:cNvPr id="4" name="Rounded Rectangular Callout 3">
            <a:extLst>
              <a:ext uri="{FF2B5EF4-FFF2-40B4-BE49-F238E27FC236}">
                <a16:creationId xmlns:a16="http://schemas.microsoft.com/office/drawing/2014/main" id="{47A33C4E-A227-374C-99BB-DBDBB29DCF64}"/>
              </a:ext>
            </a:extLst>
          </p:cNvPr>
          <p:cNvSpPr/>
          <p:nvPr/>
        </p:nvSpPr>
        <p:spPr>
          <a:xfrm>
            <a:off x="8755380" y="3840480"/>
            <a:ext cx="2926080" cy="2471420"/>
          </a:xfrm>
          <a:prstGeom prst="wedgeRoundRectCallout">
            <a:avLst>
              <a:gd name="adj1" fmla="val -64600"/>
              <a:gd name="adj2" fmla="val -27871"/>
              <a:gd name="adj3" fmla="val 1666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Bernino Sans Semibold" pitchFamily="2" charset="77"/>
              </a:rPr>
              <a:t>How to represent</a:t>
            </a:r>
            <a:br>
              <a:rPr lang="en-US" sz="3200" b="1" dirty="0">
                <a:latin typeface="Bernino Sans Semibold" pitchFamily="2" charset="77"/>
              </a:rPr>
            </a:br>
            <a:r>
              <a:rPr lang="en-US" sz="3200" b="1" dirty="0">
                <a:latin typeface="Bernino Sans Semibold" pitchFamily="2" charset="77"/>
              </a:rPr>
              <a:t>problems or algorithms?</a:t>
            </a:r>
          </a:p>
        </p:txBody>
      </p:sp>
    </p:spTree>
    <p:extLst>
      <p:ext uri="{BB962C8B-B14F-4D97-AF65-F5344CB8AC3E}">
        <p14:creationId xmlns:p14="http://schemas.microsoft.com/office/powerpoint/2010/main" val="3717634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60EA8-B516-B346-ABBF-082E5FF31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week’s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B1336-87D8-7140-917C-D58352B9E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Bernino Sans" pitchFamily="2" charset="77"/>
              </a:rPr>
              <a:t>Topic: </a:t>
            </a:r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round elimination</a:t>
            </a:r>
          </a:p>
          <a:p>
            <a:pPr lvl="1"/>
            <a:r>
              <a:rPr lang="en-US" dirty="0"/>
              <a:t>function that maps problem </a:t>
            </a:r>
            <a:r>
              <a:rPr lang="en-US" i="1" dirty="0"/>
              <a:t>X</a:t>
            </a:r>
            <a:r>
              <a:rPr lang="en-US" dirty="0"/>
              <a:t> with complexity </a:t>
            </a:r>
            <a:r>
              <a:rPr lang="en-US" i="1" dirty="0"/>
              <a:t>T</a:t>
            </a:r>
            <a:br>
              <a:rPr lang="en-US" dirty="0"/>
            </a:br>
            <a:r>
              <a:rPr lang="en-US" dirty="0"/>
              <a:t>to problem </a:t>
            </a:r>
            <a:r>
              <a:rPr lang="en-US" i="1" dirty="0"/>
              <a:t>X’</a:t>
            </a:r>
            <a:r>
              <a:rPr lang="en-US" dirty="0"/>
              <a:t> = re(</a:t>
            </a:r>
            <a:r>
              <a:rPr lang="en-US" i="1" dirty="0"/>
              <a:t>X</a:t>
            </a:r>
            <a:r>
              <a:rPr lang="en-US" dirty="0"/>
              <a:t>) with complexity </a:t>
            </a:r>
            <a:r>
              <a:rPr lang="en-US" i="1" dirty="0"/>
              <a:t>T</a:t>
            </a:r>
            <a:r>
              <a:rPr lang="en-US" dirty="0"/>
              <a:t> − 1</a:t>
            </a:r>
          </a:p>
          <a:p>
            <a:r>
              <a:rPr lang="en-US" b="1" dirty="0">
                <a:latin typeface="Bernino Sans" pitchFamily="2" charset="77"/>
              </a:rPr>
              <a:t>Video: </a:t>
            </a:r>
            <a:r>
              <a:rPr lang="en-US" dirty="0"/>
              <a:t>how to </a:t>
            </a:r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use </a:t>
            </a:r>
            <a:r>
              <a:rPr lang="en-US" dirty="0"/>
              <a:t>round elimination</a:t>
            </a:r>
          </a:p>
          <a:p>
            <a:pPr lvl="1"/>
            <a:r>
              <a:rPr lang="en-US" dirty="0"/>
              <a:t>“re” was a black box</a:t>
            </a:r>
          </a:p>
          <a:p>
            <a:r>
              <a:rPr lang="en-US" b="1" dirty="0">
                <a:latin typeface="Bernino Sans" pitchFamily="2" charset="77"/>
              </a:rPr>
              <a:t>Today: </a:t>
            </a:r>
            <a:r>
              <a:rPr lang="en-US" dirty="0"/>
              <a:t>how to </a:t>
            </a:r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do </a:t>
            </a:r>
            <a:r>
              <a:rPr lang="en-US" dirty="0"/>
              <a:t>round elimination</a:t>
            </a:r>
          </a:p>
          <a:p>
            <a:pPr lvl="1"/>
            <a:r>
              <a:rPr lang="en-US" dirty="0"/>
              <a:t>what happens inside the black box and why?</a:t>
            </a:r>
          </a:p>
        </p:txBody>
      </p:sp>
    </p:spTree>
    <p:extLst>
      <p:ext uri="{BB962C8B-B14F-4D97-AF65-F5344CB8AC3E}">
        <p14:creationId xmlns:p14="http://schemas.microsoft.com/office/powerpoint/2010/main" val="1469462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C7622-39B8-004E-9256-409D8A50C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Round elimination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4D5DD-01F2-3A4D-9E8A-7E22654CD7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Basic idea already used by Linial (</a:t>
            </a:r>
            <a:r>
              <a:rPr lang="en-US" dirty="0">
                <a:solidFill>
                  <a:schemeClr val="accent2"/>
                </a:solidFill>
                <a:latin typeface="Bernino Sans" pitchFamily="2" charset="77"/>
              </a:rPr>
              <a:t>1987</a:t>
            </a:r>
            <a:r>
              <a:rPr lang="en-US" dirty="0"/>
              <a:t>)</a:t>
            </a:r>
          </a:p>
          <a:p>
            <a:pPr lvl="1"/>
            <a:r>
              <a:rPr lang="en-US" i="1" dirty="0"/>
              <a:t>“it is not possible to 3-color cycles</a:t>
            </a:r>
            <a:br>
              <a:rPr lang="en-US" i="1" dirty="0"/>
            </a:br>
            <a:r>
              <a:rPr lang="en-US" i="1" dirty="0"/>
              <a:t>in o</a:t>
            </a:r>
            <a:r>
              <a:rPr lang="en-US" dirty="0"/>
              <a:t>(log* </a:t>
            </a:r>
            <a:r>
              <a:rPr lang="en-US" i="1" dirty="0"/>
              <a:t>n</a:t>
            </a:r>
            <a:r>
              <a:rPr lang="en-US" dirty="0"/>
              <a:t>)</a:t>
            </a:r>
            <a:r>
              <a:rPr lang="en-US" i="1" dirty="0"/>
              <a:t> rounds”</a:t>
            </a:r>
          </a:p>
          <a:p>
            <a:r>
              <a:rPr lang="en-US" dirty="0"/>
              <a:t>Until </a:t>
            </a:r>
            <a:r>
              <a:rPr lang="en-US" dirty="0">
                <a:solidFill>
                  <a:schemeClr val="accent2"/>
                </a:solidFill>
                <a:latin typeface="Bernino Sans" pitchFamily="2" charset="77"/>
              </a:rPr>
              <a:t>2015</a:t>
            </a:r>
            <a:r>
              <a:rPr lang="en-US" dirty="0"/>
              <a:t> it was thought this is an ad-hoc</a:t>
            </a:r>
            <a:br>
              <a:rPr lang="en-US" dirty="0"/>
            </a:br>
            <a:r>
              <a:rPr lang="en-US" dirty="0"/>
              <a:t>trick that only works for graph coloring</a:t>
            </a:r>
          </a:p>
          <a:p>
            <a:r>
              <a:rPr lang="en-US" b="1" dirty="0">
                <a:latin typeface="Bernino Sans" pitchFamily="2" charset="77"/>
              </a:rPr>
              <a:t>Lots</a:t>
            </a:r>
            <a:r>
              <a:rPr lang="en-US" dirty="0"/>
              <a:t> of new applications since </a:t>
            </a:r>
            <a:r>
              <a:rPr lang="en-US" dirty="0">
                <a:solidFill>
                  <a:schemeClr val="accent2"/>
                </a:solidFill>
                <a:latin typeface="Bernino Sans" pitchFamily="2" charset="77"/>
              </a:rPr>
              <a:t>2016</a:t>
            </a:r>
          </a:p>
          <a:p>
            <a:r>
              <a:rPr lang="en-US" dirty="0"/>
              <a:t>General idea formalized in </a:t>
            </a:r>
            <a:r>
              <a:rPr lang="en-US" dirty="0">
                <a:solidFill>
                  <a:schemeClr val="accent2"/>
                </a:solidFill>
                <a:latin typeface="Bernino Sans" pitchFamily="2" charset="77"/>
              </a:rPr>
              <a:t>2019</a:t>
            </a:r>
          </a:p>
        </p:txBody>
      </p:sp>
    </p:spTree>
    <p:extLst>
      <p:ext uri="{BB962C8B-B14F-4D97-AF65-F5344CB8AC3E}">
        <p14:creationId xmlns:p14="http://schemas.microsoft.com/office/powerpoint/2010/main" val="4111702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60EA8-B516-B346-ABBF-082E5FF31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Weak 3-labeling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B1336-87D8-7140-917C-D58352B9E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Bernino Sans" pitchFamily="2" charset="77"/>
              </a:rPr>
              <a:t>Labels: </a:t>
            </a:r>
            <a:r>
              <a:rPr lang="en-US" dirty="0"/>
              <a:t>1, 2, 3</a:t>
            </a:r>
          </a:p>
          <a:p>
            <a:r>
              <a:rPr lang="en-US" b="1" dirty="0">
                <a:latin typeface="Bernino Sans" pitchFamily="2" charset="77"/>
              </a:rPr>
              <a:t>Active nodes:</a:t>
            </a:r>
          </a:p>
          <a:p>
            <a:pPr lvl="1"/>
            <a:r>
              <a:rPr lang="en-US" dirty="0"/>
              <a:t>degree 3</a:t>
            </a:r>
          </a:p>
          <a:p>
            <a:pPr lvl="1"/>
            <a:r>
              <a:rPr lang="en-US" dirty="0"/>
              <a:t>not all labels same</a:t>
            </a:r>
          </a:p>
          <a:p>
            <a:r>
              <a:rPr lang="en-US" b="1" dirty="0">
                <a:latin typeface="Bernino Sans" pitchFamily="2" charset="77"/>
              </a:rPr>
              <a:t>Passive nodes:</a:t>
            </a:r>
          </a:p>
          <a:p>
            <a:pPr lvl="1"/>
            <a:r>
              <a:rPr lang="en-US" dirty="0"/>
              <a:t>degree 2</a:t>
            </a:r>
          </a:p>
          <a:p>
            <a:pPr lvl="1"/>
            <a:r>
              <a:rPr lang="en-US" dirty="0"/>
              <a:t>both labels same</a:t>
            </a:r>
          </a:p>
        </p:txBody>
      </p:sp>
    </p:spTree>
    <p:extLst>
      <p:ext uri="{BB962C8B-B14F-4D97-AF65-F5344CB8AC3E}">
        <p14:creationId xmlns:p14="http://schemas.microsoft.com/office/powerpoint/2010/main" val="2550755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C1BE2D9-6BFE-ED4D-BC0E-128DBEC45E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12800" y="-2984500"/>
            <a:ext cx="13817600" cy="1282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920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3FDCA1B-06FC-524F-9880-68986208D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36700" y="-3835400"/>
            <a:ext cx="15265400" cy="145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951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rgbClr val="000000"/>
      </a:dk1>
      <a:lt1>
        <a:srgbClr val="FFFFFF"/>
      </a:lt1>
      <a:dk2>
        <a:srgbClr val="505050"/>
      </a:dk2>
      <a:lt2>
        <a:srgbClr val="DFDFDF"/>
      </a:lt2>
      <a:accent1>
        <a:srgbClr val="0087CC"/>
      </a:accent1>
      <a:accent2>
        <a:srgbClr val="F16924"/>
      </a:accent2>
      <a:accent3>
        <a:srgbClr val="909090"/>
      </a:accent3>
      <a:accent4>
        <a:srgbClr val="0087CC"/>
      </a:accent4>
      <a:accent5>
        <a:srgbClr val="F16924"/>
      </a:accent5>
      <a:accent6>
        <a:srgbClr val="909090"/>
      </a:accent6>
      <a:hlink>
        <a:srgbClr val="000000"/>
      </a:hlink>
      <a:folHlink>
        <a:srgbClr val="0000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spcBef>
            <a:spcPts val="2000"/>
          </a:spcBef>
          <a:defRPr sz="3200" b="1" dirty="0" smtClean="0">
            <a:latin typeface="Bernino Sans Semibold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sz="3600" dirty="0" smtClean="0">
            <a:latin typeface="Bernino Sans Light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2181</TotalTime>
  <Words>243</Words>
  <Application>Microsoft Macintosh PowerPoint</Application>
  <PresentationFormat>Widescreen</PresentationFormat>
  <Paragraphs>45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Apple SD Gothic Neo Light</vt:lpstr>
      <vt:lpstr>Arial</vt:lpstr>
      <vt:lpstr>Bernina Sans Condensed Lt</vt:lpstr>
      <vt:lpstr>Bernina Sans Extrabold</vt:lpstr>
      <vt:lpstr>Bernina Sans Narrow Exbold</vt:lpstr>
      <vt:lpstr>Bernino Sans</vt:lpstr>
      <vt:lpstr>Bernino Sans Light</vt:lpstr>
      <vt:lpstr>Bernino Sans Semibold</vt:lpstr>
      <vt:lpstr>Calibri</vt:lpstr>
      <vt:lpstr>Office Theme</vt:lpstr>
      <vt:lpstr>Distributed Algorithms</vt:lpstr>
      <vt:lpstr>High-level plan</vt:lpstr>
      <vt:lpstr>Distributed Algorithms</vt:lpstr>
      <vt:lpstr>Can we automate our own work?</vt:lpstr>
      <vt:lpstr>Meta-algorithmics</vt:lpstr>
      <vt:lpstr>This week’s plan</vt:lpstr>
      <vt:lpstr>Round elimination</vt:lpstr>
      <vt:lpstr>Weak 3-labeling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Algorithms</dc:title>
  <dc:creator>Jukka Suomela</dc:creator>
  <cp:lastModifiedBy>Suomela Jukka</cp:lastModifiedBy>
  <cp:revision>128</cp:revision>
  <dcterms:created xsi:type="dcterms:W3CDTF">2020-08-20T21:40:58Z</dcterms:created>
  <dcterms:modified xsi:type="dcterms:W3CDTF">2025-11-02T17:28:56Z</dcterms:modified>
</cp:coreProperties>
</file>