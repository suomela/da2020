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8" r:id="rId2"/>
    <p:sldId id="309" r:id="rId3"/>
    <p:sldId id="310" r:id="rId4"/>
    <p:sldId id="308" r:id="rId5"/>
    <p:sldId id="311" r:id="rId6"/>
    <p:sldId id="259" r:id="rId7"/>
    <p:sldId id="260" r:id="rId8"/>
    <p:sldId id="261" r:id="rId9"/>
    <p:sldId id="262" r:id="rId10"/>
    <p:sldId id="263" r:id="rId11"/>
    <p:sldId id="264" r:id="rId12"/>
    <p:sldId id="282" r:id="rId13"/>
    <p:sldId id="268" r:id="rId14"/>
    <p:sldId id="269" r:id="rId15"/>
    <p:sldId id="276" r:id="rId16"/>
    <p:sldId id="277" r:id="rId17"/>
    <p:sldId id="275" r:id="rId18"/>
    <p:sldId id="270" r:id="rId19"/>
    <p:sldId id="273" r:id="rId20"/>
    <p:sldId id="271" r:id="rId21"/>
    <p:sldId id="272" r:id="rId22"/>
    <p:sldId id="280" r:id="rId23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56"/>
    <p:restoredTop sz="94776"/>
  </p:normalViewPr>
  <p:slideViewPr>
    <p:cSldViewPr snapToGrid="0" snapToObjects="1" showGuides="1">
      <p:cViewPr varScale="1">
        <p:scale>
          <a:sx n="152" d="100"/>
          <a:sy n="152" d="100"/>
        </p:scale>
        <p:origin x="712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3" d="100"/>
          <a:sy n="113" d="100"/>
        </p:scale>
        <p:origin x="396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484328-04A3-7843-965F-F9FCF8FB55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24FBE8-8971-8346-9236-9DF4B52C88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FFC9C-04E4-E646-9E5F-B16BB383ECF2}" type="datetimeFigureOut">
              <a:rPr lang="en-US" smtClean="0"/>
              <a:t>8/31/25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0D8F2-9A47-854C-B63E-66FE5E7DBE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89FF2-CE78-2843-889A-B6E27294CA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AB006-7503-7746-988C-9209368E9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3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95A92-54D0-5E4B-A08D-97789E42C8EA}" type="datetimeFigureOut">
              <a:rPr lang="en-US" smtClean="0"/>
              <a:t>8/31/25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02235-233E-0844-BB48-1C5592EE2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85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2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404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8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6FA4-843D-924B-BC97-88ED56BB6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E24BB-AF11-0C42-B367-84AB17691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E63C8-1A0A-DE4B-8F9D-9859F3A9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B12D2-1B95-8845-9B08-DBFCB474E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0950C-5C76-3C4B-B34E-19DEE54D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93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AEBD-0551-A547-B83E-C271624A3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D3C9-17CB-FD4E-8809-8DE14CCDA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58015-51BF-EF4F-9739-37FEE6B9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4205-BE2D-254D-BEC9-0BB1024B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3557-84C1-D54E-9119-182795A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6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E013-0F63-B64E-BAC0-D9E906CD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02631"/>
            <a:ext cx="10515600" cy="2852737"/>
          </a:xfrm>
        </p:spPr>
        <p:txBody>
          <a:bodyPr anchor="ctr"/>
          <a:lstStyle>
            <a:lvl1pPr>
              <a:lnSpc>
                <a:spcPct val="85000"/>
              </a:lnSpc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EDF2B-59A1-414D-967A-87DA44DF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7891C-D434-294F-9585-19B4B6FB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87E74-5591-F741-8FBD-43022C8A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5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908FD-40AF-EC46-94AB-D35B7411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675C4-FEE5-704A-B42A-B9D3C77FA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17F22-768A-6F47-A69C-E46B7787A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D7C00-45A4-3A4B-95EB-16382EA4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8/31/25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86AED-7632-4945-8CCA-711A9311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51905-D94F-684E-BD6E-A62226F9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2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886B-6FB5-D446-9682-9800E1C1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0D4D-52E7-4943-B1C2-33770A0D4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E51B8-0734-144F-B0BD-21BD9E671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42CC6-9117-694C-A77F-64C82B08D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061DB-9603-6E41-8E20-747F5E979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B07FAE-8FD2-1B49-B848-E20F1548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8/31/25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BFB7DD-34B1-C343-A725-682248A8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74AF8-6765-114D-809E-4E4A1974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5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813F-AF15-0D44-B62B-21240A8B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2E685-C3DC-7342-B982-AF73BF3AC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8/31/25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BAA55-CF23-2C46-BF4B-A8056883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7FE7D-DFAF-334E-9095-F7D2E31B4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8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3BE0D-A561-8A44-BBDE-398A93EE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8/31/25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43393-A1AC-C541-A7EE-DE419C52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CBEA7-493B-214B-9C64-C44F952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02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A2D2-9E6D-A44D-A19D-AAC0C2DB1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7D7CF-FEA7-F64D-BE64-A3952C65B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DA71-C1BE-6648-A8DF-DC1C32EDA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1E058-7FF2-A547-9ACC-916552EB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8/31/25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17FD9-7736-FC4C-A5F4-B8C017E8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7D751-3A0C-F743-91EB-0D5EBA1D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7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94F0-EF06-4D4A-BF13-B005FD5E9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0C43B-4BA0-2347-B3BE-1E159DFA3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4E973-8FC1-4949-A39B-2838C09A8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28C1E-1A01-5E47-843E-3B6223F6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8/31/25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39263-0F9C-D443-B847-BD4C53BF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E83DC-F401-7D4A-996D-758306F4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72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ECCE-D672-3D4B-8505-496041AA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C72F6-16C6-5849-A55A-EF4D7C301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8BA9E-C487-4C48-B2A8-760D44C4D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23C19-97D6-6240-BA38-1A21ABF7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18CE7-C6BB-9742-B7F9-BFD1E9B9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99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BD6FB6-BBED-F64A-85B4-4E6C472D2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249AD-E103-6D43-8D06-32D11CB4E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4F2A8-78E4-F64A-8D10-4B2F78BA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FF3E4-E77C-1343-B071-CE67723D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5222F-7958-AE47-944B-C4C16B12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10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0587A-C8DA-1C4E-BF76-5740F2C6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D8E66-CCE9-144A-BE3F-270183262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D3984-C873-FD42-A795-14EDD3925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074E6-BC95-7A40-8145-5D6390B81855}" type="datetimeFigureOut">
              <a:rPr lang="en-US" smtClean="0"/>
              <a:t>8/31/25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7FBFB-30EE-2448-94F7-D2F71C1C9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98439-4275-6143-B3C3-B34081AAA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43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i="0" kern="1200">
          <a:solidFill>
            <a:schemeClr val="accent1"/>
          </a:solidFill>
          <a:latin typeface="Bernina Sans Extrabold" pitchFamily="2" charset="77"/>
          <a:ea typeface="Roboto Black" panose="02000000000000000000" pitchFamily="2" charset="0"/>
          <a:cs typeface="Roboto Condensed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EF3B-F00A-D246-8261-43306475C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1" y="134003"/>
            <a:ext cx="7824952" cy="3184634"/>
          </a:xfrm>
        </p:spPr>
        <p:txBody>
          <a:bodyPr wrap="none"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10300" dirty="0">
                <a:latin typeface="Bernina Sans Narrow Exbold" pitchFamily="2" charset="77"/>
              </a:rPr>
              <a:t>Distributed</a:t>
            </a:r>
            <a:br>
              <a:rPr lang="en-US" sz="10000" dirty="0">
                <a:latin typeface="Bernina Sans Narrow Exbold" pitchFamily="2" charset="77"/>
              </a:rPr>
            </a:br>
            <a:r>
              <a:rPr lang="en-US" sz="10700" dirty="0">
                <a:latin typeface="Bernina Sans Narrow Exbold" pitchFamily="2" charset="77"/>
              </a:rPr>
              <a:t>Algorithms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40B4F63-71E8-C842-84AE-F7AC8407E92E}"/>
              </a:ext>
            </a:extLst>
          </p:cNvPr>
          <p:cNvSpPr txBox="1">
            <a:spLocks/>
          </p:cNvSpPr>
          <p:nvPr/>
        </p:nvSpPr>
        <p:spPr>
          <a:xfrm>
            <a:off x="8517692" y="3045454"/>
            <a:ext cx="2772793" cy="12900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700" b="1" dirty="0">
                <a:solidFill>
                  <a:schemeClr val="accent1"/>
                </a:solidFill>
                <a:latin typeface="Bernina Sans Narrow Exbold" pitchFamily="2" charset="77"/>
              </a:rPr>
              <a:t>2025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7823746-A1C8-D348-B17D-7808ABDD6C0B}"/>
              </a:ext>
            </a:extLst>
          </p:cNvPr>
          <p:cNvSpPr txBox="1">
            <a:spLocks/>
          </p:cNvSpPr>
          <p:nvPr/>
        </p:nvSpPr>
        <p:spPr>
          <a:xfrm>
            <a:off x="557048" y="4233039"/>
            <a:ext cx="1196801" cy="235694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900" b="1" dirty="0">
                <a:solidFill>
                  <a:schemeClr val="bg2">
                    <a:lumMod val="90000"/>
                  </a:schemeClr>
                </a:solidFill>
                <a:latin typeface="Bernina Sans Narrow Exbold" pitchFamily="2" charset="77"/>
              </a:rPr>
              <a:t>1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04C214C-540C-C148-AE23-4DF697E105B9}"/>
              </a:ext>
            </a:extLst>
          </p:cNvPr>
          <p:cNvSpPr txBox="1">
            <a:spLocks/>
          </p:cNvSpPr>
          <p:nvPr/>
        </p:nvSpPr>
        <p:spPr>
          <a:xfrm>
            <a:off x="1753849" y="4210166"/>
            <a:ext cx="9905012" cy="2270242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dirty="0">
                <a:latin typeface="Bernina Sans Condensed Lt" pitchFamily="2" charset="77"/>
              </a:rPr>
              <a:t>Warm-up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2FBA02-6A99-A54A-A233-8C34F2BAD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024" y="23643"/>
            <a:ext cx="2289632" cy="210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76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AD6D8-E2EF-F61B-CE9E-171B64812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7A35F-861E-8F53-8C8B-05ABAB7B3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for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A340A-2A2D-FA2B-93B9-CE28264A1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5400" i="1" dirty="0"/>
              <a:t>How can individual nodes</a:t>
            </a:r>
            <a:br>
              <a:rPr lang="en-US" sz="5400" i="1" dirty="0"/>
            </a:br>
            <a:r>
              <a:rPr lang="en-US" sz="5400" i="1" dirty="0"/>
              <a:t>in a large computer network</a:t>
            </a:r>
            <a:br>
              <a:rPr lang="en-US" sz="5400" i="1" dirty="0"/>
            </a:br>
            <a:r>
              <a:rPr lang="en-US" sz="5400" i="1" dirty="0"/>
              <a:t>work together towards</a:t>
            </a:r>
            <a:br>
              <a:rPr lang="en-US" sz="5400" i="1" dirty="0"/>
            </a:br>
            <a:r>
              <a:rPr lang="en-US" sz="5400" i="1" dirty="0"/>
              <a:t>a common goal?</a:t>
            </a:r>
          </a:p>
        </p:txBody>
      </p:sp>
    </p:spTree>
    <p:extLst>
      <p:ext uri="{BB962C8B-B14F-4D97-AF65-F5344CB8AC3E}">
        <p14:creationId xmlns:p14="http://schemas.microsoft.com/office/powerpoint/2010/main" val="1158625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9BF08-9D7D-F14D-895A-578DFBEBB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00C5D-2089-D34B-8E1B-37B4160F8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models of</a:t>
            </a:r>
            <a:br>
              <a:rPr lang="en-US" dirty="0"/>
            </a:br>
            <a:r>
              <a:rPr lang="en-US" dirty="0"/>
              <a:t>distributed computing</a:t>
            </a:r>
          </a:p>
          <a:p>
            <a:r>
              <a:rPr lang="en-US" dirty="0"/>
              <a:t>Design and analyze efficient</a:t>
            </a:r>
            <a:br>
              <a:rPr lang="en-US" dirty="0"/>
            </a:br>
            <a:r>
              <a:rPr lang="en-US" dirty="0"/>
              <a:t>distributed algorithms</a:t>
            </a:r>
          </a:p>
          <a:p>
            <a:r>
              <a:rPr lang="en-US" dirty="0"/>
              <a:t>Prove impossibility results</a:t>
            </a:r>
          </a:p>
          <a:p>
            <a:r>
              <a:rPr lang="en-US" dirty="0"/>
              <a:t>Use standard graph-theoretic</a:t>
            </a:r>
            <a:br>
              <a:rPr lang="en-US" dirty="0"/>
            </a:br>
            <a:r>
              <a:rPr lang="en-US" dirty="0"/>
              <a:t>concepts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16A7FD4-CEBE-654B-B247-C3455A11E34C}"/>
              </a:ext>
            </a:extLst>
          </p:cNvPr>
          <p:cNvSpPr/>
          <p:nvPr/>
        </p:nvSpPr>
        <p:spPr>
          <a:xfrm>
            <a:off x="8825948" y="2207355"/>
            <a:ext cx="2948608" cy="3349487"/>
          </a:xfrm>
          <a:prstGeom prst="roundRect">
            <a:avLst>
              <a:gd name="adj" fmla="val 106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r>
              <a:rPr lang="en-US" sz="3200" b="1" dirty="0">
                <a:latin typeface="Bernino Sans Semibold" pitchFamily="2" charset="77"/>
              </a:rPr>
              <a:t>Practiced in exercises</a:t>
            </a:r>
          </a:p>
          <a:p>
            <a:pPr algn="ctr">
              <a:spcBef>
                <a:spcPts val="2000"/>
              </a:spcBef>
            </a:pPr>
            <a:r>
              <a:rPr lang="en-US" sz="3200" b="1" dirty="0">
                <a:latin typeface="Bernino Sans Semibold" pitchFamily="2" charset="77"/>
              </a:rPr>
              <a:t>Tested in exams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1C623116-A2D2-0940-93A2-456AAE71D4A5}"/>
              </a:ext>
            </a:extLst>
          </p:cNvPr>
          <p:cNvSpPr/>
          <p:nvPr/>
        </p:nvSpPr>
        <p:spPr>
          <a:xfrm>
            <a:off x="7808843" y="1825624"/>
            <a:ext cx="677790" cy="4112951"/>
          </a:xfrm>
          <a:prstGeom prst="rightBrace">
            <a:avLst>
              <a:gd name="adj1" fmla="val 33333"/>
              <a:gd name="adj2" fmla="val 50000"/>
            </a:avLst>
          </a:prstGeom>
          <a:ln w="76200"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856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5E688-318B-C7DE-C255-6AE11C056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98D2A-5F52-C500-99DB-6FAD61F00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 to research-level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9F510-5EF3-0CB9-2F63-74B15ECF9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prior knowledge on</a:t>
            </a:r>
            <a:br>
              <a:rPr lang="en-US" dirty="0"/>
            </a:br>
            <a:r>
              <a:rPr lang="en-US" dirty="0"/>
              <a:t>distributed systems expected</a:t>
            </a:r>
          </a:p>
          <a:p>
            <a:r>
              <a:rPr lang="en-US" dirty="0"/>
              <a:t>We will reach topics close</a:t>
            </a:r>
            <a:br>
              <a:rPr lang="en-US" dirty="0"/>
            </a:br>
            <a:r>
              <a:rPr lang="en-US" dirty="0"/>
              <a:t>to current research by</a:t>
            </a:r>
            <a:br>
              <a:rPr lang="en-US" dirty="0"/>
            </a:br>
            <a:r>
              <a:rPr lang="en-US" dirty="0"/>
              <a:t>the end of the course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1B0CAC2-8EB9-5CCD-7769-29F5CF3DE567}"/>
              </a:ext>
            </a:extLst>
          </p:cNvPr>
          <p:cNvSpPr/>
          <p:nvPr/>
        </p:nvSpPr>
        <p:spPr>
          <a:xfrm>
            <a:off x="6954829" y="4022996"/>
            <a:ext cx="4398971" cy="2153967"/>
          </a:xfrm>
          <a:prstGeom prst="roundRect">
            <a:avLst>
              <a:gd name="adj" fmla="val 106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r>
              <a:rPr lang="en-US" sz="3200" b="1" dirty="0">
                <a:latin typeface="Bernino Sans Semibold" pitchFamily="2" charset="77"/>
              </a:rPr>
              <a:t>Good start for</a:t>
            </a:r>
            <a:br>
              <a:rPr lang="en-US" sz="3200" b="1" dirty="0">
                <a:latin typeface="Bernino Sans Semibold" pitchFamily="2" charset="77"/>
              </a:rPr>
            </a:br>
            <a:r>
              <a:rPr lang="en-US" sz="3200" b="1" dirty="0">
                <a:latin typeface="Bernino Sans Semibold" pitchFamily="2" charset="77"/>
              </a:rPr>
              <a:t>a Master’s thesis</a:t>
            </a:r>
            <a:br>
              <a:rPr lang="en-US" sz="3200" b="1" dirty="0">
                <a:latin typeface="Bernino Sans Semibold" pitchFamily="2" charset="77"/>
              </a:rPr>
            </a:br>
            <a:r>
              <a:rPr lang="en-US" sz="3200" b="1" dirty="0">
                <a:latin typeface="Bernino Sans Semibold" pitchFamily="2" charset="77"/>
              </a:rPr>
              <a:t>or PhD studies</a:t>
            </a:r>
          </a:p>
        </p:txBody>
      </p:sp>
    </p:spTree>
    <p:extLst>
      <p:ext uri="{BB962C8B-B14F-4D97-AF65-F5344CB8AC3E}">
        <p14:creationId xmlns:p14="http://schemas.microsoft.com/office/powerpoint/2010/main" val="3909060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A720-2910-AA42-9FE8-0472D773C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theory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6FB87-E62F-184B-A1DE-A71B8751E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100% mathematics</a:t>
            </a:r>
          </a:p>
          <a:p>
            <a:pPr lvl="1"/>
            <a:r>
              <a:rPr lang="en-US" dirty="0"/>
              <a:t>definitions</a:t>
            </a:r>
          </a:p>
          <a:p>
            <a:pPr lvl="1"/>
            <a:r>
              <a:rPr lang="en-US" dirty="0"/>
              <a:t>theorems</a:t>
            </a:r>
          </a:p>
          <a:p>
            <a:pPr lvl="1"/>
            <a:r>
              <a:rPr lang="en-US" dirty="0"/>
              <a:t>proofs …</a:t>
            </a:r>
          </a:p>
          <a:p>
            <a:r>
              <a:rPr lang="en-US" b="1" dirty="0">
                <a:latin typeface="Bernino Sans" pitchFamily="2" charset="77"/>
              </a:rPr>
              <a:t>0% practice</a:t>
            </a:r>
          </a:p>
          <a:p>
            <a:pPr lvl="1"/>
            <a:r>
              <a:rPr lang="en-US" dirty="0"/>
              <a:t>programming</a:t>
            </a:r>
          </a:p>
          <a:p>
            <a:pPr lvl="1"/>
            <a:r>
              <a:rPr lang="en-US" dirty="0"/>
              <a:t>hardware</a:t>
            </a:r>
          </a:p>
          <a:p>
            <a:pPr lvl="1"/>
            <a:r>
              <a:rPr lang="en-US" dirty="0"/>
              <a:t>protocols …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67D570-C292-6C4B-9068-CECCF42B46B4}"/>
              </a:ext>
            </a:extLst>
          </p:cNvPr>
          <p:cNvSpPr/>
          <p:nvPr/>
        </p:nvSpPr>
        <p:spPr>
          <a:xfrm>
            <a:off x="7693572" y="2333298"/>
            <a:ext cx="4080984" cy="3978602"/>
          </a:xfrm>
          <a:prstGeom prst="roundRect">
            <a:avLst>
              <a:gd name="adj" fmla="val 106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r>
              <a:rPr lang="en-US" sz="3200" b="1" dirty="0">
                <a:latin typeface="Bernino Sans Semibold" pitchFamily="2" charset="77"/>
              </a:rPr>
              <a:t>Expected: basic knowledge of university-level mathematics</a:t>
            </a:r>
          </a:p>
          <a:p>
            <a:pPr algn="ctr">
              <a:spcBef>
                <a:spcPts val="2000"/>
              </a:spcBef>
            </a:pPr>
            <a:r>
              <a:rPr lang="en-US" sz="2800" dirty="0">
                <a:latin typeface="Bernino Sans" pitchFamily="2" charset="77"/>
              </a:rPr>
              <a:t>Example: what is a mathematical proof</a:t>
            </a:r>
          </a:p>
        </p:txBody>
      </p:sp>
    </p:spTree>
    <p:extLst>
      <p:ext uri="{BB962C8B-B14F-4D97-AF65-F5344CB8AC3E}">
        <p14:creationId xmlns:p14="http://schemas.microsoft.com/office/powerpoint/2010/main" val="3623397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00835-462A-B644-B2DA-3EACEE575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D888A-D209-EB4A-8846-0640B86D4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have already done this:</a:t>
            </a:r>
          </a:p>
          <a:p>
            <a:pPr lvl="1"/>
            <a:r>
              <a:rPr lang="en-US" dirty="0"/>
              <a:t>register in </a:t>
            </a:r>
            <a:r>
              <a:rPr lang="en-US" b="1" dirty="0" err="1">
                <a:solidFill>
                  <a:schemeClr val="accent2"/>
                </a:solidFill>
                <a:latin typeface="Bernino Sans" pitchFamily="2" charset="77"/>
              </a:rPr>
              <a:t>Sisu</a:t>
            </a:r>
            <a:endParaRPr lang="en-US" b="1" dirty="0">
              <a:solidFill>
                <a:schemeClr val="accent2"/>
              </a:solidFill>
              <a:latin typeface="Bernino Sans" pitchFamily="2" charset="77"/>
            </a:endParaRPr>
          </a:p>
          <a:p>
            <a:pPr lvl="1"/>
            <a:r>
              <a:rPr lang="en-US" dirty="0"/>
              <a:t>read instructions in </a:t>
            </a:r>
            <a:r>
              <a:rPr lang="en-US" b="1" dirty="0">
                <a:solidFill>
                  <a:schemeClr val="accent2"/>
                </a:solidFill>
                <a:latin typeface="Bernino Sans" pitchFamily="2" charset="77"/>
              </a:rPr>
              <a:t>MyCourses</a:t>
            </a:r>
          </a:p>
          <a:p>
            <a:pPr lvl="1"/>
            <a:r>
              <a:rPr lang="en-US" dirty="0"/>
              <a:t>join our </a:t>
            </a:r>
            <a:r>
              <a:rPr lang="en-US" b="1" dirty="0" err="1">
                <a:solidFill>
                  <a:schemeClr val="accent2"/>
                </a:solidFill>
                <a:latin typeface="Bernino Sans" pitchFamily="2" charset="77"/>
              </a:rPr>
              <a:t>Zulip</a:t>
            </a:r>
            <a:r>
              <a:rPr lang="en-US" b="1" dirty="0">
                <a:solidFill>
                  <a:schemeClr val="accent2"/>
                </a:solidFill>
                <a:latin typeface="Bernino Sans" pitchFamily="2" charset="77"/>
              </a:rPr>
              <a:t> workspace</a:t>
            </a:r>
          </a:p>
          <a:p>
            <a:pPr lvl="1"/>
            <a:r>
              <a:rPr lang="en-US" dirty="0"/>
              <a:t>watch two </a:t>
            </a:r>
            <a:r>
              <a:rPr lang="en-US" b="1" dirty="0">
                <a:solidFill>
                  <a:schemeClr val="accent2"/>
                </a:solidFill>
                <a:latin typeface="Bernino Sans" pitchFamily="2" charset="77"/>
              </a:rPr>
              <a:t>pre-recorded videos</a:t>
            </a:r>
          </a:p>
          <a:p>
            <a:pPr lvl="1"/>
            <a:r>
              <a:rPr lang="en-US" dirty="0"/>
              <a:t>solve this week’s </a:t>
            </a:r>
            <a:r>
              <a:rPr lang="en-US" b="1" dirty="0">
                <a:solidFill>
                  <a:schemeClr val="accent2"/>
                </a:solidFill>
                <a:latin typeface="Bernino Sans" pitchFamily="2" charset="77"/>
              </a:rPr>
              <a:t>quiz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C6002CDC-79E4-1043-B423-E76723112913}"/>
              </a:ext>
            </a:extLst>
          </p:cNvPr>
          <p:cNvSpPr/>
          <p:nvPr/>
        </p:nvSpPr>
        <p:spPr>
          <a:xfrm>
            <a:off x="6833569" y="4769286"/>
            <a:ext cx="3992648" cy="1625904"/>
          </a:xfrm>
          <a:prstGeom prst="wedgeRoundRectCallout">
            <a:avLst>
              <a:gd name="adj1" fmla="val -72779"/>
              <a:gd name="adj2" fmla="val -46530"/>
              <a:gd name="adj3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Bernino Sans Semibold" pitchFamily="2" charset="77"/>
              </a:rPr>
              <a:t>This week: extra time</a:t>
            </a:r>
            <a:br>
              <a:rPr lang="en-US" sz="2400" b="1" dirty="0">
                <a:latin typeface="Bernino Sans Semibold" pitchFamily="2" charset="77"/>
              </a:rPr>
            </a:br>
            <a:r>
              <a:rPr lang="en-US" sz="2400" b="1" dirty="0">
                <a:latin typeface="Bernino Sans Semibold" pitchFamily="2" charset="77"/>
              </a:rPr>
              <a:t>to solve the quiz until midnight tomorrow!</a:t>
            </a:r>
          </a:p>
        </p:txBody>
      </p:sp>
    </p:spTree>
    <p:extLst>
      <p:ext uri="{BB962C8B-B14F-4D97-AF65-F5344CB8AC3E}">
        <p14:creationId xmlns:p14="http://schemas.microsoft.com/office/powerpoint/2010/main" val="2709597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F2756-D5CC-BC43-A091-6E0F72B8C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weekly routine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96686-AA28-D94C-B6DC-CF94772B2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Mon: </a:t>
            </a:r>
            <a:r>
              <a:rPr lang="en-US" dirty="0"/>
              <a:t>videos, quiz, lecture (</a:t>
            </a:r>
            <a:r>
              <a:rPr lang="en-US" dirty="0">
                <a:solidFill>
                  <a:schemeClr val="accent1"/>
                </a:solidFill>
                <a:latin typeface="Bernino Sans" pitchFamily="2" charset="77"/>
              </a:rPr>
              <a:t>10:15pm</a:t>
            </a:r>
            <a:r>
              <a:rPr lang="en-US" dirty="0"/>
              <a:t>)</a:t>
            </a:r>
          </a:p>
          <a:p>
            <a:r>
              <a:rPr lang="en-US" b="1" dirty="0">
                <a:latin typeface="Bernino Sans" pitchFamily="2" charset="77"/>
              </a:rPr>
              <a:t>Wed: </a:t>
            </a:r>
            <a:r>
              <a:rPr lang="en-US" dirty="0"/>
              <a:t>1 exercise (</a:t>
            </a:r>
            <a:r>
              <a:rPr lang="en-US" dirty="0">
                <a:solidFill>
                  <a:schemeClr val="accent2"/>
                </a:solidFill>
                <a:latin typeface="Bernino Sans" pitchFamily="2" charset="77"/>
              </a:rPr>
              <a:t>midnight</a:t>
            </a:r>
            <a:r>
              <a:rPr lang="en-US" dirty="0"/>
              <a:t>)</a:t>
            </a:r>
          </a:p>
          <a:p>
            <a:r>
              <a:rPr lang="en-US" b="1" dirty="0">
                <a:latin typeface="Bernino Sans" pitchFamily="2" charset="77"/>
              </a:rPr>
              <a:t>Thu: </a:t>
            </a:r>
            <a:r>
              <a:rPr lang="en-US" dirty="0"/>
              <a:t>exercise session (</a:t>
            </a:r>
            <a:r>
              <a:rPr lang="en-US" dirty="0">
                <a:solidFill>
                  <a:schemeClr val="accent1"/>
                </a:solidFill>
                <a:latin typeface="Bernino Sans" pitchFamily="2" charset="77"/>
              </a:rPr>
              <a:t>10:15am</a:t>
            </a:r>
            <a:r>
              <a:rPr lang="en-US" dirty="0"/>
              <a:t>)</a:t>
            </a:r>
          </a:p>
          <a:p>
            <a:r>
              <a:rPr lang="en-US" b="1" dirty="0">
                <a:latin typeface="Bernino Sans" pitchFamily="2" charset="77"/>
              </a:rPr>
              <a:t>Fri: </a:t>
            </a:r>
            <a:r>
              <a:rPr lang="en-US" dirty="0"/>
              <a:t>2 exercises (</a:t>
            </a:r>
            <a:r>
              <a:rPr lang="en-US" dirty="0">
                <a:solidFill>
                  <a:schemeClr val="accent2"/>
                </a:solidFill>
                <a:latin typeface="Bernino Sans" pitchFamily="2" charset="77"/>
              </a:rPr>
              <a:t>midnight</a:t>
            </a:r>
            <a:r>
              <a:rPr lang="en-US" dirty="0"/>
              <a:t>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26989E2-AB00-994E-8C8D-06EF0ED1D83A}"/>
              </a:ext>
            </a:extLst>
          </p:cNvPr>
          <p:cNvSpPr/>
          <p:nvPr/>
        </p:nvSpPr>
        <p:spPr>
          <a:xfrm>
            <a:off x="8408277" y="5065986"/>
            <a:ext cx="3415862" cy="1492469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Bernino Sans Semibold" pitchFamily="2" charset="77"/>
              </a:rPr>
              <a:t>Workload:</a:t>
            </a:r>
          </a:p>
          <a:p>
            <a:pPr algn="ctr"/>
            <a:r>
              <a:rPr lang="en-US" sz="3200" b="1" dirty="0">
                <a:latin typeface="Bernino Sans Semibold" pitchFamily="2" charset="77"/>
              </a:rPr>
              <a:t>10–11 h/week</a:t>
            </a:r>
          </a:p>
        </p:txBody>
      </p:sp>
    </p:spTree>
    <p:extLst>
      <p:ext uri="{BB962C8B-B14F-4D97-AF65-F5344CB8AC3E}">
        <p14:creationId xmlns:p14="http://schemas.microsoft.com/office/powerpoint/2010/main" val="648170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FF711-E341-1347-9E29-B7FA39DE7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439B7-9D49-F64C-A901-AF396A3BA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quiz per week, in </a:t>
            </a:r>
            <a:r>
              <a:rPr lang="en-US" b="1" dirty="0">
                <a:latin typeface="Bernino Sans" pitchFamily="2" charset="77"/>
              </a:rPr>
              <a:t>MyCourses</a:t>
            </a:r>
          </a:p>
          <a:p>
            <a:r>
              <a:rPr lang="en-US" dirty="0"/>
              <a:t>Solve before the lecture</a:t>
            </a:r>
          </a:p>
          <a:p>
            <a:r>
              <a:rPr lang="en-US" dirty="0"/>
              <a:t>Automatically graded</a:t>
            </a:r>
          </a:p>
          <a:p>
            <a:pPr lvl="1"/>
            <a:r>
              <a:rPr lang="en-US" dirty="0"/>
              <a:t>2 points for correct answer</a:t>
            </a:r>
          </a:p>
          <a:p>
            <a:pPr lvl="1"/>
            <a:r>
              <a:rPr lang="en-US" dirty="0"/>
              <a:t>0.5-point penalty per wrong answer</a:t>
            </a:r>
          </a:p>
        </p:txBody>
      </p:sp>
    </p:spTree>
    <p:extLst>
      <p:ext uri="{BB962C8B-B14F-4D97-AF65-F5344CB8AC3E}">
        <p14:creationId xmlns:p14="http://schemas.microsoft.com/office/powerpoint/2010/main" val="3908210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5EEDE-6A5C-264D-86CC-52F4C0FF9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81F44-3EA0-3749-8EB6-94D2D6F46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5+ exercises per week, in the </a:t>
            </a:r>
            <a:r>
              <a:rPr lang="en-US" b="1" dirty="0">
                <a:latin typeface="Bernino Sans" pitchFamily="2" charset="77"/>
              </a:rPr>
              <a:t>textbook</a:t>
            </a:r>
          </a:p>
          <a:p>
            <a:r>
              <a:rPr lang="en-US" dirty="0"/>
              <a:t>Solve 1 by </a:t>
            </a:r>
            <a:r>
              <a:rPr lang="en-US" b="1" i="1" dirty="0">
                <a:solidFill>
                  <a:schemeClr val="accent1"/>
                </a:solidFill>
                <a:latin typeface="Bernino Sans Semibold" pitchFamily="2" charset="77"/>
              </a:rPr>
              <a:t>Wednesday</a:t>
            </a:r>
            <a:r>
              <a:rPr lang="en-US" dirty="0"/>
              <a:t>, 2 more by </a:t>
            </a:r>
            <a:r>
              <a:rPr lang="en-US" b="1" i="1" dirty="0">
                <a:solidFill>
                  <a:schemeClr val="accent1"/>
                </a:solidFill>
                <a:latin typeface="Bernino Sans Semibold" pitchFamily="2" charset="77"/>
              </a:rPr>
              <a:t>Friday</a:t>
            </a:r>
          </a:p>
          <a:p>
            <a:r>
              <a:rPr lang="en-US" dirty="0"/>
              <a:t>Submit your answers in </a:t>
            </a:r>
            <a:r>
              <a:rPr lang="en-US" b="1" dirty="0">
                <a:latin typeface="Bernino Sans" pitchFamily="2" charset="77"/>
              </a:rPr>
              <a:t>MyCourses</a:t>
            </a:r>
          </a:p>
          <a:p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The answers need to be complete</a:t>
            </a:r>
          </a:p>
          <a:p>
            <a:pPr lvl="1"/>
            <a:r>
              <a:rPr lang="en-US" dirty="0"/>
              <a:t>full details, complete proofs</a:t>
            </a:r>
          </a:p>
          <a:p>
            <a:pPr lvl="1"/>
            <a:r>
              <a:rPr lang="en-US" dirty="0"/>
              <a:t>e.g. why does your algorithm work correctly?</a:t>
            </a:r>
          </a:p>
          <a:p>
            <a:pPr lvl="1"/>
            <a:r>
              <a:rPr lang="en-US" dirty="0"/>
              <a:t>ask if unclear!</a:t>
            </a:r>
          </a:p>
        </p:txBody>
      </p:sp>
    </p:spTree>
    <p:extLst>
      <p:ext uri="{BB962C8B-B14F-4D97-AF65-F5344CB8AC3E}">
        <p14:creationId xmlns:p14="http://schemas.microsoft.com/office/powerpoint/2010/main" val="931641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7976B-B2B3-594B-9F67-6F18098AD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Challenging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F60FB-E94B-BB47-886F-36C7F4642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textbook, marked with a star</a:t>
            </a:r>
          </a:p>
          <a:p>
            <a:r>
              <a:rPr lang="en-US" dirty="0"/>
              <a:t>Solve </a:t>
            </a:r>
            <a:r>
              <a:rPr lang="en-US" b="1" i="1" dirty="0">
                <a:solidFill>
                  <a:schemeClr val="accent1"/>
                </a:solidFill>
                <a:latin typeface="Bernino Sans Semibold" pitchFamily="2" charset="77"/>
              </a:rPr>
              <a:t>at any point </a:t>
            </a:r>
            <a:r>
              <a:rPr lang="en-US" dirty="0"/>
              <a:t>during the course</a:t>
            </a:r>
          </a:p>
          <a:p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Again, the answers need to be complete</a:t>
            </a:r>
          </a:p>
        </p:txBody>
      </p:sp>
      <p:sp>
        <p:nvSpPr>
          <p:cNvPr id="5" name="5-Point Star 4">
            <a:extLst>
              <a:ext uri="{FF2B5EF4-FFF2-40B4-BE49-F238E27FC236}">
                <a16:creationId xmlns:a16="http://schemas.microsoft.com/office/drawing/2014/main" id="{C9B0BFE6-8876-1D4A-8927-9A6D458D568D}"/>
              </a:ext>
            </a:extLst>
          </p:cNvPr>
          <p:cNvSpPr/>
          <p:nvPr/>
        </p:nvSpPr>
        <p:spPr>
          <a:xfrm>
            <a:off x="8901397" y="1794095"/>
            <a:ext cx="509865" cy="509865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latin typeface="Bernino Sa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90738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03644-7CBE-8145-A89A-6E29A9CAE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D5B1A-E943-1047-86D1-5B84CDC4C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To pass the course:</a:t>
            </a:r>
          </a:p>
          <a:p>
            <a:pPr lvl="1"/>
            <a:r>
              <a:rPr lang="en-US" dirty="0"/>
              <a:t>you need to pass both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exams</a:t>
            </a:r>
          </a:p>
          <a:p>
            <a:r>
              <a:rPr lang="en-US" b="1" dirty="0">
                <a:latin typeface="Bernino Sans" pitchFamily="2" charset="77"/>
              </a:rPr>
              <a:t>For a good grade:</a:t>
            </a:r>
          </a:p>
          <a:p>
            <a:pPr lvl="1"/>
            <a:r>
              <a:rPr lang="en-US" dirty="0"/>
              <a:t>you need to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solve exercises</a:t>
            </a:r>
          </a:p>
          <a:p>
            <a:pPr lvl="1"/>
            <a:r>
              <a:rPr lang="en-US" dirty="0"/>
              <a:t>quiz + exercises = max 96 points in total</a:t>
            </a:r>
          </a:p>
          <a:p>
            <a:pPr lvl="1"/>
            <a:r>
              <a:rPr lang="en-US" dirty="0"/>
              <a:t>80 points = grade 5/5</a:t>
            </a:r>
          </a:p>
        </p:txBody>
      </p:sp>
    </p:spTree>
    <p:extLst>
      <p:ext uri="{BB962C8B-B14F-4D97-AF65-F5344CB8AC3E}">
        <p14:creationId xmlns:p14="http://schemas.microsoft.com/office/powerpoint/2010/main" val="37916639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B59E2F-E7C4-1C43-AF60-D37F90B6C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week’s content…</a:t>
            </a:r>
          </a:p>
        </p:txBody>
      </p:sp>
    </p:spTree>
    <p:extLst>
      <p:ext uri="{BB962C8B-B14F-4D97-AF65-F5344CB8AC3E}">
        <p14:creationId xmlns:p14="http://schemas.microsoft.com/office/powerpoint/2010/main" val="846313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46350-AB51-FA4B-9C3B-EFF77FF8B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1a: introduction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C51F956-0C5C-8F40-B800-7E1C856F50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842694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4288B-4057-3F43-968C-4B366FF77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1b: coloring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263B8B1-F875-C045-AD54-49EAA6FD4A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796982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773FA-B56E-6F46-87BD-C56F7485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Slow color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4128C-16D7-894C-AFAA-F9DB8EDEA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 idea:</a:t>
            </a:r>
          </a:p>
          <a:p>
            <a:pPr lvl="1"/>
            <a:r>
              <a:rPr lang="en-US" dirty="0"/>
              <a:t>all nodes with the </a:t>
            </a:r>
            <a:r>
              <a:rPr lang="en-US" b="1" dirty="0">
                <a:latin typeface="Bernino Sans" pitchFamily="2" charset="77"/>
              </a:rPr>
              <a:t>largest color </a:t>
            </a:r>
            <a:r>
              <a:rPr lang="en-US" dirty="0"/>
              <a:t>are active</a:t>
            </a:r>
          </a:p>
          <a:p>
            <a:pPr lvl="1"/>
            <a:r>
              <a:rPr lang="en-US" dirty="0"/>
              <a:t>active nodes pick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smallest color</a:t>
            </a:r>
            <a:b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</a:b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that is not used</a:t>
            </a:r>
            <a:b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</a:b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by their neighbors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F1F58B-4740-064B-B4F2-A2C95F407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429000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416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773FA-B56E-6F46-87BD-C56F7485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Puzzle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4128C-16D7-894C-AFAA-F9DB8EDEA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 simpler algorithm idea:</a:t>
            </a:r>
          </a:p>
          <a:p>
            <a:pPr lvl="1"/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all nodes </a:t>
            </a:r>
            <a:r>
              <a:rPr lang="en-US" dirty="0"/>
              <a:t>pick the smallest color that</a:t>
            </a:r>
            <a:br>
              <a:rPr lang="en-US" dirty="0"/>
            </a:br>
            <a:r>
              <a:rPr lang="en-US" dirty="0"/>
              <a:t>is not used by their neighbors</a:t>
            </a:r>
          </a:p>
          <a:p>
            <a:r>
              <a:rPr lang="en-US" b="1" dirty="0">
                <a:latin typeface="Bernino Sans" pitchFamily="2" charset="77"/>
              </a:rPr>
              <a:t>What would go wrong?</a:t>
            </a:r>
          </a:p>
          <a:p>
            <a:pPr lvl="1"/>
            <a:r>
              <a:rPr lang="en-US" i="1" dirty="0"/>
              <a:t>construct an example in which this algorithm fails!</a:t>
            </a:r>
          </a:p>
        </p:txBody>
      </p:sp>
    </p:spTree>
    <p:extLst>
      <p:ext uri="{BB962C8B-B14F-4D97-AF65-F5344CB8AC3E}">
        <p14:creationId xmlns:p14="http://schemas.microsoft.com/office/powerpoint/2010/main" val="3336829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4288B-4057-3F43-968C-4B366FF77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1b: coloring fast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267BA3F-52BD-3E40-A944-BA01418202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25625"/>
            <a:ext cx="7735712" cy="4351338"/>
          </a:xfrm>
        </p:spPr>
      </p:pic>
    </p:spTree>
    <p:extLst>
      <p:ext uri="{BB962C8B-B14F-4D97-AF65-F5344CB8AC3E}">
        <p14:creationId xmlns:p14="http://schemas.microsoft.com/office/powerpoint/2010/main" val="2964503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C402A-89D6-8D4E-A8F5-0970DE500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color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9944B-783B-BC4C-A412-435F6089F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 idea:</a:t>
            </a:r>
          </a:p>
          <a:p>
            <a:pPr lvl="1"/>
            <a:r>
              <a:rPr lang="en-US" dirty="0"/>
              <a:t>find the first bit that differs in successor</a:t>
            </a:r>
          </a:p>
          <a:p>
            <a:pPr lvl="1"/>
            <a:r>
              <a:rPr lang="en-US" dirty="0"/>
              <a:t>index </a:t>
            </a:r>
            <a:r>
              <a:rPr lang="en-US" b="1" i="1" dirty="0" err="1">
                <a:solidFill>
                  <a:schemeClr val="accent2"/>
                </a:solidFill>
                <a:latin typeface="Bernino Sans Semibold" pitchFamily="2" charset="77"/>
              </a:rPr>
              <a:t>i</a:t>
            </a:r>
            <a:r>
              <a:rPr lang="en-US" dirty="0"/>
              <a:t>, bit value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b</a:t>
            </a:r>
          </a:p>
          <a:p>
            <a:pPr lvl="1"/>
            <a:r>
              <a:rPr lang="en-US" dirty="0"/>
              <a:t>new color is (</a:t>
            </a:r>
            <a:r>
              <a:rPr lang="en-US" b="1" i="1" dirty="0" err="1">
                <a:solidFill>
                  <a:schemeClr val="accent2"/>
                </a:solidFill>
                <a:latin typeface="Bernino Sans Semibold" pitchFamily="2" charset="77"/>
              </a:rPr>
              <a:t>i</a:t>
            </a:r>
            <a:r>
              <a:rPr lang="en-US" dirty="0"/>
              <a:t>,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b</a:t>
            </a:r>
            <a:r>
              <a:rPr lang="en-US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75956A-472F-2641-9F58-595F38E0A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3429000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274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C402A-89D6-8D4E-A8F5-0970DE500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Puzzle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9944B-783B-BC4C-A412-435F6089F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 idea:</a:t>
            </a:r>
          </a:p>
          <a:p>
            <a:pPr lvl="1"/>
            <a:r>
              <a:rPr lang="en-US" dirty="0"/>
              <a:t>find the first bit that differs in successor</a:t>
            </a:r>
          </a:p>
          <a:p>
            <a:pPr lvl="1"/>
            <a:r>
              <a:rPr lang="en-US" dirty="0"/>
              <a:t>index </a:t>
            </a:r>
            <a:r>
              <a:rPr lang="en-US" b="1" i="1" dirty="0" err="1">
                <a:solidFill>
                  <a:schemeClr val="accent2"/>
                </a:solidFill>
                <a:latin typeface="Bernino Sans Semibold" pitchFamily="2" charset="77"/>
              </a:rPr>
              <a:t>i</a:t>
            </a:r>
            <a:r>
              <a:rPr lang="en-US" dirty="0"/>
              <a:t>, bit value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b</a:t>
            </a:r>
          </a:p>
          <a:p>
            <a:pPr lvl="1"/>
            <a:r>
              <a:rPr lang="en-US" dirty="0"/>
              <a:t>new color is (</a:t>
            </a:r>
            <a:r>
              <a:rPr lang="en-US" b="1" i="1" dirty="0" err="1">
                <a:solidFill>
                  <a:schemeClr val="accent2"/>
                </a:solidFill>
                <a:latin typeface="Bernino Sans Semibold" pitchFamily="2" charset="77"/>
              </a:rPr>
              <a:t>i</a:t>
            </a:r>
            <a:r>
              <a:rPr lang="en-US" dirty="0"/>
              <a:t>,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b</a:t>
            </a:r>
            <a:r>
              <a:rPr lang="en-US" dirty="0"/>
              <a:t>)</a:t>
            </a:r>
          </a:p>
          <a:p>
            <a:r>
              <a:rPr lang="en-US" b="1" dirty="0">
                <a:latin typeface="Bernino Sans" pitchFamily="2" charset="77"/>
              </a:rPr>
              <a:t>What would go wrong if the new color</a:t>
            </a:r>
            <a:br>
              <a:rPr lang="en-US" b="1" dirty="0">
                <a:latin typeface="Bernino Sans" pitchFamily="2" charset="77"/>
              </a:rPr>
            </a:br>
            <a:r>
              <a:rPr lang="en-US" b="1" dirty="0">
                <a:latin typeface="Bernino Sans" pitchFamily="2" charset="77"/>
              </a:rPr>
              <a:t>was just </a:t>
            </a:r>
            <a:r>
              <a:rPr lang="en-US" b="1" i="1" dirty="0">
                <a:solidFill>
                  <a:schemeClr val="accent2"/>
                </a:solidFill>
                <a:latin typeface="Bernino Sans" pitchFamily="2" charset="77"/>
              </a:rPr>
              <a:t>b</a:t>
            </a:r>
            <a:r>
              <a:rPr lang="en-US" sz="1200" b="1" dirty="0">
                <a:solidFill>
                  <a:schemeClr val="accent2"/>
                </a:solidFill>
                <a:latin typeface="Bernino Sans" pitchFamily="2" charset="77"/>
              </a:rPr>
              <a:t> </a:t>
            </a:r>
            <a:r>
              <a:rPr lang="en-US" b="1" dirty="0">
                <a:latin typeface="Bernino Sans" pitchFamily="2" charset="77"/>
              </a:rPr>
              <a:t>?</a:t>
            </a:r>
            <a:endParaRPr lang="en-US" dirty="0"/>
          </a:p>
          <a:p>
            <a:pPr lvl="1"/>
            <a:r>
              <a:rPr lang="en-US" i="1" dirty="0"/>
              <a:t>construct an example in which it fails!</a:t>
            </a:r>
          </a:p>
        </p:txBody>
      </p:sp>
    </p:spTree>
    <p:extLst>
      <p:ext uri="{BB962C8B-B14F-4D97-AF65-F5344CB8AC3E}">
        <p14:creationId xmlns:p14="http://schemas.microsoft.com/office/powerpoint/2010/main" val="2484662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C402A-89D6-8D4E-A8F5-0970DE500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Puzzle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9944B-783B-BC4C-A412-435F6089F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 idea:</a:t>
            </a:r>
          </a:p>
          <a:p>
            <a:pPr lvl="1"/>
            <a:r>
              <a:rPr lang="en-US" dirty="0"/>
              <a:t>find the first bit that differs in successor</a:t>
            </a:r>
          </a:p>
          <a:p>
            <a:pPr lvl="1"/>
            <a:r>
              <a:rPr lang="en-US" dirty="0"/>
              <a:t>index </a:t>
            </a:r>
            <a:r>
              <a:rPr lang="en-US" b="1" i="1" dirty="0" err="1">
                <a:solidFill>
                  <a:schemeClr val="accent2"/>
                </a:solidFill>
                <a:latin typeface="Bernino Sans Semibold" pitchFamily="2" charset="77"/>
              </a:rPr>
              <a:t>i</a:t>
            </a:r>
            <a:r>
              <a:rPr lang="en-US" dirty="0"/>
              <a:t>, bit value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b</a:t>
            </a:r>
          </a:p>
          <a:p>
            <a:pPr lvl="1"/>
            <a:r>
              <a:rPr lang="en-US" dirty="0"/>
              <a:t>new color is (</a:t>
            </a:r>
            <a:r>
              <a:rPr lang="en-US" b="1" i="1" dirty="0" err="1">
                <a:solidFill>
                  <a:schemeClr val="accent2"/>
                </a:solidFill>
                <a:latin typeface="Bernino Sans Semibold" pitchFamily="2" charset="77"/>
              </a:rPr>
              <a:t>i</a:t>
            </a:r>
            <a:r>
              <a:rPr lang="en-US" dirty="0"/>
              <a:t>,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b</a:t>
            </a:r>
            <a:r>
              <a:rPr lang="en-US" dirty="0"/>
              <a:t>)</a:t>
            </a:r>
          </a:p>
          <a:p>
            <a:r>
              <a:rPr lang="en-US" b="1" dirty="0">
                <a:latin typeface="Bernino Sans" pitchFamily="2" charset="77"/>
              </a:rPr>
              <a:t>What would go wrong if the new color</a:t>
            </a:r>
            <a:br>
              <a:rPr lang="en-US" b="1" dirty="0">
                <a:latin typeface="Bernino Sans" pitchFamily="2" charset="77"/>
              </a:rPr>
            </a:br>
            <a:r>
              <a:rPr lang="en-US" b="1" dirty="0">
                <a:latin typeface="Bernino Sans" pitchFamily="2" charset="77"/>
              </a:rPr>
              <a:t>was just </a:t>
            </a:r>
            <a:r>
              <a:rPr lang="en-US" b="1" i="1" dirty="0" err="1">
                <a:solidFill>
                  <a:schemeClr val="accent2"/>
                </a:solidFill>
                <a:latin typeface="Bernino Sans" pitchFamily="2" charset="77"/>
              </a:rPr>
              <a:t>i</a:t>
            </a:r>
            <a:r>
              <a:rPr lang="en-US" sz="1200" b="1" dirty="0">
                <a:solidFill>
                  <a:schemeClr val="accent2"/>
                </a:solidFill>
                <a:latin typeface="Bernino Sans" pitchFamily="2" charset="77"/>
              </a:rPr>
              <a:t> </a:t>
            </a:r>
            <a:r>
              <a:rPr lang="en-US" b="1" dirty="0">
                <a:latin typeface="Bernino Sans" pitchFamily="2" charset="77"/>
              </a:rPr>
              <a:t>?</a:t>
            </a:r>
          </a:p>
          <a:p>
            <a:pPr lvl="1"/>
            <a:r>
              <a:rPr lang="en-US" i="1" dirty="0"/>
              <a:t>construct an example in which it fails!</a:t>
            </a:r>
          </a:p>
        </p:txBody>
      </p:sp>
    </p:spTree>
    <p:extLst>
      <p:ext uri="{BB962C8B-B14F-4D97-AF65-F5344CB8AC3E}">
        <p14:creationId xmlns:p14="http://schemas.microsoft.com/office/powerpoint/2010/main" val="2187972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C402A-89D6-8D4E-A8F5-0970DE500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Puzzle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9944B-783B-BC4C-A412-435F6089F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 idea:</a:t>
            </a:r>
          </a:p>
          <a:p>
            <a:pPr lvl="1"/>
            <a:r>
              <a:rPr lang="en-US" dirty="0"/>
              <a:t>find the first bit that differs in successor</a:t>
            </a:r>
          </a:p>
          <a:p>
            <a:pPr lvl="1"/>
            <a:r>
              <a:rPr lang="en-US" dirty="0"/>
              <a:t>index </a:t>
            </a:r>
            <a:r>
              <a:rPr lang="en-US" b="1" i="1" dirty="0" err="1">
                <a:solidFill>
                  <a:schemeClr val="accent2"/>
                </a:solidFill>
                <a:latin typeface="Bernino Sans Semibold" pitchFamily="2" charset="77"/>
              </a:rPr>
              <a:t>i</a:t>
            </a:r>
            <a:r>
              <a:rPr lang="en-US" dirty="0"/>
              <a:t>, bit value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b</a:t>
            </a:r>
          </a:p>
          <a:p>
            <a:pPr lvl="1"/>
            <a:r>
              <a:rPr lang="en-US" dirty="0"/>
              <a:t>new color is (</a:t>
            </a:r>
            <a:r>
              <a:rPr lang="en-US" b="1" i="1" dirty="0" err="1">
                <a:solidFill>
                  <a:schemeClr val="accent2"/>
                </a:solidFill>
                <a:latin typeface="Bernino Sans Semibold" pitchFamily="2" charset="77"/>
              </a:rPr>
              <a:t>i</a:t>
            </a:r>
            <a:r>
              <a:rPr lang="en-US" dirty="0"/>
              <a:t>,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b</a:t>
            </a:r>
            <a:r>
              <a:rPr lang="en-US" dirty="0"/>
              <a:t>)</a:t>
            </a:r>
          </a:p>
          <a:p>
            <a:r>
              <a:rPr lang="en-US" b="1" dirty="0">
                <a:latin typeface="Bernino Sans" pitchFamily="2" charset="77"/>
              </a:rPr>
              <a:t>Why does the algorithm work correctly?</a:t>
            </a:r>
          </a:p>
          <a:p>
            <a:pPr lvl="1"/>
            <a:r>
              <a:rPr lang="en-US" i="1" dirty="0"/>
              <a:t>why is my new color always different from the</a:t>
            </a:r>
            <a:br>
              <a:rPr lang="en-US" i="1" dirty="0"/>
            </a:br>
            <a:r>
              <a:rPr lang="en-US" i="1" dirty="0"/>
              <a:t>new colors of my successor and my predecessor?</a:t>
            </a:r>
          </a:p>
        </p:txBody>
      </p:sp>
    </p:spTree>
    <p:extLst>
      <p:ext uri="{BB962C8B-B14F-4D97-AF65-F5344CB8AC3E}">
        <p14:creationId xmlns:p14="http://schemas.microsoft.com/office/powerpoint/2010/main" val="3458133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1103D-5E70-2649-8ECC-5ADAA26E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Coming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898E5-2E06-0D45-AAFA-BD67C73C2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Week 2: </a:t>
            </a:r>
            <a:r>
              <a:rPr lang="en-US" dirty="0"/>
              <a:t>graph theory</a:t>
            </a:r>
          </a:p>
          <a:p>
            <a:r>
              <a:rPr lang="en-US" b="1" dirty="0">
                <a:latin typeface="Bernino Sans" pitchFamily="2" charset="77"/>
              </a:rPr>
              <a:t>Weeks 3–6: </a:t>
            </a:r>
            <a:r>
              <a:rPr lang="en-US" dirty="0"/>
              <a:t>models of distributed computing</a:t>
            </a:r>
          </a:p>
          <a:p>
            <a:pPr lvl="1"/>
            <a:r>
              <a:rPr lang="en-US" dirty="0"/>
              <a:t>examples of efficient distributed algorithms</a:t>
            </a:r>
          </a:p>
          <a:p>
            <a:r>
              <a:rPr lang="en-US" b="1" dirty="0">
                <a:latin typeface="Bernino Sans" pitchFamily="2" charset="77"/>
              </a:rPr>
              <a:t>Weeks 7–11: </a:t>
            </a:r>
            <a:r>
              <a:rPr lang="en-US" dirty="0"/>
              <a:t>proving impossibility results</a:t>
            </a:r>
          </a:p>
          <a:p>
            <a:r>
              <a:rPr lang="en-US" b="1" dirty="0">
                <a:latin typeface="Bernino Sans" pitchFamily="2" charset="77"/>
              </a:rPr>
              <a:t>Week 12: </a:t>
            </a:r>
            <a:r>
              <a:rPr lang="en-US" dirty="0"/>
              <a:t>conclusions, recap</a:t>
            </a:r>
          </a:p>
        </p:txBody>
      </p:sp>
    </p:spTree>
    <p:extLst>
      <p:ext uri="{BB962C8B-B14F-4D97-AF65-F5344CB8AC3E}">
        <p14:creationId xmlns:p14="http://schemas.microsoft.com/office/powerpoint/2010/main" val="2526055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505050"/>
      </a:dk2>
      <a:lt2>
        <a:srgbClr val="DFDFDF"/>
      </a:lt2>
      <a:accent1>
        <a:srgbClr val="0087CC"/>
      </a:accent1>
      <a:accent2>
        <a:srgbClr val="F16924"/>
      </a:accent2>
      <a:accent3>
        <a:srgbClr val="909090"/>
      </a:accent3>
      <a:accent4>
        <a:srgbClr val="0087CC"/>
      </a:accent4>
      <a:accent5>
        <a:srgbClr val="F16924"/>
      </a:accent5>
      <a:accent6>
        <a:srgbClr val="909090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spcBef>
            <a:spcPts val="2000"/>
          </a:spcBef>
          <a:defRPr sz="3200" b="1" dirty="0" smtClean="0">
            <a:latin typeface="Bernino Sans Semibold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</TotalTime>
  <Words>638</Words>
  <Application>Microsoft Macintosh PowerPoint</Application>
  <PresentationFormat>Widescreen</PresentationFormat>
  <Paragraphs>116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Bernina Sans Condensed Lt</vt:lpstr>
      <vt:lpstr>Bernina Sans Extrabold</vt:lpstr>
      <vt:lpstr>Bernina Sans Narrow Exbold</vt:lpstr>
      <vt:lpstr>Bernino Sans</vt:lpstr>
      <vt:lpstr>Bernino Sans Light</vt:lpstr>
      <vt:lpstr>Bernino Sans Semibold</vt:lpstr>
      <vt:lpstr>Calibri</vt:lpstr>
      <vt:lpstr>Office Theme</vt:lpstr>
      <vt:lpstr>Distributed Algorithms</vt:lpstr>
      <vt:lpstr>Algorithms for networks</vt:lpstr>
      <vt:lpstr>Learning objectives</vt:lpstr>
      <vt:lpstr>Zero to research-level</vt:lpstr>
      <vt:lpstr>This is a theory course</vt:lpstr>
      <vt:lpstr>Preparation</vt:lpstr>
      <vt:lpstr>Our weekly routine</vt:lpstr>
      <vt:lpstr>Quiz</vt:lpstr>
      <vt:lpstr>Exercises</vt:lpstr>
      <vt:lpstr>Challenging exercises</vt:lpstr>
      <vt:lpstr>Grading</vt:lpstr>
      <vt:lpstr>This week’s content…</vt:lpstr>
      <vt:lpstr>Video 1a: introduction</vt:lpstr>
      <vt:lpstr>Video 1b: coloring</vt:lpstr>
      <vt:lpstr>Slow color reduction</vt:lpstr>
      <vt:lpstr>Puzzle 1</vt:lpstr>
      <vt:lpstr>Video 1b: coloring fast</vt:lpstr>
      <vt:lpstr>Fast color reduction</vt:lpstr>
      <vt:lpstr>Puzzle 2</vt:lpstr>
      <vt:lpstr>Puzzle 3</vt:lpstr>
      <vt:lpstr>Puzzle 4</vt:lpstr>
      <vt:lpstr>Coming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Algorithms</dc:title>
  <dc:creator>Jukka Suomela</dc:creator>
  <cp:lastModifiedBy>Suomela Jukka</cp:lastModifiedBy>
  <cp:revision>54</cp:revision>
  <dcterms:created xsi:type="dcterms:W3CDTF">2020-08-20T21:40:58Z</dcterms:created>
  <dcterms:modified xsi:type="dcterms:W3CDTF">2025-08-31T20:20:13Z</dcterms:modified>
</cp:coreProperties>
</file>