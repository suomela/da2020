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handoutMasterIdLst>
    <p:handoutMasterId r:id="rId28"/>
  </p:handoutMasterIdLst>
  <p:sldIdLst>
    <p:sldId id="258" r:id="rId2"/>
    <p:sldId id="263" r:id="rId3"/>
    <p:sldId id="285" r:id="rId4"/>
    <p:sldId id="276" r:id="rId5"/>
    <p:sldId id="280" r:id="rId6"/>
    <p:sldId id="286" r:id="rId7"/>
    <p:sldId id="278" r:id="rId8"/>
    <p:sldId id="281" r:id="rId9"/>
    <p:sldId id="287" r:id="rId10"/>
    <p:sldId id="282" r:id="rId11"/>
    <p:sldId id="261" r:id="rId12"/>
    <p:sldId id="288" r:id="rId13"/>
    <p:sldId id="289" r:id="rId14"/>
    <p:sldId id="262" r:id="rId15"/>
    <p:sldId id="275" r:id="rId16"/>
    <p:sldId id="264" r:id="rId17"/>
    <p:sldId id="265" r:id="rId18"/>
    <p:sldId id="271" r:id="rId19"/>
    <p:sldId id="266" r:id="rId20"/>
    <p:sldId id="267" r:id="rId21"/>
    <p:sldId id="274" r:id="rId22"/>
    <p:sldId id="272" r:id="rId23"/>
    <p:sldId id="270" r:id="rId24"/>
    <p:sldId id="273" r:id="rId25"/>
    <p:sldId id="315" r:id="rId26"/>
  </p:sldIdLst>
  <p:sldSz cx="12192000" cy="6858000"/>
  <p:notesSz cx="6858000" cy="9144000"/>
  <p:defaultTextStyle>
    <a:defPPr>
      <a:defRPr lang="en-F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ukka Suomela" initials="JS" lastIdx="1" clrIdx="0">
    <p:extLst>
      <p:ext uri="{19B8F6BF-5375-455C-9EA6-DF929625EA0E}">
        <p15:presenceInfo xmlns:p15="http://schemas.microsoft.com/office/powerpoint/2012/main" userId="Jukka Suomel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BA23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871"/>
    <p:restoredTop sz="94762"/>
  </p:normalViewPr>
  <p:slideViewPr>
    <p:cSldViewPr snapToGrid="0" snapToObjects="1" showGuides="1">
      <p:cViewPr varScale="1">
        <p:scale>
          <a:sx n="114" d="100"/>
          <a:sy n="114" d="100"/>
        </p:scale>
        <p:origin x="176" y="23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113" d="100"/>
          <a:sy n="113" d="100"/>
        </p:scale>
        <p:origin x="3968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6484328-04A3-7843-965F-F9FCF8FB550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24FBE8-8971-8346-9236-9DF4B52C885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EFFC9C-04E4-E646-9E5F-B16BB383ECF2}" type="datetimeFigureOut">
              <a:rPr lang="en-US" smtClean="0"/>
              <a:t>10/20/25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20D8F2-9A47-854C-B63E-66FE5E7DBE4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B89FF2-CE78-2843-889A-B6E27294CAF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8AB006-7503-7746-988C-9209368E95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8329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795A92-54D0-5E4B-A08D-97789E42C8EA}" type="datetimeFigureOut">
              <a:rPr lang="en-US" smtClean="0"/>
              <a:t>10/20/25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802235-233E-0844-BB48-1C5592EE2C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3856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802235-233E-0844-BB48-1C5592EE2C0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327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D6FA4-843D-924B-BC97-88ED56BB60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l"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DE24BB-AF11-0C42-B367-84AB17691A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l">
              <a:buNone/>
              <a:defRPr sz="3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1E63C8-1A0A-DE4B-8F9D-9859F3A92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074E6-BC95-7A40-8145-5D6390B81855}" type="datetimeFigureOut">
              <a:rPr lang="en-US" smtClean="0"/>
              <a:t>10/20/25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DB12D2-1B95-8845-9B08-DBFCB474E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F0950C-5C76-3C4B-B34E-19DEE54DF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5FF05-44F6-FE4D-8486-FD1C5E490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8930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1AEBD-0551-A547-B83E-C271624A3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6DD3C9-17CB-FD4E-8809-8DE14CCDAE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2000"/>
              </a:spcBef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58015-51BF-EF4F-9739-37FEE6B9F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074E6-BC95-7A40-8145-5D6390B81855}" type="datetimeFigureOut">
              <a:rPr lang="en-US" smtClean="0"/>
              <a:t>10/20/25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F34205-BE2D-254D-BEC9-0BB1024B1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BF3557-84C1-D54E-9119-182795A9C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5FF05-44F6-FE4D-8486-FD1C5E490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3646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9E013-0F63-B64E-BAC0-D9E906CDA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002631"/>
            <a:ext cx="10515600" cy="2852737"/>
          </a:xfrm>
        </p:spPr>
        <p:txBody>
          <a:bodyPr anchor="ctr"/>
          <a:lstStyle>
            <a:lvl1pPr>
              <a:lnSpc>
                <a:spcPct val="85000"/>
              </a:lnSpc>
              <a:defRPr sz="9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9EDF2B-59A1-414D-967A-87DA44DF8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074E6-BC95-7A40-8145-5D6390B81855}" type="datetimeFigureOut">
              <a:rPr lang="en-US" smtClean="0"/>
              <a:t>10/20/25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17891C-D434-294F-9585-19B4B6FB9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887E74-5591-F741-8FBD-43022C8AE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5FF05-44F6-FE4D-8486-FD1C5E490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4522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908FD-40AF-EC46-94AB-D35B74113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0675C4-FEE5-704A-B42A-B9D3C77FA0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617F22-768A-6F47-A69C-E46B7787AA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ED7C00-45A4-3A4B-95EB-16382EA46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074E6-BC95-7A40-8145-5D6390B81855}" type="datetimeFigureOut">
              <a:rPr lang="en-US" smtClean="0"/>
              <a:t>10/20/25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486AED-7632-4945-8CCA-711A93111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B51905-D94F-684E-BD6E-A62226F93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5FF05-44F6-FE4D-8486-FD1C5E490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6238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F886B-6FB5-D446-9682-9800E1C12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990D4D-52E7-4943-B1C2-33770A0D4D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DE51B8-0734-144F-B0BD-21BD9E6718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642CC6-9117-694C-A77F-64C82B08D6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4061DB-9603-6E41-8E20-747F5E9797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B07FAE-8FD2-1B49-B848-E20F1548C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074E6-BC95-7A40-8145-5D6390B81855}" type="datetimeFigureOut">
              <a:rPr lang="en-US" smtClean="0"/>
              <a:t>10/20/25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BFB7DD-34B1-C343-A725-682248A89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074AF8-6765-114D-809E-4E4A19743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5FF05-44F6-FE4D-8486-FD1C5E490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552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B813F-AF15-0D44-B62B-21240A8B6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32E685-C3DC-7342-B982-AF73BF3AC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074E6-BC95-7A40-8145-5D6390B81855}" type="datetimeFigureOut">
              <a:rPr lang="en-US" smtClean="0"/>
              <a:t>10/20/25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5BAA55-CF23-2C46-BF4B-A80568831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47FE7D-DFAF-334E-9095-F7D2E31B4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5FF05-44F6-FE4D-8486-FD1C5E490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483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93BE0D-A561-8A44-BBDE-398A93EE6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074E6-BC95-7A40-8145-5D6390B81855}" type="datetimeFigureOut">
              <a:rPr lang="en-US" smtClean="0"/>
              <a:t>10/20/25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243393-A1AC-C541-A7EE-DE419C528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FCBEA7-493B-214B-9C64-C44F952E4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5FF05-44F6-FE4D-8486-FD1C5E490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2026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4A2D2-9E6D-A44D-A19D-AAC0C2DB1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87D7CF-FEA7-F64D-BE64-A3952C65B0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ACDA71-C1BE-6648-A8DF-DC1C32EDA6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61E058-7FF2-A547-9ACC-916552EB6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074E6-BC95-7A40-8145-5D6390B81855}" type="datetimeFigureOut">
              <a:rPr lang="en-US" smtClean="0"/>
              <a:t>10/20/25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917FD9-7736-FC4C-A5F4-B8C017E88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27D751-3A0C-F743-91EB-0D5EBA1DD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5FF05-44F6-FE4D-8486-FD1C5E490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179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294F0-EF06-4D4A-BF13-B005FD5E9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40C43B-4BA0-2347-B3BE-1E159DFA3E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74E973-8FC1-4949-A39B-2838C09A8C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228C1E-1A01-5E47-843E-3B6223F6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074E6-BC95-7A40-8145-5D6390B81855}" type="datetimeFigureOut">
              <a:rPr lang="en-US" smtClean="0"/>
              <a:t>10/20/25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039263-0F9C-D443-B847-BD4C53BFC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8E83DC-F401-7D4A-996D-758306F4A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5FF05-44F6-FE4D-8486-FD1C5E490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1721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5ECCE-D672-3D4B-8505-496041AA2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6C72F6-16C6-5849-A55A-EF4D7C3015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58BA9E-C487-4C48-B2A8-760D44C4D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074E6-BC95-7A40-8145-5D6390B81855}" type="datetimeFigureOut">
              <a:rPr lang="en-US" smtClean="0"/>
              <a:t>10/20/25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823C19-97D6-6240-BA38-1A21ABF7C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18CE7-C6BB-9742-B7F9-BFD1E9B91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5FF05-44F6-FE4D-8486-FD1C5E490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8998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FBD6FB6-BBED-F64A-85B4-4E6C472D26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F249AD-E103-6D43-8D06-32D11CB4EE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F4F2A8-78E4-F64A-8D10-4B2F78BA5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074E6-BC95-7A40-8145-5D6390B81855}" type="datetimeFigureOut">
              <a:rPr lang="en-US" smtClean="0"/>
              <a:t>10/20/25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7FF3E4-E77C-1343-B071-CE67723D4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05222F-7958-AE47-944B-C4C16B12B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5FF05-44F6-FE4D-8486-FD1C5E490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9108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90587A-C8DA-1C4E-BF76-5740F2C6B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DD8E66-CCE9-144A-BE3F-2701832622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0D3984-C873-FD42-A795-14EDD39255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D074E6-BC95-7A40-8145-5D6390B81855}" type="datetimeFigureOut">
              <a:rPr lang="en-US" smtClean="0"/>
              <a:t>10/20/25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07FBFB-30EE-2448-94F7-D2F71C1C91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E98439-4275-6143-B3C3-B34081AAA6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75FF05-44F6-FE4D-8486-FD1C5E490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4439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b="1" i="0" kern="1200">
          <a:solidFill>
            <a:schemeClr val="accent1"/>
          </a:solidFill>
          <a:latin typeface="Bernina Sans Extrabold" pitchFamily="2" charset="77"/>
          <a:ea typeface="Roboto Black" panose="02000000000000000000" pitchFamily="2" charset="0"/>
          <a:cs typeface="Roboto Condensed" panose="02000000000000000000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1"/>
          </a:solidFill>
          <a:latin typeface="Bernino Sans Light" pitchFamily="2" charset="77"/>
          <a:ea typeface="Roboto Light" panose="02000000000000000000" pitchFamily="2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b="0" i="0" kern="1200">
          <a:solidFill>
            <a:schemeClr val="tx1"/>
          </a:solidFill>
          <a:latin typeface="Bernino Sans Light" pitchFamily="2" charset="77"/>
          <a:ea typeface="Roboto Light" panose="02000000000000000000" pitchFamily="2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Bernino Sans Light" pitchFamily="2" charset="77"/>
          <a:ea typeface="Roboto Light" panose="02000000000000000000" pitchFamily="2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Bernino Sans Light" pitchFamily="2" charset="77"/>
          <a:ea typeface="Roboto Light" panose="02000000000000000000" pitchFamily="2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Bernino Sans Light" pitchFamily="2" charset="77"/>
          <a:ea typeface="Roboto Light" panose="02000000000000000000" pitchFamily="2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FEF3B-F00A-D246-8261-43306475CE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91001" y="134003"/>
            <a:ext cx="7824952" cy="3184634"/>
          </a:xfrm>
        </p:spPr>
        <p:txBody>
          <a:bodyPr wrap="none" lIns="0" tIns="0" rIns="0" bIns="0">
            <a:noAutofit/>
          </a:bodyPr>
          <a:lstStyle/>
          <a:p>
            <a:pPr>
              <a:lnSpc>
                <a:spcPct val="80000"/>
              </a:lnSpc>
            </a:pPr>
            <a:r>
              <a:rPr lang="en-US" sz="10300" dirty="0">
                <a:latin typeface="Bernina Sans Narrow Exbold" pitchFamily="2" charset="77"/>
              </a:rPr>
              <a:t>Distributed</a:t>
            </a:r>
            <a:br>
              <a:rPr lang="en-US" sz="10000" dirty="0">
                <a:latin typeface="Bernina Sans Narrow Exbold" pitchFamily="2" charset="77"/>
              </a:rPr>
            </a:br>
            <a:r>
              <a:rPr lang="en-US" sz="10700" dirty="0">
                <a:latin typeface="Bernina Sans Narrow Exbold" pitchFamily="2" charset="77"/>
              </a:rPr>
              <a:t>Algorithms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87823746-A1C8-D348-B17D-7808ABDD6C0B}"/>
              </a:ext>
            </a:extLst>
          </p:cNvPr>
          <p:cNvSpPr txBox="1">
            <a:spLocks/>
          </p:cNvSpPr>
          <p:nvPr/>
        </p:nvSpPr>
        <p:spPr>
          <a:xfrm>
            <a:off x="557048" y="4233039"/>
            <a:ext cx="1196801" cy="2356947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9900" b="1" dirty="0">
                <a:solidFill>
                  <a:schemeClr val="bg2">
                    <a:lumMod val="90000"/>
                  </a:schemeClr>
                </a:solidFill>
                <a:latin typeface="Bernina Sans Narrow Exbold" pitchFamily="2" charset="77"/>
              </a:rPr>
              <a:t>7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704C214C-540C-C148-AE23-4DF697E105B9}"/>
              </a:ext>
            </a:extLst>
          </p:cNvPr>
          <p:cNvSpPr txBox="1">
            <a:spLocks/>
          </p:cNvSpPr>
          <p:nvPr/>
        </p:nvSpPr>
        <p:spPr>
          <a:xfrm>
            <a:off x="1665514" y="4210166"/>
            <a:ext cx="9993346" cy="2270242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5400" dirty="0">
                <a:latin typeface="Bernina Sans Condensed Lt" pitchFamily="2" charset="77"/>
              </a:rPr>
              <a:t>Covering maps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E2FBA02-6A99-A54A-A233-8C34F2BADC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1024" y="23643"/>
            <a:ext cx="2289632" cy="21047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EF426F28-65F9-B6BA-85F1-D802B75DE209}"/>
              </a:ext>
            </a:extLst>
          </p:cNvPr>
          <p:cNvSpPr txBox="1">
            <a:spLocks/>
          </p:cNvSpPr>
          <p:nvPr/>
        </p:nvSpPr>
        <p:spPr>
          <a:xfrm>
            <a:off x="8517692" y="3045454"/>
            <a:ext cx="2772793" cy="129005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700" b="1" dirty="0">
                <a:solidFill>
                  <a:schemeClr val="accent1"/>
                </a:solidFill>
                <a:latin typeface="Bernina Sans Narrow Exbold" pitchFamily="2" charset="77"/>
              </a:rPr>
              <a:t>2025</a:t>
            </a:r>
          </a:p>
        </p:txBody>
      </p:sp>
    </p:spTree>
    <p:extLst>
      <p:ext uri="{BB962C8B-B14F-4D97-AF65-F5344CB8AC3E}">
        <p14:creationId xmlns:p14="http://schemas.microsoft.com/office/powerpoint/2010/main" val="6657602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FAF5DC9D-358C-5640-B495-BAA4A6AFE4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2737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FAF5DC9D-358C-5640-B495-BAA4A6AFE4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24D60A0-0F2F-FF41-8CCE-736105A5AEA8}"/>
              </a:ext>
            </a:extLst>
          </p:cNvPr>
          <p:cNvSpPr txBox="1"/>
          <p:nvPr/>
        </p:nvSpPr>
        <p:spPr>
          <a:xfrm>
            <a:off x="5508171" y="174172"/>
            <a:ext cx="644951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  <a:latin typeface="Andale Mono" panose="020B0509000000000004" pitchFamily="49" charset="0"/>
              </a:rPr>
              <a:t>You are in a room</a:t>
            </a:r>
            <a:br>
              <a:rPr lang="en-US" sz="3600" dirty="0">
                <a:solidFill>
                  <a:schemeClr val="bg1"/>
                </a:solidFill>
                <a:latin typeface="Andale Mono" panose="020B0509000000000004" pitchFamily="49" charset="0"/>
              </a:rPr>
            </a:br>
            <a:r>
              <a:rPr lang="en-US" sz="3600" dirty="0">
                <a:solidFill>
                  <a:schemeClr val="bg1"/>
                </a:solidFill>
                <a:latin typeface="Andale Mono" panose="020B0509000000000004" pitchFamily="49" charset="0"/>
              </a:rPr>
              <a:t>with three doors,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ndale Mono" panose="020B0509000000000004" pitchFamily="49" charset="0"/>
              </a:rPr>
              <a:t>labeled 1, 2, and 3.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ndale Mono" panose="020B0509000000000004" pitchFamily="49" charset="0"/>
              </a:rPr>
              <a:t>&gt; </a:t>
            </a:r>
            <a:r>
              <a:rPr lang="en-US" sz="3600" dirty="0">
                <a:solidFill>
                  <a:schemeClr val="accent2"/>
                </a:solidFill>
                <a:latin typeface="Andale Mono" panose="020B0509000000000004" pitchFamily="49" charset="0"/>
              </a:rPr>
              <a:t>_</a:t>
            </a:r>
          </a:p>
        </p:txBody>
      </p:sp>
    </p:spTree>
    <p:extLst>
      <p:ext uri="{BB962C8B-B14F-4D97-AF65-F5344CB8AC3E}">
        <p14:creationId xmlns:p14="http://schemas.microsoft.com/office/powerpoint/2010/main" val="18503319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D651C59-FD63-5E40-A127-A5FA50C215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1843561-68F2-AD46-8D49-90951ACABB9D}"/>
              </a:ext>
            </a:extLst>
          </p:cNvPr>
          <p:cNvSpPr txBox="1"/>
          <p:nvPr/>
        </p:nvSpPr>
        <p:spPr>
          <a:xfrm>
            <a:off x="5508171" y="174172"/>
            <a:ext cx="644951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  <a:latin typeface="Andale Mono" panose="020B0509000000000004" pitchFamily="49" charset="0"/>
              </a:rPr>
              <a:t>You are in a room</a:t>
            </a:r>
            <a:br>
              <a:rPr lang="en-US" sz="3600" dirty="0">
                <a:solidFill>
                  <a:schemeClr val="bg1"/>
                </a:solidFill>
                <a:latin typeface="Andale Mono" panose="020B0509000000000004" pitchFamily="49" charset="0"/>
              </a:rPr>
            </a:br>
            <a:r>
              <a:rPr lang="en-US" sz="3600" dirty="0">
                <a:solidFill>
                  <a:schemeClr val="bg1"/>
                </a:solidFill>
                <a:latin typeface="Andale Mono" panose="020B0509000000000004" pitchFamily="49" charset="0"/>
              </a:rPr>
              <a:t>with three doors,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ndale Mono" panose="020B0509000000000004" pitchFamily="49" charset="0"/>
              </a:rPr>
              <a:t>labeled 1, 2, and 3.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ndale Mono" panose="020B0509000000000004" pitchFamily="49" charset="0"/>
              </a:rPr>
              <a:t>&gt; </a:t>
            </a:r>
            <a:r>
              <a:rPr lang="en-US" sz="3600" dirty="0">
                <a:solidFill>
                  <a:schemeClr val="accent2"/>
                </a:solidFill>
                <a:latin typeface="Andale Mono" panose="020B0509000000000004" pitchFamily="49" charset="0"/>
              </a:rPr>
              <a:t>open door 3</a:t>
            </a:r>
          </a:p>
        </p:txBody>
      </p:sp>
    </p:spTree>
    <p:extLst>
      <p:ext uri="{BB962C8B-B14F-4D97-AF65-F5344CB8AC3E}">
        <p14:creationId xmlns:p14="http://schemas.microsoft.com/office/powerpoint/2010/main" val="27318436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CB8180E-1A0B-D840-A8AE-451253B317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8322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CB8180E-1A0B-D840-A8AE-451253B317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ABA6C12-1AD1-E74B-A071-6790157A21B6}"/>
              </a:ext>
            </a:extLst>
          </p:cNvPr>
          <p:cNvSpPr txBox="1"/>
          <p:nvPr/>
        </p:nvSpPr>
        <p:spPr>
          <a:xfrm>
            <a:off x="5508172" y="174172"/>
            <a:ext cx="6008376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  <a:latin typeface="Andale Mono" panose="020B0509000000000004" pitchFamily="49" charset="0"/>
              </a:rPr>
              <a:t>You enter a room with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ndale Mono" panose="020B0509000000000004" pitchFamily="49" charset="0"/>
              </a:rPr>
              <a:t>two doors, labeled 1</a:t>
            </a:r>
            <a:br>
              <a:rPr lang="en-US" sz="3600" dirty="0">
                <a:solidFill>
                  <a:schemeClr val="bg1"/>
                </a:solidFill>
                <a:latin typeface="Andale Mono" panose="020B0509000000000004" pitchFamily="49" charset="0"/>
              </a:rPr>
            </a:br>
            <a:r>
              <a:rPr lang="en-US" sz="3600" dirty="0">
                <a:solidFill>
                  <a:schemeClr val="bg1"/>
                </a:solidFill>
                <a:latin typeface="Andale Mono" panose="020B0509000000000004" pitchFamily="49" charset="0"/>
              </a:rPr>
              <a:t>and 2. You just came</a:t>
            </a:r>
            <a:br>
              <a:rPr lang="en-US" sz="3600" dirty="0">
                <a:solidFill>
                  <a:schemeClr val="bg1"/>
                </a:solidFill>
                <a:latin typeface="Andale Mono" panose="020B0509000000000004" pitchFamily="49" charset="0"/>
              </a:rPr>
            </a:br>
            <a:r>
              <a:rPr lang="en-US" sz="3600" dirty="0">
                <a:solidFill>
                  <a:schemeClr val="bg1"/>
                </a:solidFill>
                <a:latin typeface="Andale Mono" panose="020B0509000000000004" pitchFamily="49" charset="0"/>
              </a:rPr>
              <a:t>in through doorway 1.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ndale Mono" panose="020B0509000000000004" pitchFamily="49" charset="0"/>
              </a:rPr>
              <a:t>&gt; </a:t>
            </a:r>
            <a:r>
              <a:rPr lang="en-US" sz="3600" dirty="0">
                <a:solidFill>
                  <a:schemeClr val="accent2"/>
                </a:solidFill>
                <a:latin typeface="Andale Mono" panose="020B0509000000000004" pitchFamily="49" charset="0"/>
              </a:rPr>
              <a:t>_</a:t>
            </a:r>
          </a:p>
        </p:txBody>
      </p:sp>
    </p:spTree>
    <p:extLst>
      <p:ext uri="{BB962C8B-B14F-4D97-AF65-F5344CB8AC3E}">
        <p14:creationId xmlns:p14="http://schemas.microsoft.com/office/powerpoint/2010/main" val="30140826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78917CB-9890-F344-B351-113C891E7D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ABA6C12-1AD1-E74B-A071-6790157A21B6}"/>
              </a:ext>
            </a:extLst>
          </p:cNvPr>
          <p:cNvSpPr txBox="1"/>
          <p:nvPr/>
        </p:nvSpPr>
        <p:spPr>
          <a:xfrm>
            <a:off x="5508172" y="174172"/>
            <a:ext cx="6008376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  <a:latin typeface="Andale Mono" panose="020B0509000000000004" pitchFamily="49" charset="0"/>
              </a:rPr>
              <a:t>You enter a room with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ndale Mono" panose="020B0509000000000004" pitchFamily="49" charset="0"/>
              </a:rPr>
              <a:t>two doors, labeled 1</a:t>
            </a:r>
            <a:br>
              <a:rPr lang="en-US" sz="3600" dirty="0">
                <a:solidFill>
                  <a:schemeClr val="bg1"/>
                </a:solidFill>
                <a:latin typeface="Andale Mono" panose="020B0509000000000004" pitchFamily="49" charset="0"/>
              </a:rPr>
            </a:br>
            <a:r>
              <a:rPr lang="en-US" sz="3600" dirty="0">
                <a:solidFill>
                  <a:schemeClr val="bg1"/>
                </a:solidFill>
                <a:latin typeface="Andale Mono" panose="020B0509000000000004" pitchFamily="49" charset="0"/>
              </a:rPr>
              <a:t>and 2. You just came</a:t>
            </a:r>
            <a:br>
              <a:rPr lang="en-US" sz="3600" dirty="0">
                <a:solidFill>
                  <a:schemeClr val="bg1"/>
                </a:solidFill>
                <a:latin typeface="Andale Mono" panose="020B0509000000000004" pitchFamily="49" charset="0"/>
              </a:rPr>
            </a:br>
            <a:r>
              <a:rPr lang="en-US" sz="3600" dirty="0">
                <a:solidFill>
                  <a:schemeClr val="bg1"/>
                </a:solidFill>
                <a:latin typeface="Andale Mono" panose="020B0509000000000004" pitchFamily="49" charset="0"/>
              </a:rPr>
              <a:t>in through doorway 1.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ndale Mono" panose="020B0509000000000004" pitchFamily="49" charset="0"/>
              </a:rPr>
              <a:t>&gt; </a:t>
            </a:r>
            <a:r>
              <a:rPr lang="en-US" sz="3600" dirty="0">
                <a:solidFill>
                  <a:schemeClr val="accent2"/>
                </a:solidFill>
                <a:latin typeface="Andale Mono" panose="020B0509000000000004" pitchFamily="49" charset="0"/>
              </a:rPr>
              <a:t>open door 2</a:t>
            </a:r>
          </a:p>
        </p:txBody>
      </p:sp>
    </p:spTree>
    <p:extLst>
      <p:ext uri="{BB962C8B-B14F-4D97-AF65-F5344CB8AC3E}">
        <p14:creationId xmlns:p14="http://schemas.microsoft.com/office/powerpoint/2010/main" val="13423775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5EC4F36-1614-B04B-A31E-91D2AAB661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4953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5EC4F36-1614-B04B-A31E-91D2AAB661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ABA6C12-1AD1-E74B-A071-6790157A21B6}"/>
              </a:ext>
            </a:extLst>
          </p:cNvPr>
          <p:cNvSpPr txBox="1"/>
          <p:nvPr/>
        </p:nvSpPr>
        <p:spPr>
          <a:xfrm>
            <a:off x="5508172" y="174172"/>
            <a:ext cx="6008376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  <a:latin typeface="Andale Mono" panose="020B0509000000000004" pitchFamily="49" charset="0"/>
              </a:rPr>
              <a:t>You enter a room with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ndale Mono" panose="020B0509000000000004" pitchFamily="49" charset="0"/>
              </a:rPr>
              <a:t>two doors, labeled 1</a:t>
            </a:r>
            <a:br>
              <a:rPr lang="en-US" sz="3600" dirty="0">
                <a:solidFill>
                  <a:schemeClr val="bg1"/>
                </a:solidFill>
                <a:latin typeface="Andale Mono" panose="020B0509000000000004" pitchFamily="49" charset="0"/>
              </a:rPr>
            </a:br>
            <a:r>
              <a:rPr lang="en-US" sz="3600" dirty="0">
                <a:solidFill>
                  <a:schemeClr val="bg1"/>
                </a:solidFill>
                <a:latin typeface="Andale Mono" panose="020B0509000000000004" pitchFamily="49" charset="0"/>
              </a:rPr>
              <a:t>and 2. You just came</a:t>
            </a:r>
            <a:br>
              <a:rPr lang="en-US" sz="3600" dirty="0">
                <a:solidFill>
                  <a:schemeClr val="bg1"/>
                </a:solidFill>
                <a:latin typeface="Andale Mono" panose="020B0509000000000004" pitchFamily="49" charset="0"/>
              </a:rPr>
            </a:br>
            <a:r>
              <a:rPr lang="en-US" sz="3600" dirty="0">
                <a:solidFill>
                  <a:schemeClr val="bg1"/>
                </a:solidFill>
                <a:latin typeface="Andale Mono" panose="020B0509000000000004" pitchFamily="49" charset="0"/>
              </a:rPr>
              <a:t>in through doorway 1.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ndale Mono" panose="020B0509000000000004" pitchFamily="49" charset="0"/>
              </a:rPr>
              <a:t>&gt; </a:t>
            </a:r>
            <a:r>
              <a:rPr lang="en-US" sz="3600" dirty="0">
                <a:solidFill>
                  <a:schemeClr val="accent2"/>
                </a:solidFill>
                <a:latin typeface="Andale Mono" panose="020B0509000000000004" pitchFamily="49" charset="0"/>
              </a:rPr>
              <a:t>_</a:t>
            </a:r>
          </a:p>
        </p:txBody>
      </p:sp>
    </p:spTree>
    <p:extLst>
      <p:ext uri="{BB962C8B-B14F-4D97-AF65-F5344CB8AC3E}">
        <p14:creationId xmlns:p14="http://schemas.microsoft.com/office/powerpoint/2010/main" val="2245007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FAF9C5F-11F1-6527-98E9-F5E4AE7C89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378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4A8D1-2C4D-0C4A-BB25-B8E5CA241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High-level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842C18-184A-3E49-AB0C-E34D0A156D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678886" cy="4351338"/>
          </a:xfrm>
        </p:spPr>
        <p:txBody>
          <a:bodyPr/>
          <a:lstStyle/>
          <a:p>
            <a:r>
              <a:rPr lang="en-US" b="1" dirty="0">
                <a:latin typeface="Bernino Sans Extrabold" pitchFamily="2" charset="77"/>
              </a:rPr>
              <a:t>Goal:</a:t>
            </a:r>
            <a:endParaRPr lang="en-US" dirty="0"/>
          </a:p>
          <a:p>
            <a:pPr lvl="1"/>
            <a:r>
              <a:rPr lang="en-US" dirty="0"/>
              <a:t>show that problem </a:t>
            </a:r>
            <a:r>
              <a:rPr lang="en-US" i="1" dirty="0"/>
              <a:t>X</a:t>
            </a:r>
            <a:r>
              <a:rPr lang="en-US" dirty="0"/>
              <a:t> cannot be solved</a:t>
            </a:r>
            <a:br>
              <a:rPr lang="en-US" dirty="0"/>
            </a:br>
            <a:r>
              <a:rPr lang="en-US" dirty="0"/>
              <a:t>in the port-numbering model</a:t>
            </a:r>
          </a:p>
        </p:txBody>
      </p:sp>
    </p:spTree>
    <p:extLst>
      <p:ext uri="{BB962C8B-B14F-4D97-AF65-F5344CB8AC3E}">
        <p14:creationId xmlns:p14="http://schemas.microsoft.com/office/powerpoint/2010/main" val="36367575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4A8D1-2C4D-0C4A-BB25-B8E5CA241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High-level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842C18-184A-3E49-AB0C-E34D0A156D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678886" cy="4351338"/>
          </a:xfrm>
        </p:spPr>
        <p:txBody>
          <a:bodyPr/>
          <a:lstStyle/>
          <a:p>
            <a:r>
              <a:rPr lang="en-US" b="1" dirty="0">
                <a:latin typeface="Bernino Sans Extrabold" pitchFamily="2" charset="77"/>
              </a:rPr>
              <a:t>Goal:</a:t>
            </a:r>
            <a:endParaRPr lang="en-US" dirty="0"/>
          </a:p>
          <a:p>
            <a:pPr lvl="1"/>
            <a:r>
              <a:rPr lang="en-US" dirty="0"/>
              <a:t>show that problem </a:t>
            </a:r>
            <a:r>
              <a:rPr lang="en-US" i="1" dirty="0"/>
              <a:t>X</a:t>
            </a:r>
            <a:r>
              <a:rPr lang="en-US" dirty="0"/>
              <a:t> cannot be solved</a:t>
            </a:r>
            <a:br>
              <a:rPr lang="en-US" dirty="0"/>
            </a:br>
            <a:r>
              <a:rPr lang="en-US" dirty="0"/>
              <a:t>in the port-numbering model</a:t>
            </a:r>
          </a:p>
          <a:p>
            <a:r>
              <a:rPr lang="en-US" b="1" dirty="0">
                <a:latin typeface="Bernino Sans Extrabold" pitchFamily="2" charset="77"/>
              </a:rPr>
              <a:t>General approach:</a:t>
            </a:r>
          </a:p>
          <a:p>
            <a:pPr lvl="1"/>
            <a:r>
              <a:rPr lang="en-US" dirty="0"/>
              <a:t>construct port-numbered networks so that some nodes </a:t>
            </a:r>
            <a:r>
              <a:rPr lang="en-US" i="1" dirty="0"/>
              <a:t>u</a:t>
            </a:r>
            <a:r>
              <a:rPr lang="en-US" dirty="0"/>
              <a:t>, </a:t>
            </a:r>
            <a:r>
              <a:rPr lang="en-US" i="1" dirty="0"/>
              <a:t>v</a:t>
            </a:r>
            <a:r>
              <a:rPr lang="en-US" dirty="0"/>
              <a:t>, … will always produce the </a:t>
            </a:r>
            <a:r>
              <a:rPr lang="en-US" b="1" i="1" dirty="0">
                <a:solidFill>
                  <a:schemeClr val="accent2"/>
                </a:solidFill>
                <a:latin typeface="Bernino Sans Semibold" pitchFamily="2" charset="77"/>
              </a:rPr>
              <a:t>same output</a:t>
            </a:r>
          </a:p>
          <a:p>
            <a:pPr lvl="1"/>
            <a:r>
              <a:rPr lang="en-US" dirty="0"/>
              <a:t>show that if </a:t>
            </a:r>
            <a:r>
              <a:rPr lang="en-US" i="1" dirty="0"/>
              <a:t>u</a:t>
            </a:r>
            <a:r>
              <a:rPr lang="en-US" dirty="0"/>
              <a:t>, </a:t>
            </a:r>
            <a:r>
              <a:rPr lang="en-US" i="1" dirty="0"/>
              <a:t>v</a:t>
            </a:r>
            <a:r>
              <a:rPr lang="en-US" dirty="0"/>
              <a:t>, … have the same output, then</a:t>
            </a:r>
            <a:br>
              <a:rPr lang="en-US" dirty="0"/>
            </a:br>
            <a:r>
              <a:rPr lang="en-US" dirty="0"/>
              <a:t>it is </a:t>
            </a:r>
            <a:r>
              <a:rPr lang="en-US" b="1" i="1" dirty="0">
                <a:solidFill>
                  <a:schemeClr val="accent2"/>
                </a:solidFill>
                <a:latin typeface="Bernino Sans Semibold" pitchFamily="2" charset="77"/>
              </a:rPr>
              <a:t>not a feasible solution</a:t>
            </a:r>
            <a:r>
              <a:rPr lang="en-US" dirty="0"/>
              <a:t> for </a:t>
            </a:r>
            <a:r>
              <a:rPr lang="en-US" i="1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4315940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4A8D1-2C4D-0C4A-BB25-B8E5CA241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High-level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842C18-184A-3E49-AB0C-E34D0A156D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678886" cy="4351338"/>
          </a:xfrm>
        </p:spPr>
        <p:txBody>
          <a:bodyPr/>
          <a:lstStyle/>
          <a:p>
            <a:r>
              <a:rPr lang="en-US" b="1" dirty="0">
                <a:latin typeface="Bernino Sans Extrabold" pitchFamily="2" charset="77"/>
              </a:rPr>
              <a:t>Goal:</a:t>
            </a:r>
            <a:endParaRPr lang="en-US" dirty="0"/>
          </a:p>
          <a:p>
            <a:pPr lvl="1"/>
            <a:r>
              <a:rPr lang="en-US" dirty="0"/>
              <a:t>show that problem </a:t>
            </a:r>
            <a:r>
              <a:rPr lang="en-US" i="1" dirty="0"/>
              <a:t>X</a:t>
            </a:r>
            <a:r>
              <a:rPr lang="en-US" dirty="0"/>
              <a:t> cannot be solved</a:t>
            </a:r>
            <a:br>
              <a:rPr lang="en-US" dirty="0"/>
            </a:br>
            <a:r>
              <a:rPr lang="en-US" dirty="0"/>
              <a:t>in the port-numbering model</a:t>
            </a:r>
          </a:p>
          <a:p>
            <a:r>
              <a:rPr lang="en-US" b="1" dirty="0">
                <a:latin typeface="Bernino Sans Extrabold" pitchFamily="2" charset="77"/>
              </a:rPr>
              <a:t>General approach:</a:t>
            </a:r>
          </a:p>
          <a:p>
            <a:pPr lvl="1"/>
            <a:r>
              <a:rPr lang="en-US" dirty="0"/>
              <a:t>construct port-numbered networks so that some nodes </a:t>
            </a:r>
            <a:r>
              <a:rPr lang="en-US" i="1" dirty="0"/>
              <a:t>u</a:t>
            </a:r>
            <a:r>
              <a:rPr lang="en-US" dirty="0"/>
              <a:t>, </a:t>
            </a:r>
            <a:r>
              <a:rPr lang="en-US" i="1" dirty="0"/>
              <a:t>v</a:t>
            </a:r>
            <a:r>
              <a:rPr lang="en-US" dirty="0"/>
              <a:t>, … will always produce the </a:t>
            </a:r>
            <a:r>
              <a:rPr lang="en-US" b="1" i="1" dirty="0">
                <a:solidFill>
                  <a:schemeClr val="accent2"/>
                </a:solidFill>
                <a:latin typeface="Bernino Sans Semibold" pitchFamily="2" charset="77"/>
              </a:rPr>
              <a:t>same output</a:t>
            </a:r>
          </a:p>
          <a:p>
            <a:pPr lvl="1"/>
            <a:r>
              <a:rPr lang="en-US" dirty="0"/>
              <a:t>show that if </a:t>
            </a:r>
            <a:r>
              <a:rPr lang="en-US" i="1" dirty="0"/>
              <a:t>u</a:t>
            </a:r>
            <a:r>
              <a:rPr lang="en-US" dirty="0"/>
              <a:t>, </a:t>
            </a:r>
            <a:r>
              <a:rPr lang="en-US" i="1" dirty="0"/>
              <a:t>v</a:t>
            </a:r>
            <a:r>
              <a:rPr lang="en-US" dirty="0"/>
              <a:t>, … have the same output, then</a:t>
            </a:r>
            <a:br>
              <a:rPr lang="en-US" dirty="0"/>
            </a:br>
            <a:r>
              <a:rPr lang="en-US" dirty="0"/>
              <a:t>it is </a:t>
            </a:r>
            <a:r>
              <a:rPr lang="en-US" b="1" i="1" dirty="0">
                <a:solidFill>
                  <a:schemeClr val="accent2"/>
                </a:solidFill>
                <a:latin typeface="Bernino Sans Semibold" pitchFamily="2" charset="77"/>
              </a:rPr>
              <a:t>not a feasible solution</a:t>
            </a:r>
            <a:r>
              <a:rPr lang="en-US" dirty="0"/>
              <a:t> for </a:t>
            </a:r>
            <a:r>
              <a:rPr lang="en-US" i="1" dirty="0"/>
              <a:t>X</a:t>
            </a:r>
          </a:p>
        </p:txBody>
      </p:sp>
      <p:sp>
        <p:nvSpPr>
          <p:cNvPr id="5" name="Rounded Rectangular Callout 4">
            <a:extLst>
              <a:ext uri="{FF2B5EF4-FFF2-40B4-BE49-F238E27FC236}">
                <a16:creationId xmlns:a16="http://schemas.microsoft.com/office/drawing/2014/main" id="{1CB3B046-C463-6F46-89CD-898A9BDAE327}"/>
              </a:ext>
            </a:extLst>
          </p:cNvPr>
          <p:cNvSpPr/>
          <p:nvPr/>
        </p:nvSpPr>
        <p:spPr>
          <a:xfrm>
            <a:off x="9318173" y="1778907"/>
            <a:ext cx="2612570" cy="1861458"/>
          </a:xfrm>
          <a:prstGeom prst="wedgeRoundRectCallout">
            <a:avLst>
              <a:gd name="adj1" fmla="val -33714"/>
              <a:gd name="adj2" fmla="val 71734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atin typeface="Bernino Sans Semibold" pitchFamily="2" charset="77"/>
              </a:rPr>
              <a:t>Covering maps used here</a:t>
            </a:r>
          </a:p>
        </p:txBody>
      </p:sp>
    </p:spTree>
    <p:extLst>
      <p:ext uri="{BB962C8B-B14F-4D97-AF65-F5344CB8AC3E}">
        <p14:creationId xmlns:p14="http://schemas.microsoft.com/office/powerpoint/2010/main" val="31947117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E0BC1-DF1F-8941-9ADB-D13787B8D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Covering 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FA47E0-B473-3242-8BAB-24C91B6252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/>
          <a:lstStyle/>
          <a:p>
            <a:r>
              <a:rPr lang="en-US" dirty="0"/>
              <a:t>Two port-numbered networks:</a:t>
            </a:r>
          </a:p>
          <a:p>
            <a:pPr lvl="1"/>
            <a:r>
              <a:rPr lang="en-US" i="1" dirty="0"/>
              <a:t>N</a:t>
            </a:r>
            <a:r>
              <a:rPr lang="en-US" dirty="0"/>
              <a:t> = (</a:t>
            </a:r>
            <a:r>
              <a:rPr lang="en-US" i="1" dirty="0"/>
              <a:t>V</a:t>
            </a:r>
            <a:r>
              <a:rPr lang="en-US" dirty="0"/>
              <a:t>, </a:t>
            </a:r>
            <a:r>
              <a:rPr lang="en-US" i="1" dirty="0"/>
              <a:t>P</a:t>
            </a:r>
            <a:r>
              <a:rPr lang="en-US" dirty="0"/>
              <a:t>, </a:t>
            </a:r>
            <a:r>
              <a:rPr lang="en-US" i="1" dirty="0"/>
              <a:t>p</a:t>
            </a:r>
            <a:r>
              <a:rPr lang="en-US" dirty="0"/>
              <a:t>)</a:t>
            </a:r>
          </a:p>
          <a:p>
            <a:pPr lvl="1"/>
            <a:r>
              <a:rPr lang="en-US" i="1" dirty="0"/>
              <a:t>N’</a:t>
            </a:r>
            <a:r>
              <a:rPr lang="en-US" dirty="0"/>
              <a:t> = (</a:t>
            </a:r>
            <a:r>
              <a:rPr lang="en-US" i="1" dirty="0"/>
              <a:t>V’</a:t>
            </a:r>
            <a:r>
              <a:rPr lang="en-US" dirty="0"/>
              <a:t>, </a:t>
            </a:r>
            <a:r>
              <a:rPr lang="en-US" i="1" dirty="0"/>
              <a:t>P’</a:t>
            </a:r>
            <a:r>
              <a:rPr lang="en-US" dirty="0"/>
              <a:t>, </a:t>
            </a:r>
            <a:r>
              <a:rPr lang="en-US" i="1" dirty="0"/>
              <a:t>p’</a:t>
            </a:r>
            <a:r>
              <a:rPr lang="en-US" dirty="0"/>
              <a:t>)</a:t>
            </a:r>
          </a:p>
          <a:p>
            <a:r>
              <a:rPr lang="en-US" dirty="0"/>
              <a:t>Surjection </a:t>
            </a:r>
            <a:r>
              <a:rPr lang="en-US" b="1" i="1" dirty="0">
                <a:solidFill>
                  <a:schemeClr val="accent2"/>
                </a:solidFill>
                <a:latin typeface="Bernino Sans Semibold" pitchFamily="2" charset="77"/>
              </a:rPr>
              <a:t>f</a:t>
            </a:r>
            <a:r>
              <a:rPr lang="en-US" b="1" dirty="0">
                <a:solidFill>
                  <a:schemeClr val="accent2"/>
                </a:solidFill>
                <a:latin typeface="Bernino Sans Semibold" pitchFamily="2" charset="77"/>
              </a:rPr>
              <a:t>: </a:t>
            </a:r>
            <a:r>
              <a:rPr lang="en-US" b="1" i="1" dirty="0">
                <a:solidFill>
                  <a:schemeClr val="accent2"/>
                </a:solidFill>
                <a:latin typeface="Bernino Sans Semibold" pitchFamily="2" charset="77"/>
              </a:rPr>
              <a:t>V</a:t>
            </a:r>
            <a:r>
              <a:rPr lang="en-US" b="1" dirty="0">
                <a:solidFill>
                  <a:schemeClr val="accent2"/>
                </a:solidFill>
                <a:latin typeface="Bernino Sans Semibold" pitchFamily="2" charset="77"/>
              </a:rPr>
              <a:t> → </a:t>
            </a:r>
            <a:r>
              <a:rPr lang="en-US" b="1" i="1" dirty="0">
                <a:solidFill>
                  <a:schemeClr val="accent2"/>
                </a:solidFill>
                <a:latin typeface="Bernino Sans Semibold" pitchFamily="2" charset="77"/>
              </a:rPr>
              <a:t>V’</a:t>
            </a:r>
            <a:r>
              <a:rPr lang="en-US" dirty="0"/>
              <a:t> that preserves:</a:t>
            </a:r>
          </a:p>
          <a:p>
            <a:pPr lvl="1"/>
            <a:r>
              <a:rPr lang="en-US" dirty="0"/>
              <a:t>inputs</a:t>
            </a:r>
          </a:p>
          <a:p>
            <a:pPr lvl="1"/>
            <a:r>
              <a:rPr lang="en-US" dirty="0"/>
              <a:t>degrees</a:t>
            </a:r>
          </a:p>
          <a:p>
            <a:pPr lvl="1"/>
            <a:r>
              <a:rPr lang="en-US" dirty="0"/>
              <a:t>connections</a:t>
            </a:r>
          </a:p>
          <a:p>
            <a:pPr lvl="1"/>
            <a:r>
              <a:rPr lang="en-US" dirty="0"/>
              <a:t>port numbers</a:t>
            </a:r>
          </a:p>
        </p:txBody>
      </p:sp>
    </p:spTree>
    <p:extLst>
      <p:ext uri="{BB962C8B-B14F-4D97-AF65-F5344CB8AC3E}">
        <p14:creationId xmlns:p14="http://schemas.microsoft.com/office/powerpoint/2010/main" val="2496570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F2E91B0-83C9-0147-A372-DFA4F7D210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1509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C190B-2CDF-5B42-A15B-BCB9C827B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Covering 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8B7654-3474-D841-995B-7F9BF96A3B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“Fools” any deterministic algorithm</a:t>
            </a:r>
          </a:p>
          <a:p>
            <a:r>
              <a:rPr lang="en-US" dirty="0"/>
              <a:t>If </a:t>
            </a:r>
            <a:r>
              <a:rPr lang="en-US" i="1" dirty="0"/>
              <a:t>f</a:t>
            </a:r>
            <a:r>
              <a:rPr lang="en-US" dirty="0"/>
              <a:t> is a covering map from </a:t>
            </a:r>
            <a:r>
              <a:rPr lang="en-US" i="1" dirty="0"/>
              <a:t>N</a:t>
            </a:r>
            <a:r>
              <a:rPr lang="en-US" dirty="0"/>
              <a:t> to </a:t>
            </a:r>
            <a:r>
              <a:rPr lang="en-US" i="1" dirty="0"/>
              <a:t>N’</a:t>
            </a:r>
            <a:r>
              <a:rPr lang="en-US" dirty="0"/>
              <a:t>, then:</a:t>
            </a:r>
          </a:p>
          <a:p>
            <a:pPr lvl="1"/>
            <a:r>
              <a:rPr lang="en-US" i="1" dirty="0"/>
              <a:t>v</a:t>
            </a:r>
            <a:r>
              <a:rPr lang="en-US" dirty="0"/>
              <a:t> and </a:t>
            </a:r>
            <a:r>
              <a:rPr lang="en-US" i="1" dirty="0"/>
              <a:t>f</a:t>
            </a:r>
            <a:r>
              <a:rPr lang="en-US" dirty="0"/>
              <a:t>(</a:t>
            </a:r>
            <a:r>
              <a:rPr lang="en-US" i="1" dirty="0"/>
              <a:t>v</a:t>
            </a:r>
            <a:r>
              <a:rPr lang="en-US" dirty="0"/>
              <a:t>) have the same state </a:t>
            </a:r>
            <a:r>
              <a:rPr lang="en-US" b="1" i="1" dirty="0">
                <a:solidFill>
                  <a:schemeClr val="accent2"/>
                </a:solidFill>
                <a:latin typeface="Bernino Sans Semibold" pitchFamily="2" charset="77"/>
              </a:rPr>
              <a:t>before</a:t>
            </a:r>
            <a:r>
              <a:rPr lang="en-US" dirty="0"/>
              <a:t> round 1</a:t>
            </a:r>
          </a:p>
          <a:p>
            <a:pPr lvl="1"/>
            <a:r>
              <a:rPr lang="en-US" i="1" dirty="0"/>
              <a:t>v</a:t>
            </a:r>
            <a:r>
              <a:rPr lang="en-US" dirty="0"/>
              <a:t> and </a:t>
            </a:r>
            <a:r>
              <a:rPr lang="en-US" i="1" dirty="0"/>
              <a:t>f</a:t>
            </a:r>
            <a:r>
              <a:rPr lang="en-US" dirty="0"/>
              <a:t>(</a:t>
            </a:r>
            <a:r>
              <a:rPr lang="en-US" i="1" dirty="0"/>
              <a:t>v</a:t>
            </a:r>
            <a:r>
              <a:rPr lang="en-US" dirty="0"/>
              <a:t>) send the same messages in round 1</a:t>
            </a:r>
          </a:p>
          <a:p>
            <a:pPr lvl="1"/>
            <a:r>
              <a:rPr lang="en-US" i="1" dirty="0"/>
              <a:t>v</a:t>
            </a:r>
            <a:r>
              <a:rPr lang="en-US" dirty="0"/>
              <a:t> and </a:t>
            </a:r>
            <a:r>
              <a:rPr lang="en-US" i="1" dirty="0"/>
              <a:t>f</a:t>
            </a:r>
            <a:r>
              <a:rPr lang="en-US" dirty="0"/>
              <a:t>(</a:t>
            </a:r>
            <a:r>
              <a:rPr lang="en-US" i="1" dirty="0"/>
              <a:t>v</a:t>
            </a:r>
            <a:r>
              <a:rPr lang="en-US" dirty="0"/>
              <a:t>) receive the same messages in round 1</a:t>
            </a:r>
          </a:p>
          <a:p>
            <a:pPr lvl="1"/>
            <a:r>
              <a:rPr lang="en-US" i="1" dirty="0"/>
              <a:t>v</a:t>
            </a:r>
            <a:r>
              <a:rPr lang="en-US" dirty="0"/>
              <a:t> and </a:t>
            </a:r>
            <a:r>
              <a:rPr lang="en-US" i="1" dirty="0"/>
              <a:t>f</a:t>
            </a:r>
            <a:r>
              <a:rPr lang="en-US" dirty="0"/>
              <a:t>(</a:t>
            </a:r>
            <a:r>
              <a:rPr lang="en-US" i="1" dirty="0"/>
              <a:t>v</a:t>
            </a:r>
            <a:r>
              <a:rPr lang="en-US" dirty="0"/>
              <a:t>) have the same state </a:t>
            </a:r>
            <a:r>
              <a:rPr lang="en-US" b="1" i="1" dirty="0">
                <a:solidFill>
                  <a:schemeClr val="accent2"/>
                </a:solidFill>
                <a:latin typeface="Bernino Sans Semibold" pitchFamily="2" charset="77"/>
              </a:rPr>
              <a:t>after</a:t>
            </a:r>
            <a:r>
              <a:rPr lang="en-US" dirty="0"/>
              <a:t> round 1</a:t>
            </a:r>
          </a:p>
        </p:txBody>
      </p:sp>
    </p:spTree>
    <p:extLst>
      <p:ext uri="{BB962C8B-B14F-4D97-AF65-F5344CB8AC3E}">
        <p14:creationId xmlns:p14="http://schemas.microsoft.com/office/powerpoint/2010/main" val="20574449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C190B-2CDF-5B42-A15B-BCB9C827B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Covering 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8B7654-3474-D841-995B-7F9BF96A3B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“Fools” any deterministic algorithm</a:t>
            </a:r>
          </a:p>
          <a:p>
            <a:r>
              <a:rPr lang="en-US" dirty="0"/>
              <a:t>If </a:t>
            </a:r>
            <a:r>
              <a:rPr lang="en-US" i="1" dirty="0"/>
              <a:t>f</a:t>
            </a:r>
            <a:r>
              <a:rPr lang="en-US" dirty="0"/>
              <a:t> is a covering map from </a:t>
            </a:r>
            <a:r>
              <a:rPr lang="en-US" i="1" dirty="0"/>
              <a:t>N</a:t>
            </a:r>
            <a:r>
              <a:rPr lang="en-US" dirty="0"/>
              <a:t> to </a:t>
            </a:r>
            <a:r>
              <a:rPr lang="en-US" i="1" dirty="0"/>
              <a:t>N’</a:t>
            </a:r>
            <a:r>
              <a:rPr lang="en-US" dirty="0"/>
              <a:t>, then:</a:t>
            </a:r>
          </a:p>
          <a:p>
            <a:pPr lvl="1"/>
            <a:r>
              <a:rPr lang="en-US" i="1" dirty="0"/>
              <a:t>v</a:t>
            </a:r>
            <a:r>
              <a:rPr lang="en-US" dirty="0"/>
              <a:t> and </a:t>
            </a:r>
            <a:r>
              <a:rPr lang="en-US" i="1" dirty="0"/>
              <a:t>f</a:t>
            </a:r>
            <a:r>
              <a:rPr lang="en-US" dirty="0"/>
              <a:t>(</a:t>
            </a:r>
            <a:r>
              <a:rPr lang="en-US" i="1" dirty="0"/>
              <a:t>v</a:t>
            </a:r>
            <a:r>
              <a:rPr lang="en-US" dirty="0"/>
              <a:t>) have the same state </a:t>
            </a:r>
            <a:r>
              <a:rPr lang="en-US" b="1" i="1" dirty="0">
                <a:solidFill>
                  <a:schemeClr val="accent2"/>
                </a:solidFill>
                <a:latin typeface="Bernino Sans Semibold" pitchFamily="2" charset="77"/>
              </a:rPr>
              <a:t>before</a:t>
            </a:r>
            <a:r>
              <a:rPr lang="en-US" dirty="0"/>
              <a:t> round </a:t>
            </a:r>
            <a:r>
              <a:rPr lang="en-US" i="1" dirty="0"/>
              <a:t>T</a:t>
            </a:r>
          </a:p>
          <a:p>
            <a:pPr lvl="1"/>
            <a:r>
              <a:rPr lang="en-US" i="1" dirty="0"/>
              <a:t>v</a:t>
            </a:r>
            <a:r>
              <a:rPr lang="en-US" dirty="0"/>
              <a:t> and </a:t>
            </a:r>
            <a:r>
              <a:rPr lang="en-US" i="1" dirty="0"/>
              <a:t>f</a:t>
            </a:r>
            <a:r>
              <a:rPr lang="en-US" dirty="0"/>
              <a:t>(</a:t>
            </a:r>
            <a:r>
              <a:rPr lang="en-US" i="1" dirty="0"/>
              <a:t>v</a:t>
            </a:r>
            <a:r>
              <a:rPr lang="en-US" dirty="0"/>
              <a:t>) send the same messages in round </a:t>
            </a:r>
            <a:r>
              <a:rPr lang="en-US" i="1" dirty="0"/>
              <a:t>T</a:t>
            </a:r>
          </a:p>
          <a:p>
            <a:pPr lvl="1"/>
            <a:r>
              <a:rPr lang="en-US" i="1" dirty="0"/>
              <a:t>v</a:t>
            </a:r>
            <a:r>
              <a:rPr lang="en-US" dirty="0"/>
              <a:t> and </a:t>
            </a:r>
            <a:r>
              <a:rPr lang="en-US" i="1" dirty="0"/>
              <a:t>f</a:t>
            </a:r>
            <a:r>
              <a:rPr lang="en-US" dirty="0"/>
              <a:t>(</a:t>
            </a:r>
            <a:r>
              <a:rPr lang="en-US" i="1" dirty="0"/>
              <a:t>v</a:t>
            </a:r>
            <a:r>
              <a:rPr lang="en-US" dirty="0"/>
              <a:t>) receive the same messages in round </a:t>
            </a:r>
            <a:r>
              <a:rPr lang="en-US" i="1" dirty="0"/>
              <a:t>T</a:t>
            </a:r>
          </a:p>
          <a:p>
            <a:pPr lvl="1"/>
            <a:r>
              <a:rPr lang="en-US" i="1" dirty="0"/>
              <a:t>v</a:t>
            </a:r>
            <a:r>
              <a:rPr lang="en-US" dirty="0"/>
              <a:t> and </a:t>
            </a:r>
            <a:r>
              <a:rPr lang="en-US" i="1" dirty="0"/>
              <a:t>f</a:t>
            </a:r>
            <a:r>
              <a:rPr lang="en-US" dirty="0"/>
              <a:t>(</a:t>
            </a:r>
            <a:r>
              <a:rPr lang="en-US" i="1" dirty="0"/>
              <a:t>v</a:t>
            </a:r>
            <a:r>
              <a:rPr lang="en-US" dirty="0"/>
              <a:t>) have the same state </a:t>
            </a:r>
            <a:r>
              <a:rPr lang="en-US" b="1" i="1" dirty="0">
                <a:solidFill>
                  <a:schemeClr val="accent2"/>
                </a:solidFill>
                <a:latin typeface="Bernino Sans Semibold" pitchFamily="2" charset="77"/>
              </a:rPr>
              <a:t>after</a:t>
            </a:r>
            <a:r>
              <a:rPr lang="en-US" dirty="0"/>
              <a:t> round </a:t>
            </a:r>
            <a:r>
              <a:rPr lang="en-US" i="1" dirty="0"/>
              <a:t>T</a:t>
            </a:r>
          </a:p>
        </p:txBody>
      </p:sp>
    </p:spTree>
    <p:extLst>
      <p:ext uri="{BB962C8B-B14F-4D97-AF65-F5344CB8AC3E}">
        <p14:creationId xmlns:p14="http://schemas.microsoft.com/office/powerpoint/2010/main" val="32101947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7DA04-2A81-324A-8E0B-ECEA7C31D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2AB741-D638-B045-B4D1-B3F0DE05B0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Starting point: graph problem </a:t>
            </a:r>
            <a:r>
              <a:rPr lang="en-US" i="1" dirty="0"/>
              <a:t>X</a:t>
            </a:r>
          </a:p>
          <a:p>
            <a:r>
              <a:rPr lang="en-US" dirty="0"/>
              <a:t>Which graph </a:t>
            </a:r>
            <a:r>
              <a:rPr lang="en-US" i="1" dirty="0"/>
              <a:t>G</a:t>
            </a:r>
            <a:r>
              <a:rPr lang="en-US" dirty="0"/>
              <a:t> would be a “hard instance”?</a:t>
            </a:r>
          </a:p>
          <a:p>
            <a:r>
              <a:rPr lang="en-US" dirty="0"/>
              <a:t>How to choose a port numbering </a:t>
            </a:r>
            <a:r>
              <a:rPr lang="en-US" i="1" dirty="0"/>
              <a:t>N</a:t>
            </a:r>
            <a:r>
              <a:rPr lang="en-US" dirty="0"/>
              <a:t> of </a:t>
            </a:r>
            <a:r>
              <a:rPr lang="en-US" i="1" dirty="0"/>
              <a:t>G </a:t>
            </a:r>
            <a:r>
              <a:rPr lang="en-US" dirty="0"/>
              <a:t>?</a:t>
            </a:r>
          </a:p>
          <a:p>
            <a:r>
              <a:rPr lang="en-US" dirty="0"/>
              <a:t>How to choose the other network </a:t>
            </a:r>
            <a:r>
              <a:rPr lang="en-US" i="1" dirty="0"/>
              <a:t>N’ </a:t>
            </a:r>
            <a:r>
              <a:rPr lang="en-US" dirty="0"/>
              <a:t>?</a:t>
            </a:r>
          </a:p>
          <a:p>
            <a:r>
              <a:rPr lang="en-US" dirty="0"/>
              <a:t>How to construct mapping from </a:t>
            </a:r>
            <a:r>
              <a:rPr lang="en-US" i="1" dirty="0"/>
              <a:t>N</a:t>
            </a:r>
            <a:r>
              <a:rPr lang="en-US" dirty="0"/>
              <a:t> to </a:t>
            </a:r>
            <a:r>
              <a:rPr lang="en-US" i="1" dirty="0"/>
              <a:t>N’</a:t>
            </a:r>
            <a:r>
              <a:rPr lang="en-US" dirty="0"/>
              <a:t> ?</a:t>
            </a:r>
          </a:p>
        </p:txBody>
      </p:sp>
    </p:spTree>
    <p:extLst>
      <p:ext uri="{BB962C8B-B14F-4D97-AF65-F5344CB8AC3E}">
        <p14:creationId xmlns:p14="http://schemas.microsoft.com/office/powerpoint/2010/main" val="22208332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67534-8C9E-CA40-838F-1F0BBF6A6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2-node path</a:t>
            </a:r>
          </a:p>
        </p:txBody>
      </p:sp>
    </p:spTree>
    <p:extLst>
      <p:ext uri="{BB962C8B-B14F-4D97-AF65-F5344CB8AC3E}">
        <p14:creationId xmlns:p14="http://schemas.microsoft.com/office/powerpoint/2010/main" val="34925922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67534-8C9E-CA40-838F-1F0BBF6A6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4-node path</a:t>
            </a:r>
          </a:p>
        </p:txBody>
      </p:sp>
    </p:spTree>
    <p:extLst>
      <p:ext uri="{BB962C8B-B14F-4D97-AF65-F5344CB8AC3E}">
        <p14:creationId xmlns:p14="http://schemas.microsoft.com/office/powerpoint/2010/main" val="18056099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943C6-070E-624E-B430-AEE66872C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98C146-1DD3-7747-A3BD-02A7E40FDB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i="1" dirty="0">
                <a:solidFill>
                  <a:schemeClr val="accent2"/>
                </a:solidFill>
                <a:latin typeface="Bernino Sans" pitchFamily="2" charset="77"/>
              </a:rPr>
              <a:t>N is the network we care about</a:t>
            </a:r>
          </a:p>
          <a:p>
            <a:pPr lvl="1"/>
            <a:r>
              <a:rPr lang="en-US" dirty="0"/>
              <a:t>simple port-numbered network</a:t>
            </a:r>
          </a:p>
          <a:p>
            <a:pPr lvl="1"/>
            <a:r>
              <a:rPr lang="en-US" dirty="0"/>
              <a:t>well-defined and interesting underlying graph</a:t>
            </a:r>
          </a:p>
          <a:p>
            <a:r>
              <a:rPr lang="en-US" b="1" i="1" dirty="0">
                <a:solidFill>
                  <a:schemeClr val="accent2"/>
                </a:solidFill>
                <a:latin typeface="Bernino Sans" pitchFamily="2" charset="77"/>
              </a:rPr>
              <a:t>N’ is something strange</a:t>
            </a:r>
          </a:p>
          <a:p>
            <a:pPr lvl="1"/>
            <a:r>
              <a:rPr lang="en-US" dirty="0"/>
              <a:t>not necessarily a simple port-numbered network</a:t>
            </a:r>
          </a:p>
          <a:p>
            <a:pPr lvl="1"/>
            <a:r>
              <a:rPr lang="en-US" dirty="0"/>
              <a:t>running </a:t>
            </a:r>
            <a:r>
              <a:rPr lang="en-US" i="1" dirty="0"/>
              <a:t>A</a:t>
            </a:r>
            <a:r>
              <a:rPr lang="en-US" dirty="0"/>
              <a:t> in </a:t>
            </a:r>
            <a:r>
              <a:rPr lang="en-US" i="1" dirty="0"/>
              <a:t>N’</a:t>
            </a:r>
            <a:r>
              <a:rPr lang="en-US" dirty="0"/>
              <a:t> makes no sense</a:t>
            </a:r>
          </a:p>
          <a:p>
            <a:pPr lvl="1"/>
            <a:r>
              <a:rPr lang="en-US" dirty="0">
                <a:solidFill>
                  <a:schemeClr val="accent1"/>
                </a:solidFill>
                <a:latin typeface="Bernino Sans Semibold" pitchFamily="2" charset="77"/>
              </a:rPr>
              <a:t>introduced only to analyze what happens when we run </a:t>
            </a:r>
            <a:r>
              <a:rPr lang="en-US" i="1" dirty="0">
                <a:solidFill>
                  <a:schemeClr val="accent1"/>
                </a:solidFill>
                <a:latin typeface="Bernino Sans Semibold" pitchFamily="2" charset="77"/>
              </a:rPr>
              <a:t>A</a:t>
            </a:r>
            <a:r>
              <a:rPr lang="en-US" dirty="0">
                <a:solidFill>
                  <a:schemeClr val="accent1"/>
                </a:solidFill>
                <a:latin typeface="Bernino Sans Semibold" pitchFamily="2" charset="77"/>
              </a:rPr>
              <a:t> in </a:t>
            </a:r>
            <a:r>
              <a:rPr lang="en-US" i="1" dirty="0">
                <a:solidFill>
                  <a:schemeClr val="accent1"/>
                </a:solidFill>
                <a:latin typeface="Bernino Sans Semibold" pitchFamily="2" charset="77"/>
              </a:rPr>
              <a:t>N</a:t>
            </a:r>
          </a:p>
        </p:txBody>
      </p:sp>
    </p:spTree>
    <p:extLst>
      <p:ext uri="{BB962C8B-B14F-4D97-AF65-F5344CB8AC3E}">
        <p14:creationId xmlns:p14="http://schemas.microsoft.com/office/powerpoint/2010/main" val="7161774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67534-8C9E-CA40-838F-1F0BBF6A6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5-node path</a:t>
            </a:r>
          </a:p>
        </p:txBody>
      </p:sp>
    </p:spTree>
    <p:extLst>
      <p:ext uri="{BB962C8B-B14F-4D97-AF65-F5344CB8AC3E}">
        <p14:creationId xmlns:p14="http://schemas.microsoft.com/office/powerpoint/2010/main" val="41598436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67534-8C9E-CA40-838F-1F0BBF6A6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two cycles</a:t>
            </a:r>
          </a:p>
        </p:txBody>
      </p:sp>
    </p:spTree>
    <p:extLst>
      <p:ext uri="{BB962C8B-B14F-4D97-AF65-F5344CB8AC3E}">
        <p14:creationId xmlns:p14="http://schemas.microsoft.com/office/powerpoint/2010/main" val="37607455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13725B2-56B5-6A40-BD9F-BAC9B830C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Observations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1B88E2-6B0D-4241-B731-6010FB5D2E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can use covering maps to construct </a:t>
            </a:r>
            <a:r>
              <a:rPr lang="en-US" b="1" i="1" dirty="0">
                <a:solidFill>
                  <a:schemeClr val="accent2"/>
                </a:solidFill>
                <a:latin typeface="Bernino Sans" pitchFamily="2" charset="77"/>
              </a:rPr>
              <a:t>universal</a:t>
            </a:r>
            <a:r>
              <a:rPr lang="en-US" dirty="0"/>
              <a:t> counterexamples</a:t>
            </a:r>
          </a:p>
          <a:p>
            <a:pPr lvl="1"/>
            <a:r>
              <a:rPr lang="en-US" b="1" dirty="0">
                <a:latin typeface="Bernino Sans Semibold" pitchFamily="2" charset="77"/>
              </a:rPr>
              <a:t>adaptive: </a:t>
            </a:r>
            <a:r>
              <a:rPr lang="en-US" i="1" dirty="0"/>
              <a:t>“for any given algorithm A we can find</a:t>
            </a:r>
            <a:br>
              <a:rPr lang="en-US" i="1" dirty="0"/>
            </a:br>
            <a:r>
              <a:rPr lang="en-US" i="1" dirty="0"/>
              <a:t>a hard input N”</a:t>
            </a:r>
          </a:p>
          <a:p>
            <a:pPr lvl="1"/>
            <a:r>
              <a:rPr lang="en-US" b="1" dirty="0">
                <a:latin typeface="Bernino Sans Semibold" pitchFamily="2" charset="77"/>
              </a:rPr>
              <a:t>universal: </a:t>
            </a:r>
            <a:r>
              <a:rPr lang="en-US" i="1" dirty="0"/>
              <a:t>“there is an input N that is hard</a:t>
            </a:r>
            <a:br>
              <a:rPr lang="en-US" i="1" dirty="0"/>
            </a:br>
            <a:r>
              <a:rPr lang="en-US" i="1" dirty="0"/>
              <a:t>for any algorithm A”</a:t>
            </a:r>
          </a:p>
        </p:txBody>
      </p:sp>
    </p:spTree>
    <p:extLst>
      <p:ext uri="{BB962C8B-B14F-4D97-AF65-F5344CB8AC3E}">
        <p14:creationId xmlns:p14="http://schemas.microsoft.com/office/powerpoint/2010/main" val="24231799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33A82-31B4-8CD2-03C8-1049CB86C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 8 (October 27–31)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7F102-6AF3-E696-A491-331C3DF5CD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Bernino Sans" pitchFamily="2" charset="77"/>
              </a:rPr>
              <a:t>DISC 2025 conference</a:t>
            </a:r>
          </a:p>
          <a:p>
            <a:r>
              <a:rPr lang="en-US" b="1" dirty="0">
                <a:latin typeface="Bernino Sans" pitchFamily="2" charset="77"/>
              </a:rPr>
              <a:t>No course meetings</a:t>
            </a:r>
          </a:p>
          <a:p>
            <a:pPr lvl="1"/>
            <a:r>
              <a:rPr lang="en-US" dirty="0"/>
              <a:t>no lecture, no exercise session</a:t>
            </a:r>
          </a:p>
          <a:p>
            <a:r>
              <a:rPr lang="en-US" b="1" dirty="0">
                <a:latin typeface="Bernino Sans" pitchFamily="2" charset="77"/>
              </a:rPr>
              <a:t>Other course activities as usual</a:t>
            </a:r>
          </a:p>
          <a:p>
            <a:pPr lvl="1"/>
            <a:r>
              <a:rPr lang="en-US" dirty="0"/>
              <a:t>self-study as usual</a:t>
            </a:r>
          </a:p>
          <a:p>
            <a:pPr lvl="1"/>
            <a:r>
              <a:rPr lang="en-US" dirty="0"/>
              <a:t>quiz as usual, exercise deadlines as usual</a:t>
            </a:r>
          </a:p>
          <a:p>
            <a:pPr lvl="1"/>
            <a:r>
              <a:rPr lang="en-US" dirty="0"/>
              <a:t>help available in </a:t>
            </a:r>
            <a:r>
              <a:rPr lang="en-US" dirty="0" err="1"/>
              <a:t>Zulip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24691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">
      <a:dk1>
        <a:srgbClr val="000000"/>
      </a:dk1>
      <a:lt1>
        <a:srgbClr val="FFFFFF"/>
      </a:lt1>
      <a:dk2>
        <a:srgbClr val="505050"/>
      </a:dk2>
      <a:lt2>
        <a:srgbClr val="DFDFDF"/>
      </a:lt2>
      <a:accent1>
        <a:srgbClr val="0087CC"/>
      </a:accent1>
      <a:accent2>
        <a:srgbClr val="F16924"/>
      </a:accent2>
      <a:accent3>
        <a:srgbClr val="909090"/>
      </a:accent3>
      <a:accent4>
        <a:srgbClr val="0087CC"/>
      </a:accent4>
      <a:accent5>
        <a:srgbClr val="F16924"/>
      </a:accent5>
      <a:accent6>
        <a:srgbClr val="909090"/>
      </a:accent6>
      <a:hlink>
        <a:srgbClr val="000000"/>
      </a:hlink>
      <a:folHlink>
        <a:srgbClr val="0000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spcBef>
            <a:spcPts val="2000"/>
          </a:spcBef>
          <a:defRPr sz="3200" b="1" dirty="0" smtClean="0">
            <a:latin typeface="Bernino Sans Semibold" pitchFamily="2" charset="7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sz="3600" dirty="0" smtClean="0">
            <a:latin typeface="Bernino Sans Light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2173</TotalTime>
  <Words>646</Words>
  <Application>Microsoft Macintosh PowerPoint</Application>
  <PresentationFormat>Widescreen</PresentationFormat>
  <Paragraphs>89</Paragraphs>
  <Slides>25</Slides>
  <Notes>1</Notes>
  <HiddenSlides>2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6" baseType="lpstr">
      <vt:lpstr>Andale Mono</vt:lpstr>
      <vt:lpstr>Arial</vt:lpstr>
      <vt:lpstr>Bernina Sans Condensed Lt</vt:lpstr>
      <vt:lpstr>Bernina Sans Extrabold</vt:lpstr>
      <vt:lpstr>Bernina Sans Narrow Exbold</vt:lpstr>
      <vt:lpstr>Bernino Sans</vt:lpstr>
      <vt:lpstr>Bernino Sans Extrabold</vt:lpstr>
      <vt:lpstr>Bernino Sans Light</vt:lpstr>
      <vt:lpstr>Bernino Sans Semibold</vt:lpstr>
      <vt:lpstr>Calibri</vt:lpstr>
      <vt:lpstr>Office Theme</vt:lpstr>
      <vt:lpstr>Distributed Algorithms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High-level plan</vt:lpstr>
      <vt:lpstr>High-level plan</vt:lpstr>
      <vt:lpstr>High-level plan</vt:lpstr>
      <vt:lpstr>Covering map</vt:lpstr>
      <vt:lpstr>PowerPoint Presentation</vt:lpstr>
      <vt:lpstr>Covering map</vt:lpstr>
      <vt:lpstr>Covering map</vt:lpstr>
      <vt:lpstr>Common steps</vt:lpstr>
      <vt:lpstr>Example: 2-node path</vt:lpstr>
      <vt:lpstr>Example: 4-node path</vt:lpstr>
      <vt:lpstr>Common setup</vt:lpstr>
      <vt:lpstr>Example: 5-node path</vt:lpstr>
      <vt:lpstr>Example: two cycles</vt:lpstr>
      <vt:lpstr>Observations</vt:lpstr>
      <vt:lpstr>Week 8 (October 27–31)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Distributed Algorithms</dc:title>
  <dc:creator>Jukka Suomela</dc:creator>
  <cp:lastModifiedBy>Suomela Jukka</cp:lastModifiedBy>
  <cp:revision>121</cp:revision>
  <dcterms:created xsi:type="dcterms:W3CDTF">2020-08-20T21:40:58Z</dcterms:created>
  <dcterms:modified xsi:type="dcterms:W3CDTF">2025-10-20T11:02:06Z</dcterms:modified>
</cp:coreProperties>
</file>