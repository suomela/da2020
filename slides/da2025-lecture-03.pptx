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8" r:id="rId2"/>
    <p:sldId id="287" r:id="rId3"/>
    <p:sldId id="283" r:id="rId4"/>
    <p:sldId id="306" r:id="rId5"/>
    <p:sldId id="313" r:id="rId6"/>
    <p:sldId id="308" r:id="rId7"/>
    <p:sldId id="309" r:id="rId8"/>
    <p:sldId id="310" r:id="rId9"/>
    <p:sldId id="311" r:id="rId10"/>
    <p:sldId id="312" r:id="rId11"/>
    <p:sldId id="307" r:id="rId12"/>
    <p:sldId id="315" r:id="rId13"/>
    <p:sldId id="316" r:id="rId14"/>
    <p:sldId id="317" r:id="rId15"/>
    <p:sldId id="321" r:id="rId16"/>
    <p:sldId id="318" r:id="rId17"/>
    <p:sldId id="320" r:id="rId18"/>
    <p:sldId id="319" r:id="rId19"/>
    <p:sldId id="326" r:id="rId20"/>
    <p:sldId id="327" r:id="rId21"/>
    <p:sldId id="328" r:id="rId22"/>
    <p:sldId id="329" r:id="rId23"/>
    <p:sldId id="331" r:id="rId24"/>
    <p:sldId id="332" r:id="rId25"/>
    <p:sldId id="333" r:id="rId26"/>
    <p:sldId id="325" r:id="rId27"/>
    <p:sldId id="324" r:id="rId28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/>
    <p:restoredTop sz="94762"/>
  </p:normalViewPr>
  <p:slideViewPr>
    <p:cSldViewPr snapToGrid="0" snapToObjects="1" showGuides="1">
      <p:cViewPr varScale="1">
        <p:scale>
          <a:sx n="117" d="100"/>
          <a:sy n="117" d="100"/>
        </p:scale>
        <p:origin x="34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8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3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1894113" y="4210166"/>
            <a:ext cx="9764747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Port-numbering model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BC515A6-E44B-77D2-D24D-71AFE64FCB34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F739-CBFA-4944-BF9A-CE6B6A744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ctr"/>
          <a:lstStyle/>
          <a:p>
            <a:pPr marL="0" indent="0" algn="ctr">
              <a:spcBef>
                <a:spcPts val="5000"/>
              </a:spcBef>
              <a:buNone/>
            </a:pPr>
            <a:r>
              <a:rPr lang="en-US" sz="4400" b="1" dirty="0">
                <a:solidFill>
                  <a:schemeClr val="accent1"/>
                </a:solidFill>
                <a:latin typeface="Bernina Sans Extrabold" pitchFamily="2" charset="77"/>
              </a:rPr>
              <a:t>Port-numbered network</a:t>
            </a:r>
            <a:br>
              <a:rPr lang="en-US" sz="4400" b="1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4400" b="1" i="1" dirty="0">
                <a:solidFill>
                  <a:schemeClr val="accent1"/>
                </a:solidFill>
                <a:latin typeface="Bernina Sans Extrabold" pitchFamily="2" charset="77"/>
              </a:rPr>
              <a:t>N</a:t>
            </a:r>
            <a:r>
              <a:rPr lang="en-US" sz="4400" b="1" dirty="0">
                <a:solidFill>
                  <a:schemeClr val="accent1"/>
                </a:solidFill>
                <a:latin typeface="Bernina Sans Extrabold" pitchFamily="2" charset="77"/>
              </a:rPr>
              <a:t> = (</a:t>
            </a:r>
            <a:r>
              <a:rPr lang="en-US" sz="4400" b="1" i="1" dirty="0">
                <a:solidFill>
                  <a:schemeClr val="accent1"/>
                </a:solidFill>
                <a:latin typeface="Bernina Sans Extrabold" pitchFamily="2" charset="77"/>
              </a:rPr>
              <a:t>V</a:t>
            </a:r>
            <a:r>
              <a:rPr lang="en-US" sz="4400" b="1" dirty="0">
                <a:solidFill>
                  <a:schemeClr val="accent1"/>
                </a:solidFill>
                <a:latin typeface="Bernina Sans Extrabold" pitchFamily="2" charset="77"/>
              </a:rPr>
              <a:t>, </a:t>
            </a:r>
            <a:r>
              <a:rPr lang="en-US" sz="4400" b="1" i="1" dirty="0">
                <a:solidFill>
                  <a:schemeClr val="accent1"/>
                </a:solidFill>
                <a:latin typeface="Bernina Sans Extrabold" pitchFamily="2" charset="77"/>
              </a:rPr>
              <a:t>P</a:t>
            </a:r>
            <a:r>
              <a:rPr lang="en-US" sz="4400" b="1" dirty="0">
                <a:solidFill>
                  <a:schemeClr val="accent1"/>
                </a:solidFill>
                <a:latin typeface="Bernina Sans Extrabold" pitchFamily="2" charset="77"/>
              </a:rPr>
              <a:t>, </a:t>
            </a:r>
            <a:r>
              <a:rPr lang="en-US" sz="4400" b="1" i="1" dirty="0">
                <a:solidFill>
                  <a:schemeClr val="accent1"/>
                </a:solidFill>
                <a:latin typeface="Bernina Sans Extrabold" pitchFamily="2" charset="77"/>
              </a:rPr>
              <a:t>p</a:t>
            </a:r>
            <a:r>
              <a:rPr lang="en-US" sz="4400" b="1" dirty="0">
                <a:solidFill>
                  <a:schemeClr val="accent1"/>
                </a:solidFill>
                <a:latin typeface="Bernina Sans Extrabold" pitchFamily="2" charset="77"/>
              </a:rPr>
              <a:t>)</a:t>
            </a:r>
          </a:p>
          <a:p>
            <a:pPr marL="0" indent="0" algn="ctr">
              <a:spcBef>
                <a:spcPts val="5000"/>
              </a:spcBef>
              <a:buNone/>
            </a:pPr>
            <a:r>
              <a:rPr lang="en-US" sz="4400" b="1" dirty="0">
                <a:solidFill>
                  <a:schemeClr val="accent2"/>
                </a:solidFill>
                <a:latin typeface="Bernina Sans Extrabold" pitchFamily="2" charset="77"/>
              </a:rPr>
              <a:t>Distributed algorithm</a:t>
            </a:r>
            <a:br>
              <a:rPr lang="en-US" sz="4400" b="1" dirty="0">
                <a:solidFill>
                  <a:schemeClr val="accent2"/>
                </a:solidFill>
                <a:latin typeface="Bernina Sans Extrabold" pitchFamily="2" charset="77"/>
              </a:rPr>
            </a:br>
            <a:r>
              <a:rPr lang="en-US" sz="4400" b="1" i="1" dirty="0">
                <a:solidFill>
                  <a:schemeClr val="accent2"/>
                </a:solidFill>
                <a:latin typeface="Bernina Sans Extrabold" pitchFamily="2" charset="77"/>
              </a:rPr>
              <a:t>A</a:t>
            </a:r>
            <a:r>
              <a:rPr lang="en-US" sz="4400" b="1" dirty="0">
                <a:solidFill>
                  <a:schemeClr val="accent2"/>
                </a:solidFill>
                <a:latin typeface="Bernina Sans Extrabold" pitchFamily="2" charset="77"/>
              </a:rPr>
              <a:t> = (</a:t>
            </a:r>
            <a:r>
              <a:rPr lang="en-US" sz="4400" b="1" dirty="0" err="1">
                <a:solidFill>
                  <a:schemeClr val="accent2"/>
                </a:solidFill>
                <a:latin typeface="Bernina Sans Extrabold" pitchFamily="2" charset="77"/>
              </a:rPr>
              <a:t>init</a:t>
            </a:r>
            <a:r>
              <a:rPr lang="en-US" sz="4400" b="1" dirty="0">
                <a:solidFill>
                  <a:schemeClr val="accent2"/>
                </a:solidFill>
                <a:latin typeface="Bernina Sans Extrabold" pitchFamily="2" charset="77"/>
              </a:rPr>
              <a:t>, send, receive)</a:t>
            </a:r>
          </a:p>
          <a:p>
            <a:pPr marL="0" indent="0" algn="ctr">
              <a:spcBef>
                <a:spcPts val="5000"/>
              </a:spcBef>
              <a:buNone/>
            </a:pPr>
            <a:r>
              <a:rPr lang="en-US" sz="4400" b="1" dirty="0">
                <a:latin typeface="Bernina Sans Extrabold" pitchFamily="2" charset="77"/>
              </a:rPr>
              <a:t>Output of algorithm </a:t>
            </a:r>
            <a:r>
              <a:rPr lang="en-US" sz="4400" b="1" i="1" dirty="0">
                <a:latin typeface="Bernina Sans Extrabold" pitchFamily="2" charset="77"/>
              </a:rPr>
              <a:t>A</a:t>
            </a:r>
            <a:br>
              <a:rPr lang="en-US" sz="4400" b="1" dirty="0">
                <a:latin typeface="Bernina Sans Extrabold" pitchFamily="2" charset="77"/>
              </a:rPr>
            </a:br>
            <a:r>
              <a:rPr lang="en-US" sz="4400" b="1" dirty="0">
                <a:latin typeface="Bernina Sans Extrabold" pitchFamily="2" charset="77"/>
              </a:rPr>
              <a:t>in network </a:t>
            </a:r>
            <a:r>
              <a:rPr lang="en-US" sz="4400" b="1" i="1" dirty="0">
                <a:latin typeface="Bernina Sans Extrabold" pitchFamily="2" charset="77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14638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5AD6E-81A6-0346-AD10-4D0CBF22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Bipartite</a:t>
            </a:r>
            <a:br>
              <a:rPr lang="en-US" dirty="0"/>
            </a:br>
            <a:r>
              <a:rPr lang="en-US" dirty="0"/>
              <a:t>maximal matching</a:t>
            </a:r>
          </a:p>
        </p:txBody>
      </p:sp>
    </p:spTree>
    <p:extLst>
      <p:ext uri="{BB962C8B-B14F-4D97-AF65-F5344CB8AC3E}">
        <p14:creationId xmlns:p14="http://schemas.microsoft.com/office/powerpoint/2010/main" val="182497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CA0B8-735C-7646-8399-DF9304419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56" y="365125"/>
            <a:ext cx="6672943" cy="5811838"/>
          </a:xfrm>
        </p:spPr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4000" b="1" dirty="0">
                <a:latin typeface="Bernino Sans Extrabold" pitchFamily="2" charset="77"/>
              </a:rPr>
              <a:t>Input:</a:t>
            </a:r>
            <a:br>
              <a:rPr lang="en-US" sz="4000" b="1" dirty="0">
                <a:latin typeface="Bernino Sans Extrabold" pitchFamily="2" charset="77"/>
              </a:rPr>
            </a:br>
            <a:r>
              <a:rPr lang="en-US" sz="4000" dirty="0"/>
              <a:t>proper 2-coloring</a:t>
            </a:r>
          </a:p>
          <a:p>
            <a:pPr marL="0" indent="0">
              <a:spcBef>
                <a:spcPts val="8000"/>
              </a:spcBef>
              <a:buNone/>
            </a:pPr>
            <a:r>
              <a:rPr lang="en-US" sz="4000" b="1" dirty="0">
                <a:latin typeface="Bernino Sans Extrabold" pitchFamily="2" charset="77"/>
              </a:rPr>
              <a:t>Output:</a:t>
            </a:r>
            <a:br>
              <a:rPr lang="en-US" sz="4000" b="1" dirty="0">
                <a:latin typeface="Bernino Sans Extrabold" pitchFamily="2" charset="77"/>
              </a:rPr>
            </a:br>
            <a:r>
              <a:rPr lang="en-US" sz="4000" dirty="0"/>
              <a:t>maximal matching</a:t>
            </a:r>
          </a:p>
          <a:p>
            <a:pPr marL="0" indent="0">
              <a:spcBef>
                <a:spcPts val="8000"/>
              </a:spcBef>
              <a:buNone/>
            </a:pPr>
            <a:r>
              <a:rPr lang="en-US" sz="4000" b="1" dirty="0">
                <a:latin typeface="Bernino Sans Extrabold" pitchFamily="2" charset="77"/>
              </a:rPr>
              <a:t>Model of computing:</a:t>
            </a:r>
            <a:br>
              <a:rPr lang="en-US" sz="4000" b="1" dirty="0">
                <a:latin typeface="Bernino Sans Extrabold" pitchFamily="2" charset="77"/>
              </a:rPr>
            </a:br>
            <a:r>
              <a:rPr lang="en-US" sz="4000" dirty="0"/>
              <a:t>PN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31CC42-24C0-4D4E-AE9F-0137AAD65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96" y="491142"/>
            <a:ext cx="2169762" cy="587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3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B45C36-A5C7-E140-BB40-B86AA023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57E89-4578-4348-ABAE-19C38E153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Orange</a:t>
            </a:r>
            <a:r>
              <a:rPr lang="en-US" b="1" i="1" dirty="0">
                <a:latin typeface="Bernino Sans Semibold" pitchFamily="2" charset="77"/>
              </a:rPr>
              <a:t> </a:t>
            </a:r>
            <a:r>
              <a:rPr lang="en-US" dirty="0"/>
              <a:t>nodes send </a:t>
            </a:r>
            <a:r>
              <a:rPr lang="en-US" b="1" i="1" dirty="0">
                <a:latin typeface="Bernino Sans Semibold" pitchFamily="2" charset="77"/>
              </a:rPr>
              <a:t>proposals</a:t>
            </a:r>
            <a:r>
              <a:rPr lang="en-US" dirty="0"/>
              <a:t> to</a:t>
            </a:r>
            <a:br>
              <a:rPr lang="en-US" dirty="0"/>
            </a:br>
            <a:r>
              <a:rPr lang="en-US" dirty="0"/>
              <a:t>their neighbors, one by one</a:t>
            </a:r>
          </a:p>
          <a:p>
            <a:pPr lvl="1"/>
            <a:r>
              <a:rPr lang="en-US" dirty="0"/>
              <a:t>order by port numbers</a:t>
            </a:r>
          </a:p>
          <a:p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Blue</a:t>
            </a:r>
            <a:r>
              <a:rPr lang="en-US" dirty="0"/>
              <a:t> nodes </a:t>
            </a:r>
            <a:r>
              <a:rPr lang="en-US" b="1" i="1" dirty="0">
                <a:latin typeface="Bernino Sans Semibold" pitchFamily="2" charset="77"/>
              </a:rPr>
              <a:t>accept</a:t>
            </a:r>
            <a:r>
              <a:rPr lang="en-US" dirty="0"/>
              <a:t> the first proposal they get,</a:t>
            </a:r>
            <a:br>
              <a:rPr lang="en-US" dirty="0"/>
            </a:br>
            <a:r>
              <a:rPr lang="en-US" dirty="0"/>
              <a:t>reject everything else</a:t>
            </a:r>
          </a:p>
          <a:p>
            <a:pPr lvl="1"/>
            <a:r>
              <a:rPr lang="en-US" dirty="0"/>
              <a:t>break ties by port numbers</a:t>
            </a:r>
          </a:p>
        </p:txBody>
      </p:sp>
    </p:spTree>
    <p:extLst>
      <p:ext uri="{BB962C8B-B14F-4D97-AF65-F5344CB8AC3E}">
        <p14:creationId xmlns:p14="http://schemas.microsoft.com/office/powerpoint/2010/main" val="3988418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48DD70-3F0A-1843-8FA1-6CF391719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3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BC333-D789-B14D-B393-1FE82B4DB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4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DFC25E-0FCB-7244-A0B4-4BC11FFA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7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106EB8-2181-B74A-A170-4056D1DD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3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0C3AA9-80C0-4D4F-A421-1DAC1A5D4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78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5AD6E-81A6-0346-AD10-4D0CBF22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</a:t>
            </a:r>
            <a:br>
              <a:rPr lang="en-US" dirty="0"/>
            </a:br>
            <a:r>
              <a:rPr lang="en-US" dirty="0"/>
              <a:t>cover</a:t>
            </a:r>
          </a:p>
        </p:txBody>
      </p:sp>
    </p:spTree>
    <p:extLst>
      <p:ext uri="{BB962C8B-B14F-4D97-AF65-F5344CB8AC3E}">
        <p14:creationId xmlns:p14="http://schemas.microsoft.com/office/powerpoint/2010/main" val="287871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CA0B8-735C-7646-8399-DF9304419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56" y="365125"/>
            <a:ext cx="6672943" cy="5811838"/>
          </a:xfrm>
        </p:spPr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4000" b="1" dirty="0">
                <a:latin typeface="Bernino Sans Extrabold" pitchFamily="2" charset="77"/>
              </a:rPr>
              <a:t>Input:</a:t>
            </a:r>
            <a:br>
              <a:rPr lang="en-US" sz="4000" b="1" dirty="0">
                <a:latin typeface="Bernino Sans Extrabold" pitchFamily="2" charset="77"/>
              </a:rPr>
            </a:br>
            <a:r>
              <a:rPr lang="en-US" sz="4000" dirty="0"/>
              <a:t>nothing</a:t>
            </a:r>
          </a:p>
          <a:p>
            <a:pPr marL="0" indent="0">
              <a:spcBef>
                <a:spcPts val="8000"/>
              </a:spcBef>
              <a:buNone/>
            </a:pPr>
            <a:r>
              <a:rPr lang="en-US" sz="4000" b="1" dirty="0">
                <a:latin typeface="Bernino Sans Extrabold" pitchFamily="2" charset="77"/>
              </a:rPr>
              <a:t>Output: </a:t>
            </a:r>
            <a:r>
              <a:rPr lang="en-US" sz="4000" dirty="0"/>
              <a:t>3-approximation of minimum vertex cover</a:t>
            </a:r>
          </a:p>
          <a:p>
            <a:pPr marL="0" indent="0">
              <a:spcBef>
                <a:spcPts val="8000"/>
              </a:spcBef>
              <a:buNone/>
            </a:pPr>
            <a:r>
              <a:rPr lang="en-US" sz="4000" b="1" dirty="0">
                <a:latin typeface="Bernino Sans Extrabold" pitchFamily="2" charset="77"/>
              </a:rPr>
              <a:t>Model of computing:</a:t>
            </a:r>
            <a:br>
              <a:rPr lang="en-US" sz="4000" b="1" dirty="0">
                <a:latin typeface="Bernino Sans Extrabold" pitchFamily="2" charset="77"/>
              </a:rPr>
            </a:br>
            <a:r>
              <a:rPr lang="en-US" sz="4000" dirty="0"/>
              <a:t>PN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F95AA5-4B0C-FA45-9108-A6435D754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96" y="491142"/>
            <a:ext cx="2169762" cy="587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5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19183A-D0C4-5F44-8204-5A087661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F832D-26A5-DA47-B0EE-9EA8BBA29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bipartite double cover </a:t>
            </a:r>
            <a:r>
              <a:rPr lang="en-US" i="1" dirty="0"/>
              <a:t>G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one node in </a:t>
            </a:r>
            <a:r>
              <a:rPr lang="en-US" i="1" dirty="0"/>
              <a:t>G</a:t>
            </a:r>
            <a:r>
              <a:rPr lang="en-US" dirty="0"/>
              <a:t>: two virtual copies in </a:t>
            </a:r>
            <a:r>
              <a:rPr lang="en-US" i="1" dirty="0"/>
              <a:t>G’</a:t>
            </a:r>
          </a:p>
          <a:p>
            <a:pPr lvl="1"/>
            <a:r>
              <a:rPr lang="en-US" dirty="0"/>
              <a:t>one edge in </a:t>
            </a:r>
            <a:r>
              <a:rPr lang="en-US" i="1" dirty="0"/>
              <a:t>G</a:t>
            </a:r>
            <a:r>
              <a:rPr lang="en-US" dirty="0"/>
              <a:t>: two virtual copies in </a:t>
            </a:r>
            <a:r>
              <a:rPr lang="en-US" i="1" dirty="0"/>
              <a:t>G’</a:t>
            </a:r>
          </a:p>
          <a:p>
            <a:r>
              <a:rPr lang="en-US" dirty="0"/>
              <a:t>Find a maximal matching </a:t>
            </a:r>
            <a:r>
              <a:rPr lang="en-US" i="1" dirty="0"/>
              <a:t>M’</a:t>
            </a:r>
            <a:r>
              <a:rPr lang="en-US" dirty="0"/>
              <a:t> in </a:t>
            </a:r>
            <a:r>
              <a:rPr lang="en-US" i="1" dirty="0"/>
              <a:t>G’</a:t>
            </a:r>
          </a:p>
          <a:p>
            <a:r>
              <a:rPr lang="en-US" dirty="0"/>
              <a:t>Take all original nodes of </a:t>
            </a:r>
            <a:r>
              <a:rPr lang="en-US" i="1" dirty="0"/>
              <a:t>G</a:t>
            </a:r>
            <a:r>
              <a:rPr lang="en-US" dirty="0"/>
              <a:t> whose</a:t>
            </a:r>
            <a:br>
              <a:rPr lang="en-US" dirty="0"/>
            </a:br>
            <a:r>
              <a:rPr lang="en-US" dirty="0"/>
              <a:t>virtual copies are matched in </a:t>
            </a:r>
            <a:r>
              <a:rPr lang="en-US" i="1" dirty="0"/>
              <a:t>M’</a:t>
            </a:r>
          </a:p>
        </p:txBody>
      </p:sp>
    </p:spTree>
    <p:extLst>
      <p:ext uri="{BB962C8B-B14F-4D97-AF65-F5344CB8AC3E}">
        <p14:creationId xmlns:p14="http://schemas.microsoft.com/office/powerpoint/2010/main" val="392665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EE404-7E17-FF4F-8CA1-63DDC592D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84592D-9477-C94E-AF63-B4898E6B7151}"/>
              </a:ext>
            </a:extLst>
          </p:cNvPr>
          <p:cNvSpPr txBox="1"/>
          <p:nvPr/>
        </p:nvSpPr>
        <p:spPr>
          <a:xfrm>
            <a:off x="512064" y="403934"/>
            <a:ext cx="2133918" cy="70788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4000" dirty="0">
                <a:latin typeface="Bernino Sans Light" pitchFamily="2" charset="77"/>
              </a:rPr>
              <a:t>Graph </a:t>
            </a:r>
            <a:r>
              <a:rPr lang="en-US" sz="4000" i="1" dirty="0">
                <a:latin typeface="Bernino Sans Light" pitchFamily="2" charset="77"/>
              </a:rPr>
              <a:t>G</a:t>
            </a:r>
            <a:endParaRPr lang="en-US" sz="4000" dirty="0">
              <a:latin typeface="Bernin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26070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A72714-8265-9A44-BAA8-73BC73F30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98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958039-D332-2943-9718-F232D7799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86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E8585-4CCB-6C49-A8A8-C2937C8F4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75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0FE9C2-1051-754A-AEC7-8C5BEFE15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36273B-4CCB-7C40-BD26-C1C941FABE70}"/>
              </a:ext>
            </a:extLst>
          </p:cNvPr>
          <p:cNvSpPr txBox="1"/>
          <p:nvPr/>
        </p:nvSpPr>
        <p:spPr>
          <a:xfrm>
            <a:off x="512064" y="403934"/>
            <a:ext cx="2265364" cy="70788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4000" dirty="0">
                <a:latin typeface="Bernino Sans Light" pitchFamily="2" charset="77"/>
              </a:rPr>
              <a:t>Graph </a:t>
            </a:r>
            <a:r>
              <a:rPr lang="en-US" sz="4000" i="1" dirty="0">
                <a:latin typeface="Bernino Sans Light" pitchFamily="2" charset="77"/>
              </a:rPr>
              <a:t>G’</a:t>
            </a:r>
            <a:endParaRPr lang="en-US" sz="4000" dirty="0">
              <a:latin typeface="Bernino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30298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36273B-4CCB-7C40-BD26-C1C941FABE70}"/>
              </a:ext>
            </a:extLst>
          </p:cNvPr>
          <p:cNvSpPr txBox="1"/>
          <p:nvPr/>
        </p:nvSpPr>
        <p:spPr>
          <a:xfrm>
            <a:off x="512064" y="403934"/>
            <a:ext cx="5355953" cy="70788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4000" dirty="0">
                <a:latin typeface="Bernino Sans Light" pitchFamily="2" charset="77"/>
              </a:rPr>
              <a:t>Maximal matching </a:t>
            </a:r>
            <a:r>
              <a:rPr lang="en-US" sz="4000" i="1" dirty="0">
                <a:latin typeface="Bernino Sans Light" pitchFamily="2" charset="77"/>
              </a:rPr>
              <a:t>M’</a:t>
            </a:r>
            <a:endParaRPr lang="en-US" sz="4000" dirty="0">
              <a:latin typeface="Bernino Sans Light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C4838-C884-D149-9E8E-E1CB780B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12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5DD3FD-89CC-7B4E-B817-1668EF9EC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0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C0D680-6B06-D14B-9B9B-3AB0E8386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57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F15323-20E1-D74E-B4E1-6E4E497F1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36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9C8ADD-CD36-504D-B4BE-94EB5A99A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36273B-4CCB-7C40-BD26-C1C941FABE70}"/>
              </a:ext>
            </a:extLst>
          </p:cNvPr>
          <p:cNvSpPr txBox="1"/>
          <p:nvPr/>
        </p:nvSpPr>
        <p:spPr>
          <a:xfrm>
            <a:off x="512064" y="403934"/>
            <a:ext cx="3794629" cy="70788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4000" dirty="0">
                <a:latin typeface="Bernino Sans Light" pitchFamily="2" charset="77"/>
              </a:rPr>
              <a:t>Set of edges </a:t>
            </a:r>
            <a:r>
              <a:rPr lang="en-US" sz="4000" i="1" dirty="0">
                <a:latin typeface="Bernino Sans Light" pitchFamily="2" charset="77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160679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42F4C7-9ACA-4E4A-AA8A-221B9CB71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36273B-4CCB-7C40-BD26-C1C941FABE70}"/>
              </a:ext>
            </a:extLst>
          </p:cNvPr>
          <p:cNvSpPr txBox="1"/>
          <p:nvPr/>
        </p:nvSpPr>
        <p:spPr>
          <a:xfrm>
            <a:off x="512064" y="403934"/>
            <a:ext cx="3642344" cy="70788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sz="4000" dirty="0">
                <a:latin typeface="Bernino Sans Light" pitchFamily="2" charset="77"/>
              </a:rPr>
              <a:t>Set of nodes </a:t>
            </a:r>
            <a:r>
              <a:rPr lang="en-US" sz="4000" i="1" dirty="0">
                <a:latin typeface="Bernino Sans Light" pitchFamily="2" charset="77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627995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EE404-7E17-FF4F-8CA1-63DDC592D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93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FD15C8-FDAC-AA43-9B67-FE837639C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08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689EEF-6929-F649-A2C7-A1C0882F8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68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187</Words>
  <Application>Microsoft Macintosh PowerPoint</Application>
  <PresentationFormat>Widescreen</PresentationFormat>
  <Paragraphs>32</Paragraphs>
  <Slides>27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Bernina Sans Condensed Lt</vt:lpstr>
      <vt:lpstr>Bernina Sans Extrabold</vt:lpstr>
      <vt:lpstr>Bernina Sans Narrow Exbold</vt:lpstr>
      <vt:lpstr>Bernino Sans Extrabold</vt:lpstr>
      <vt:lpstr>Bernino Sans Light</vt:lpstr>
      <vt:lpstr>Bernino Sans Semibold</vt:lpstr>
      <vt:lpstr>Calibri</vt:lpstr>
      <vt:lpstr>Office Theme</vt:lpstr>
      <vt:lpstr>Distributed Algorithms</vt:lpstr>
      <vt:lpstr>PowerPoint Presentation</vt:lpstr>
      <vt:lpstr>Bipartite maximal matching</vt:lpstr>
      <vt:lpstr>PowerPoint Presentation</vt:lpstr>
      <vt:lpstr>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Vertex cover</vt:lpstr>
      <vt:lpstr>PowerPoint Presentation</vt:lpstr>
      <vt:lpstr>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67</cp:revision>
  <dcterms:created xsi:type="dcterms:W3CDTF">2020-08-20T21:40:58Z</dcterms:created>
  <dcterms:modified xsi:type="dcterms:W3CDTF">2025-09-15T09:02:05Z</dcterms:modified>
</cp:coreProperties>
</file>