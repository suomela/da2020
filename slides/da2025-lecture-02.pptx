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8" r:id="rId2"/>
    <p:sldId id="303" r:id="rId3"/>
    <p:sldId id="284" r:id="rId4"/>
    <p:sldId id="285" r:id="rId5"/>
    <p:sldId id="286" r:id="rId6"/>
    <p:sldId id="294" r:id="rId7"/>
    <p:sldId id="295" r:id="rId8"/>
    <p:sldId id="293" r:id="rId9"/>
    <p:sldId id="296" r:id="rId10"/>
    <p:sldId id="297" r:id="rId11"/>
    <p:sldId id="298" r:id="rId12"/>
    <p:sldId id="299" r:id="rId13"/>
    <p:sldId id="306" r:id="rId14"/>
    <p:sldId id="300" r:id="rId15"/>
    <p:sldId id="301" r:id="rId16"/>
    <p:sldId id="302" r:id="rId17"/>
    <p:sldId id="287" r:id="rId18"/>
    <p:sldId id="288" r:id="rId19"/>
    <p:sldId id="289" r:id="rId20"/>
    <p:sldId id="290" r:id="rId21"/>
    <p:sldId id="291" r:id="rId22"/>
    <p:sldId id="292" r:id="rId23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kka Suomela" initials="JS" lastIdx="1" clrIdx="0">
    <p:extLst>
      <p:ext uri="{19B8F6BF-5375-455C-9EA6-DF929625EA0E}">
        <p15:presenceInfo xmlns:p15="http://schemas.microsoft.com/office/powerpoint/2012/main" userId="Jukka Suomel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99"/>
    <p:restoredTop sz="94762"/>
  </p:normalViewPr>
  <p:slideViewPr>
    <p:cSldViewPr snapToGrid="0" snapToObjects="1" showGuides="1">
      <p:cViewPr varScale="1">
        <p:scale>
          <a:sx n="117" d="100"/>
          <a:sy n="117" d="100"/>
        </p:scale>
        <p:origin x="392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13" d="100"/>
          <a:sy n="113" d="100"/>
        </p:scale>
        <p:origin x="3968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484328-04A3-7843-965F-F9FCF8FB550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24FBE8-8971-8346-9236-9DF4B52C885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EFFC9C-04E4-E646-9E5F-B16BB383ECF2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20D8F2-9A47-854C-B63E-66FE5E7DBE4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B89FF2-CE78-2843-889A-B6E27294CA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AB006-7503-7746-988C-9209368E9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832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95A92-54D0-5E4B-A08D-97789E42C8EA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02235-233E-0844-BB48-1C5592EE2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385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802235-233E-0844-BB48-1C5592EE2C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32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D6FA4-843D-924B-BC97-88ED56BB60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E24BB-AF11-0C42-B367-84AB17691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E63C8-1A0A-DE4B-8F9D-9859F3A92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B12D2-1B95-8845-9B08-DBFCB474E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0950C-5C76-3C4B-B34E-19DEE54DF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93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1AEBD-0551-A547-B83E-C271624A3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DD3C9-17CB-FD4E-8809-8DE14CCDA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2000"/>
              </a:spcBef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58015-51BF-EF4F-9739-37FEE6B9F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34205-BE2D-254D-BEC9-0BB1024B1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F3557-84C1-D54E-9119-182795A9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64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9E013-0F63-B64E-BAC0-D9E906CDA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02631"/>
            <a:ext cx="10515600" cy="2852737"/>
          </a:xfrm>
        </p:spPr>
        <p:txBody>
          <a:bodyPr anchor="ctr"/>
          <a:lstStyle>
            <a:lvl1pPr>
              <a:lnSpc>
                <a:spcPct val="85000"/>
              </a:lnSpc>
              <a:defRPr sz="9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EDF2B-59A1-414D-967A-87DA44DF8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7891C-D434-294F-9585-19B4B6FB9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87E74-5591-F741-8FBD-43022C8AE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52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908FD-40AF-EC46-94AB-D35B74113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675C4-FEE5-704A-B42A-B9D3C77FA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17F22-768A-6F47-A69C-E46B7787A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D7C00-45A4-3A4B-95EB-16382EA46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486AED-7632-4945-8CCA-711A93111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B51905-D94F-684E-BD6E-A62226F93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623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F886B-6FB5-D446-9682-9800E1C12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90D4D-52E7-4943-B1C2-33770A0D4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E51B8-0734-144F-B0BD-21BD9E671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642CC6-9117-694C-A77F-64C82B08D6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4061DB-9603-6E41-8E20-747F5E9797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B07FAE-8FD2-1B49-B848-E20F1548C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BFB7DD-34B1-C343-A725-682248A89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074AF8-6765-114D-809E-4E4A19743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52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B813F-AF15-0D44-B62B-21240A8B6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32E685-C3DC-7342-B982-AF73BF3AC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5BAA55-CF23-2C46-BF4B-A80568831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47FE7D-DFAF-334E-9095-F7D2E31B4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8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93BE0D-A561-8A44-BBDE-398A93EE6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243393-A1AC-C541-A7EE-DE419C528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FCBEA7-493B-214B-9C64-C44F952E4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202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4A2D2-9E6D-A44D-A19D-AAC0C2DB1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7D7CF-FEA7-F64D-BE64-A3952C65B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CDA71-C1BE-6648-A8DF-DC1C32EDA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1E058-7FF2-A547-9ACC-916552EB6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17FD9-7736-FC4C-A5F4-B8C017E88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7D751-3A0C-F743-91EB-0D5EBA1DD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17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294F0-EF06-4D4A-BF13-B005FD5E9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40C43B-4BA0-2347-B3BE-1E159DFA3E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74E973-8FC1-4949-A39B-2838C09A8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28C1E-1A01-5E47-843E-3B6223F6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039263-0F9C-D443-B847-BD4C53BFC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E83DC-F401-7D4A-996D-758306F4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172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5ECCE-D672-3D4B-8505-496041AA2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6C72F6-16C6-5849-A55A-EF4D7C301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8BA9E-C487-4C48-B2A8-760D44C4D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23C19-97D6-6240-BA38-1A21ABF7C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18CE7-C6BB-9742-B7F9-BFD1E9B91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99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BD6FB6-BBED-F64A-85B4-4E6C472D26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F249AD-E103-6D43-8D06-32D11CB4E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4F2A8-78E4-F64A-8D10-4B2F78BA5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FF3E4-E77C-1343-B071-CE67723D4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5222F-7958-AE47-944B-C4C16B12B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910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90587A-C8DA-1C4E-BF76-5740F2C6B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DD8E66-CCE9-144A-BE3F-270183262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D3984-C873-FD42-A795-14EDD39255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074E6-BC95-7A40-8145-5D6390B81855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7FBFB-30EE-2448-94F7-D2F71C1C91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98439-4275-6143-B3C3-B34081AAA6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443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1" i="0" kern="1200">
          <a:solidFill>
            <a:schemeClr val="accent1"/>
          </a:solidFill>
          <a:latin typeface="Bernina Sans Extrabold" pitchFamily="2" charset="77"/>
          <a:ea typeface="Roboto Black" panose="02000000000000000000" pitchFamily="2" charset="0"/>
          <a:cs typeface="Roboto Condensed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FEF3B-F00A-D246-8261-43306475C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1001" y="134003"/>
            <a:ext cx="7824952" cy="3184634"/>
          </a:xfrm>
        </p:spPr>
        <p:txBody>
          <a:bodyPr wrap="none" lIns="0" tIns="0" rIns="0" bIns="0">
            <a:noAutofit/>
          </a:bodyPr>
          <a:lstStyle/>
          <a:p>
            <a:pPr>
              <a:lnSpc>
                <a:spcPct val="80000"/>
              </a:lnSpc>
            </a:pPr>
            <a:r>
              <a:rPr lang="en-US" sz="10300" dirty="0">
                <a:latin typeface="Bernina Sans Narrow Exbold" pitchFamily="2" charset="77"/>
              </a:rPr>
              <a:t>Distributed</a:t>
            </a:r>
            <a:br>
              <a:rPr lang="en-US" sz="10000" dirty="0">
                <a:latin typeface="Bernina Sans Narrow Exbold" pitchFamily="2" charset="77"/>
              </a:rPr>
            </a:br>
            <a:r>
              <a:rPr lang="en-US" sz="10700" dirty="0">
                <a:latin typeface="Bernina Sans Narrow Exbold" pitchFamily="2" charset="77"/>
              </a:rPr>
              <a:t>Algorithms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7823746-A1C8-D348-B17D-7808ABDD6C0B}"/>
              </a:ext>
            </a:extLst>
          </p:cNvPr>
          <p:cNvSpPr txBox="1">
            <a:spLocks/>
          </p:cNvSpPr>
          <p:nvPr/>
        </p:nvSpPr>
        <p:spPr>
          <a:xfrm>
            <a:off x="557048" y="4233039"/>
            <a:ext cx="1196801" cy="2356947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900" b="1" dirty="0">
                <a:solidFill>
                  <a:schemeClr val="bg2">
                    <a:lumMod val="90000"/>
                  </a:schemeClr>
                </a:solidFill>
                <a:latin typeface="Bernina Sans Narrow Exbold" pitchFamily="2" charset="77"/>
              </a:rPr>
              <a:t>2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704C214C-540C-C148-AE23-4DF697E105B9}"/>
              </a:ext>
            </a:extLst>
          </p:cNvPr>
          <p:cNvSpPr txBox="1">
            <a:spLocks/>
          </p:cNvSpPr>
          <p:nvPr/>
        </p:nvSpPr>
        <p:spPr>
          <a:xfrm>
            <a:off x="1894113" y="4210166"/>
            <a:ext cx="9764747" cy="2270242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dirty="0">
                <a:latin typeface="Bernina Sans Condensed Lt" pitchFamily="2" charset="77"/>
              </a:rPr>
              <a:t>Graph-theoretic foundations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E2FBA02-6A99-A54A-A233-8C34F2BAD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024" y="23643"/>
            <a:ext cx="2289632" cy="210470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B6585894-0D4A-935E-615D-2641841F527D}"/>
              </a:ext>
            </a:extLst>
          </p:cNvPr>
          <p:cNvSpPr txBox="1">
            <a:spLocks/>
          </p:cNvSpPr>
          <p:nvPr/>
        </p:nvSpPr>
        <p:spPr>
          <a:xfrm>
            <a:off x="8517692" y="3045454"/>
            <a:ext cx="2772793" cy="129005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700" b="1" dirty="0">
                <a:solidFill>
                  <a:schemeClr val="accent1"/>
                </a:solidFill>
                <a:latin typeface="Bernina Sans Narrow Exbold" pitchFamily="2" charset="77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665760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5AFBE-C112-1E44-83BE-EA54CA430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 in this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05FFA-212C-604F-8297-E077A99F2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Defining:</a:t>
            </a:r>
          </a:p>
          <a:p>
            <a:pPr lvl="1"/>
            <a:r>
              <a:rPr lang="en-US" dirty="0"/>
              <a:t>models of distributed computing</a:t>
            </a:r>
          </a:p>
          <a:p>
            <a:pPr lvl="1"/>
            <a:r>
              <a:rPr lang="en-US" dirty="0"/>
              <a:t>what we want to solve</a:t>
            </a:r>
          </a:p>
          <a:p>
            <a:pPr lvl="1"/>
            <a:r>
              <a:rPr lang="en-US" dirty="0"/>
              <a:t>what are the assumptions</a:t>
            </a:r>
          </a:p>
          <a:p>
            <a:r>
              <a:rPr lang="en-US" dirty="0"/>
              <a:t>Designing &amp; analyzing algorithms</a:t>
            </a:r>
          </a:p>
          <a:p>
            <a:r>
              <a:rPr lang="en-US" dirty="0"/>
              <a:t>Proving impossibility results</a:t>
            </a:r>
          </a:p>
          <a:p>
            <a:r>
              <a:rPr lang="en-US" dirty="0"/>
              <a:t>Often: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graph ≈ network, node ≈ computer</a:t>
            </a:r>
          </a:p>
        </p:txBody>
      </p:sp>
    </p:spTree>
    <p:extLst>
      <p:ext uri="{BB962C8B-B14F-4D97-AF65-F5344CB8AC3E}">
        <p14:creationId xmlns:p14="http://schemas.microsoft.com/office/powerpoint/2010/main" val="1488589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4AF0E-480A-1343-98E1-2D84C8E14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1D23A-CE39-1A4B-A6AD-C3B51616A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Graph where maximal independent sets</a:t>
            </a:r>
            <a:br>
              <a:rPr lang="en-US" dirty="0"/>
            </a:br>
            <a:r>
              <a:rPr lang="en-US" dirty="0"/>
              <a:t>are never minimum dominating sets?</a:t>
            </a:r>
          </a:p>
        </p:txBody>
      </p:sp>
    </p:spTree>
    <p:extLst>
      <p:ext uri="{BB962C8B-B14F-4D97-AF65-F5344CB8AC3E}">
        <p14:creationId xmlns:p14="http://schemas.microsoft.com/office/powerpoint/2010/main" val="1053505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D0EF64-E4BD-E741-B8A3-71C1CE086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Please do not confuse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57ADB2-396C-684F-83A7-D9BEF8953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ernino Sans" pitchFamily="2" charset="77"/>
              </a:rPr>
              <a:t>Maximal</a:t>
            </a:r>
          </a:p>
          <a:p>
            <a:pPr lvl="1"/>
            <a:r>
              <a:rPr lang="en-US" dirty="0"/>
              <a:t>not a subset of another solution</a:t>
            </a:r>
          </a:p>
          <a:p>
            <a:pPr lvl="1"/>
            <a:r>
              <a:rPr lang="en-US" dirty="0"/>
              <a:t>very easy to find: add greedily</a:t>
            </a:r>
          </a:p>
          <a:p>
            <a:r>
              <a:rPr lang="en-US" b="1" dirty="0">
                <a:latin typeface="Bernino Sans" pitchFamily="2" charset="77"/>
              </a:rPr>
              <a:t>Maximum</a:t>
            </a:r>
          </a:p>
          <a:p>
            <a:pPr lvl="1"/>
            <a:r>
              <a:rPr lang="en-US" dirty="0"/>
              <a:t>largest possible solution</a:t>
            </a:r>
          </a:p>
          <a:p>
            <a:pPr lvl="1"/>
            <a:r>
              <a:rPr lang="en-US" dirty="0"/>
              <a:t>often hard to find</a:t>
            </a:r>
          </a:p>
        </p:txBody>
      </p:sp>
    </p:spTree>
    <p:extLst>
      <p:ext uri="{BB962C8B-B14F-4D97-AF65-F5344CB8AC3E}">
        <p14:creationId xmlns:p14="http://schemas.microsoft.com/office/powerpoint/2010/main" val="1130189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D0EF64-E4BD-E741-B8A3-71C1CE086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Please do not confuse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57ADB2-396C-684F-83A7-D9BEF8953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ernino Sans" pitchFamily="2" charset="77"/>
              </a:rPr>
              <a:t>Minimal</a:t>
            </a:r>
          </a:p>
          <a:p>
            <a:pPr lvl="1"/>
            <a:r>
              <a:rPr lang="en-US" dirty="0"/>
              <a:t>not a superset of another solution</a:t>
            </a:r>
          </a:p>
          <a:p>
            <a:pPr lvl="1"/>
            <a:r>
              <a:rPr lang="en-US" dirty="0"/>
              <a:t>very easy to find: remove greedily</a:t>
            </a:r>
          </a:p>
          <a:p>
            <a:r>
              <a:rPr lang="en-US" b="1" dirty="0">
                <a:latin typeface="Bernino Sans" pitchFamily="2" charset="77"/>
              </a:rPr>
              <a:t>Minimum</a:t>
            </a:r>
          </a:p>
          <a:p>
            <a:pPr lvl="1"/>
            <a:r>
              <a:rPr lang="en-US" dirty="0"/>
              <a:t>smallest possible solution</a:t>
            </a:r>
          </a:p>
          <a:p>
            <a:pPr lvl="1"/>
            <a:r>
              <a:rPr lang="en-US" dirty="0"/>
              <a:t>often hard to find</a:t>
            </a:r>
          </a:p>
        </p:txBody>
      </p:sp>
    </p:spTree>
    <p:extLst>
      <p:ext uri="{BB962C8B-B14F-4D97-AF65-F5344CB8AC3E}">
        <p14:creationId xmlns:p14="http://schemas.microsoft.com/office/powerpoint/2010/main" val="3892989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4313D6-EA35-AA4C-8B33-AE41A555E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 anchor="b"/>
          <a:lstStyle/>
          <a:p>
            <a:pPr marL="0" indent="0">
              <a:buNone/>
            </a:pPr>
            <a:r>
              <a:rPr lang="en-US" sz="6000" dirty="0">
                <a:latin typeface="Bernina Sans Light" pitchFamily="2" charset="77"/>
              </a:rPr>
              <a:t>Minimum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vertex cover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70D490-D0D3-844D-A288-DEF6D9989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838" y="365125"/>
            <a:ext cx="5261962" cy="342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169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4313D6-EA35-AA4C-8B33-AE41A555E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 anchor="b"/>
          <a:lstStyle/>
          <a:p>
            <a:pPr marL="0" indent="0">
              <a:buNone/>
            </a:pPr>
            <a:r>
              <a:rPr lang="en-US" sz="6000" dirty="0">
                <a:latin typeface="Bernina Sans Light" pitchFamily="2" charset="77"/>
              </a:rPr>
              <a:t>Minimum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dominating set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70D490-D0D3-844D-A288-DEF6D9989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838" y="365125"/>
            <a:ext cx="5261962" cy="342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200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4313D6-EA35-AA4C-8B33-AE41A555E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 anchor="b"/>
          <a:lstStyle/>
          <a:p>
            <a:pPr marL="0" indent="0">
              <a:buNone/>
            </a:pPr>
            <a:r>
              <a:rPr lang="en-US" sz="6000" dirty="0">
                <a:latin typeface="Bernina Sans Light" pitchFamily="2" charset="77"/>
              </a:rPr>
              <a:t>Maximum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independent set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70D490-D0D3-844D-A288-DEF6D9989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838" y="365125"/>
            <a:ext cx="5261962" cy="342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147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4313D6-EA35-AA4C-8B33-AE41A555E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 anchor="b"/>
          <a:lstStyle/>
          <a:p>
            <a:pPr marL="0" indent="0">
              <a:buNone/>
            </a:pPr>
            <a:r>
              <a:rPr lang="en-US" sz="6000" dirty="0">
                <a:latin typeface="Bernina Sans Light" pitchFamily="2" charset="77"/>
              </a:rPr>
              <a:t>Smallest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set of nodes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that is both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an independent set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and a dominating set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70D490-D0D3-844D-A288-DEF6D9989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838" y="365125"/>
            <a:ext cx="5261962" cy="342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756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4313D6-EA35-AA4C-8B33-AE41A555E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 anchor="b"/>
          <a:lstStyle/>
          <a:p>
            <a:pPr marL="0" indent="0">
              <a:buNone/>
            </a:pPr>
            <a:r>
              <a:rPr lang="en-US" sz="6000" dirty="0">
                <a:latin typeface="Bernina Sans Light" pitchFamily="2" charset="77"/>
              </a:rPr>
              <a:t>Largest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set of nodes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that is both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an independent set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and a dominating set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70D490-D0D3-844D-A288-DEF6D9989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838" y="365125"/>
            <a:ext cx="5261962" cy="342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773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4313D6-EA35-AA4C-8B33-AE41A555E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 anchor="b"/>
          <a:lstStyle/>
          <a:p>
            <a:pPr marL="0" indent="0">
              <a:buNone/>
            </a:pPr>
            <a:r>
              <a:rPr lang="en-US" sz="6000" dirty="0">
                <a:latin typeface="Bernina Sans Light" pitchFamily="2" charset="77"/>
              </a:rPr>
              <a:t>Maximum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matching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70D490-D0D3-844D-A288-DEF6D9989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838" y="365125"/>
            <a:ext cx="5261962" cy="342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950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4313D6-EA35-AA4C-8B33-AE41A555E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 anchor="b"/>
          <a:lstStyle/>
          <a:p>
            <a:pPr marL="0" indent="0">
              <a:buNone/>
            </a:pPr>
            <a:r>
              <a:rPr lang="en-US" sz="6000" dirty="0">
                <a:latin typeface="Bernina Sans Light" pitchFamily="2" charset="77"/>
              </a:rPr>
              <a:t>Minimum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edge cover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70D490-D0D3-844D-A288-DEF6D9989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838" y="365125"/>
            <a:ext cx="5261962" cy="342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488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4313D6-EA35-AA4C-8B33-AE41A555E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 anchor="b"/>
          <a:lstStyle/>
          <a:p>
            <a:pPr marL="0" indent="0">
              <a:buNone/>
            </a:pPr>
            <a:r>
              <a:rPr lang="en-US" sz="6000" dirty="0">
                <a:latin typeface="Bernina Sans Light" pitchFamily="2" charset="77"/>
              </a:rPr>
              <a:t>Minimum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edge dominating set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70D490-D0D3-844D-A288-DEF6D9989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838" y="365125"/>
            <a:ext cx="5261962" cy="342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326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4313D6-EA35-AA4C-8B33-AE41A555E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 anchor="b"/>
          <a:lstStyle/>
          <a:p>
            <a:pPr marL="0" indent="0">
              <a:buNone/>
            </a:pPr>
            <a:r>
              <a:rPr lang="en-US" sz="6000" dirty="0">
                <a:latin typeface="Bernina Sans Light" pitchFamily="2" charset="77"/>
              </a:rPr>
              <a:t>Smallest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set of edges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that is both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a matching and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an edge dominating set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70D490-D0D3-844D-A288-DEF6D9989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838" y="365125"/>
            <a:ext cx="5261962" cy="342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407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4313D6-EA35-AA4C-8B33-AE41A555E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 anchor="b"/>
          <a:lstStyle/>
          <a:p>
            <a:pPr marL="0" indent="0">
              <a:buNone/>
            </a:pPr>
            <a:r>
              <a:rPr lang="en-US" sz="6000" dirty="0">
                <a:latin typeface="Bernina Sans Light" pitchFamily="2" charset="77"/>
              </a:rPr>
              <a:t>Largest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set of edges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that is both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a matching and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an edge dominating set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70D490-D0D3-844D-A288-DEF6D9989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838" y="365125"/>
            <a:ext cx="5261962" cy="342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105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4313D6-EA35-AA4C-8B33-AE41A555E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 anchor="b"/>
          <a:lstStyle/>
          <a:p>
            <a:pPr marL="0" indent="0">
              <a:buNone/>
            </a:pPr>
            <a:r>
              <a:rPr lang="en-US" sz="6000" dirty="0">
                <a:latin typeface="Bernina Sans Light" pitchFamily="2" charset="77"/>
              </a:rPr>
              <a:t>Minimum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edge dominating set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that is not a matching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70D490-D0D3-844D-A288-DEF6D9989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838" y="365125"/>
            <a:ext cx="5261962" cy="342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597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4313D6-EA35-AA4C-8B33-AE41A555E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 anchor="b"/>
          <a:lstStyle/>
          <a:p>
            <a:pPr marL="0" indent="0">
              <a:buNone/>
            </a:pPr>
            <a:r>
              <a:rPr lang="en-US" sz="6000" dirty="0">
                <a:latin typeface="Bernina Sans Light" pitchFamily="2" charset="77"/>
              </a:rPr>
              <a:t>Largest set of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nodes that induces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a bipartite subgraph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70D490-D0D3-844D-A288-DEF6D9989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838" y="365125"/>
            <a:ext cx="5261962" cy="342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6637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4313D6-EA35-AA4C-8B33-AE41A555E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 anchor="b"/>
          <a:lstStyle/>
          <a:p>
            <a:pPr marL="0" indent="0">
              <a:buNone/>
            </a:pPr>
            <a:r>
              <a:rPr lang="en-US" sz="6000" dirty="0">
                <a:latin typeface="Bernina Sans Light" pitchFamily="2" charset="77"/>
              </a:rPr>
              <a:t>Largest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set of edges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that induces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a subgraph with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2 connected components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70D490-D0D3-844D-A288-DEF6D9989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838" y="365125"/>
            <a:ext cx="5261962" cy="342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983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4313D6-EA35-AA4C-8B33-AE41A555E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 anchor="b"/>
          <a:lstStyle/>
          <a:p>
            <a:pPr marL="0" indent="0">
              <a:buNone/>
            </a:pPr>
            <a:r>
              <a:rPr lang="en-US" sz="6000" dirty="0">
                <a:latin typeface="Bernina Sans Light" pitchFamily="2" charset="77"/>
              </a:rPr>
              <a:t>Largest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set of nodes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that induces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a subgraph of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maximum degree 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70D490-D0D3-844D-A288-DEF6D9989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838" y="365125"/>
            <a:ext cx="5261962" cy="342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9538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4313D6-EA35-AA4C-8B33-AE41A555E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 anchor="b"/>
          <a:lstStyle/>
          <a:p>
            <a:pPr marL="0" indent="0">
              <a:buNone/>
            </a:pPr>
            <a:r>
              <a:rPr lang="en-US" sz="6000" dirty="0">
                <a:latin typeface="Bernina Sans Light" pitchFamily="2" charset="77"/>
              </a:rPr>
              <a:t>Largest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set of edges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that induces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a subgraph of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maximum degree 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70D490-D0D3-844D-A288-DEF6D9989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838" y="365125"/>
            <a:ext cx="5261962" cy="342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7780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4313D6-EA35-AA4C-8B33-AE41A555E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 anchor="b"/>
          <a:lstStyle/>
          <a:p>
            <a:pPr marL="0" indent="0">
              <a:buNone/>
            </a:pPr>
            <a:r>
              <a:rPr lang="en-US" sz="6000" dirty="0">
                <a:latin typeface="Bernina Sans Light" pitchFamily="2" charset="77"/>
              </a:rPr>
              <a:t>Set of nodes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that induces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a 2-regular subgraph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70D490-D0D3-844D-A288-DEF6D9989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838" y="365125"/>
            <a:ext cx="5261962" cy="342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5585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4313D6-EA35-AA4C-8B33-AE41A555E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 anchor="b"/>
          <a:lstStyle/>
          <a:p>
            <a:pPr marL="0" indent="0">
              <a:buNone/>
            </a:pPr>
            <a:r>
              <a:rPr lang="en-US" sz="6000" dirty="0">
                <a:latin typeface="Bernina Sans Light" pitchFamily="2" charset="77"/>
              </a:rPr>
              <a:t>Nodes </a:t>
            </a:r>
            <a:r>
              <a:rPr lang="en-US" sz="6000" i="1" dirty="0">
                <a:latin typeface="Bernina Sans Light" pitchFamily="2" charset="77"/>
              </a:rPr>
              <a:t>u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and </a:t>
            </a:r>
            <a:r>
              <a:rPr lang="en-US" sz="6000" i="1" dirty="0">
                <a:latin typeface="Bernina Sans Light" pitchFamily="2" charset="77"/>
              </a:rPr>
              <a:t>v</a:t>
            </a:r>
            <a:r>
              <a:rPr lang="en-US" sz="6000" dirty="0">
                <a:latin typeface="Bernina Sans Light" pitchFamily="2" charset="77"/>
              </a:rPr>
              <a:t> such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that the distance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from </a:t>
            </a:r>
            <a:r>
              <a:rPr lang="en-US" sz="6000" i="1" dirty="0">
                <a:latin typeface="Bernina Sans Light" pitchFamily="2" charset="77"/>
              </a:rPr>
              <a:t>u</a:t>
            </a:r>
            <a:r>
              <a:rPr lang="en-US" sz="6000" dirty="0">
                <a:latin typeface="Bernina Sans Light" pitchFamily="2" charset="77"/>
              </a:rPr>
              <a:t> to </a:t>
            </a:r>
            <a:r>
              <a:rPr lang="en-US" sz="6000" i="1" dirty="0">
                <a:latin typeface="Bernina Sans Light" pitchFamily="2" charset="77"/>
              </a:rPr>
              <a:t>v</a:t>
            </a:r>
            <a:r>
              <a:rPr lang="en-US" sz="6000" dirty="0">
                <a:latin typeface="Bernina Sans Light" pitchFamily="2" charset="77"/>
              </a:rPr>
              <a:t> equals</a:t>
            </a:r>
            <a:br>
              <a:rPr lang="en-US" sz="6000" dirty="0">
                <a:latin typeface="Bernina Sans Light" pitchFamily="2" charset="77"/>
              </a:rPr>
            </a:br>
            <a:r>
              <a:rPr lang="en-US" sz="6000" dirty="0">
                <a:latin typeface="Bernina Sans Light" pitchFamily="2" charset="77"/>
              </a:rPr>
              <a:t>the diameter of the graph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70D490-D0D3-844D-A288-DEF6D9989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838" y="365125"/>
            <a:ext cx="5261962" cy="342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539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rgbClr val="FFFFFF"/>
      </a:lt1>
      <a:dk2>
        <a:srgbClr val="505050"/>
      </a:dk2>
      <a:lt2>
        <a:srgbClr val="DFDFDF"/>
      </a:lt2>
      <a:accent1>
        <a:srgbClr val="0087CC"/>
      </a:accent1>
      <a:accent2>
        <a:srgbClr val="F16924"/>
      </a:accent2>
      <a:accent3>
        <a:srgbClr val="909090"/>
      </a:accent3>
      <a:accent4>
        <a:srgbClr val="0087CC"/>
      </a:accent4>
      <a:accent5>
        <a:srgbClr val="F16924"/>
      </a:accent5>
      <a:accent6>
        <a:srgbClr val="909090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spcBef>
            <a:spcPts val="2000"/>
          </a:spcBef>
          <a:defRPr sz="3200" b="1" dirty="0" smtClean="0">
            <a:latin typeface="Bernino Sans Semibold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3600" dirty="0" smtClean="0">
            <a:latin typeface="Bernino Sans Ligh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908</TotalTime>
  <Words>306</Words>
  <Application>Microsoft Macintosh PowerPoint</Application>
  <PresentationFormat>Widescreen</PresentationFormat>
  <Paragraphs>46</Paragraphs>
  <Slides>22</Slides>
  <Notes>1</Notes>
  <HiddenSlides>11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Arial</vt:lpstr>
      <vt:lpstr>Bernina Sans Condensed Lt</vt:lpstr>
      <vt:lpstr>Bernina Sans Extrabold</vt:lpstr>
      <vt:lpstr>Bernina Sans Light</vt:lpstr>
      <vt:lpstr>Bernina Sans Narrow Exbold</vt:lpstr>
      <vt:lpstr>Bernino Sans</vt:lpstr>
      <vt:lpstr>Bernino Sans Light</vt:lpstr>
      <vt:lpstr>Bernino Sans Semibold</vt:lpstr>
      <vt:lpstr>Calibri</vt:lpstr>
      <vt:lpstr>Office Theme</vt:lpstr>
      <vt:lpstr>Distributed Algorithms</vt:lpstr>
      <vt:lpstr>Graphs in this course</vt:lpstr>
      <vt:lpstr>Quiz</vt:lpstr>
      <vt:lpstr>Please do not confuse</vt:lpstr>
      <vt:lpstr>Please do not confuse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Algorithms</dc:title>
  <dc:creator>Jukka Suomela</dc:creator>
  <cp:lastModifiedBy>Suomela Jukka</cp:lastModifiedBy>
  <cp:revision>62</cp:revision>
  <dcterms:created xsi:type="dcterms:W3CDTF">2020-08-20T21:40:58Z</dcterms:created>
  <dcterms:modified xsi:type="dcterms:W3CDTF">2025-09-08T08:57:43Z</dcterms:modified>
</cp:coreProperties>
</file>